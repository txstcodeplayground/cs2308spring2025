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6" r:id="rId9"/>
    <p:sldId id="265" r:id="rId10"/>
    <p:sldId id="264"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49"/>
    <p:restoredTop sz="94340"/>
  </p:normalViewPr>
  <p:slideViewPr>
    <p:cSldViewPr snapToGrid="0">
      <p:cViewPr varScale="1">
        <p:scale>
          <a:sx n="85" d="100"/>
          <a:sy n="85" d="100"/>
        </p:scale>
        <p:origin x="92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4/4/24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7</a:t>
            </a:fld>
            <a:endParaRPr lang="en-US"/>
          </a:p>
        </p:txBody>
      </p:sp>
    </p:spTree>
    <p:extLst>
      <p:ext uri="{BB962C8B-B14F-4D97-AF65-F5344CB8AC3E}">
        <p14:creationId xmlns:p14="http://schemas.microsoft.com/office/powerpoint/2010/main" val="3211487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8</a:t>
            </a:fld>
            <a:endParaRPr lang="en-US"/>
          </a:p>
        </p:txBody>
      </p:sp>
    </p:spTree>
    <p:extLst>
      <p:ext uri="{BB962C8B-B14F-4D97-AF65-F5344CB8AC3E}">
        <p14:creationId xmlns:p14="http://schemas.microsoft.com/office/powerpoint/2010/main" val="2145782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10</a:t>
            </a:fld>
            <a:endParaRPr lang="en-US"/>
          </a:p>
        </p:txBody>
      </p:sp>
    </p:spTree>
    <p:extLst>
      <p:ext uri="{BB962C8B-B14F-4D97-AF65-F5344CB8AC3E}">
        <p14:creationId xmlns:p14="http://schemas.microsoft.com/office/powerpoint/2010/main" val="592280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4/4/24</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4/4/24</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Templates</a:t>
            </a: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Unit-07</a:t>
            </a:r>
          </a:p>
        </p:txBody>
      </p:sp>
    </p:spTree>
    <p:extLst>
      <p:ext uri="{BB962C8B-B14F-4D97-AF65-F5344CB8AC3E}">
        <p14:creationId xmlns:p14="http://schemas.microsoft.com/office/powerpoint/2010/main" val="45229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05FA980-94BB-9F19-C22D-23A75C9F1CDE}"/>
              </a:ext>
            </a:extLst>
          </p:cNvPr>
          <p:cNvPicPr>
            <a:picLocks noChangeAspect="1"/>
          </p:cNvPicPr>
          <p:nvPr/>
        </p:nvPicPr>
        <p:blipFill>
          <a:blip r:embed="rId2"/>
          <a:stretch>
            <a:fillRect/>
          </a:stretch>
        </p:blipFill>
        <p:spPr>
          <a:xfrm>
            <a:off x="0" y="0"/>
            <a:ext cx="7427375" cy="6858000"/>
          </a:xfrm>
          <a:prstGeom prst="rect">
            <a:avLst/>
          </a:prstGeom>
        </p:spPr>
      </p:pic>
      <p:sp>
        <p:nvSpPr>
          <p:cNvPr id="12" name="TextBox 11">
            <a:extLst>
              <a:ext uri="{FF2B5EF4-FFF2-40B4-BE49-F238E27FC236}">
                <a16:creationId xmlns:a16="http://schemas.microsoft.com/office/drawing/2014/main" id="{64B67128-4726-759B-3A52-E19E658F170F}"/>
              </a:ext>
            </a:extLst>
          </p:cNvPr>
          <p:cNvSpPr txBox="1"/>
          <p:nvPr/>
        </p:nvSpPr>
        <p:spPr>
          <a:xfrm>
            <a:off x="7534951" y="130111"/>
            <a:ext cx="4535020" cy="6555641"/>
          </a:xfrm>
          <a:prstGeom prst="rect">
            <a:avLst/>
          </a:prstGeom>
          <a:noFill/>
        </p:spPr>
        <p:txBody>
          <a:bodyPr wrap="square">
            <a:spAutoFit/>
          </a:bodyPr>
          <a:lstStyle/>
          <a:p>
            <a:r>
              <a:rPr lang="en-US" sz="2100" dirty="0">
                <a:solidFill>
                  <a:schemeClr val="bg1"/>
                </a:solidFill>
              </a:rPr>
              <a:t>In this example:</a:t>
            </a:r>
          </a:p>
          <a:p>
            <a:endParaRPr lang="en-US" sz="2100" dirty="0">
              <a:solidFill>
                <a:schemeClr val="bg1"/>
              </a:solidFill>
            </a:endParaRPr>
          </a:p>
          <a:p>
            <a:r>
              <a:rPr lang="en-US" sz="2100" b="1" dirty="0">
                <a:solidFill>
                  <a:srgbClr val="FFC000"/>
                </a:solidFill>
              </a:rPr>
              <a:t>template &lt;</a:t>
            </a:r>
            <a:r>
              <a:rPr lang="en-US" sz="2100" b="1" dirty="0" err="1">
                <a:solidFill>
                  <a:srgbClr val="FFC000"/>
                </a:solidFill>
              </a:rPr>
              <a:t>typename</a:t>
            </a:r>
            <a:r>
              <a:rPr lang="en-US" sz="2100" b="1" dirty="0">
                <a:solidFill>
                  <a:srgbClr val="FFC000"/>
                </a:solidFill>
              </a:rPr>
              <a:t> T&gt;</a:t>
            </a:r>
            <a:r>
              <a:rPr lang="en-US" sz="2100" dirty="0">
                <a:solidFill>
                  <a:schemeClr val="bg1"/>
                </a:solidFill>
              </a:rPr>
              <a:t> is the template parameter declaration. </a:t>
            </a:r>
          </a:p>
          <a:p>
            <a:endParaRPr lang="en-US" sz="2100" dirty="0">
              <a:solidFill>
                <a:schemeClr val="bg1"/>
              </a:solidFill>
            </a:endParaRPr>
          </a:p>
          <a:p>
            <a:r>
              <a:rPr lang="en-US" sz="2100" b="1" dirty="0">
                <a:solidFill>
                  <a:srgbClr val="FFC000"/>
                </a:solidFill>
              </a:rPr>
              <a:t>T </a:t>
            </a:r>
            <a:r>
              <a:rPr lang="en-US" sz="2100" b="1" dirty="0" err="1">
                <a:solidFill>
                  <a:srgbClr val="FFC000"/>
                </a:solidFill>
              </a:rPr>
              <a:t>myMax</a:t>
            </a:r>
            <a:r>
              <a:rPr lang="en-US" sz="2100" b="1" dirty="0">
                <a:solidFill>
                  <a:srgbClr val="FFC000"/>
                </a:solidFill>
              </a:rPr>
              <a:t>(T x, T y)</a:t>
            </a:r>
            <a:r>
              <a:rPr lang="en-US" sz="2100" dirty="0">
                <a:solidFill>
                  <a:schemeClr val="bg1"/>
                </a:solidFill>
              </a:rPr>
              <a:t> defines a function </a:t>
            </a:r>
            <a:r>
              <a:rPr lang="en-US" sz="2100" dirty="0" err="1">
                <a:solidFill>
                  <a:schemeClr val="bg1"/>
                </a:solidFill>
              </a:rPr>
              <a:t>myMax</a:t>
            </a:r>
            <a:r>
              <a:rPr lang="en-US" sz="2100" dirty="0">
                <a:solidFill>
                  <a:schemeClr val="bg1"/>
                </a:solidFill>
              </a:rPr>
              <a:t> that takes two parameters of type T and returns a value of type T. </a:t>
            </a:r>
          </a:p>
          <a:p>
            <a:endParaRPr lang="en-US" sz="2100" dirty="0">
              <a:solidFill>
                <a:schemeClr val="bg1"/>
              </a:solidFill>
            </a:endParaRPr>
          </a:p>
          <a:p>
            <a:r>
              <a:rPr lang="en-US" sz="2100" i="1" dirty="0">
                <a:solidFill>
                  <a:schemeClr val="accent1">
                    <a:lumMod val="40000"/>
                    <a:lumOff val="60000"/>
                  </a:schemeClr>
                </a:solidFill>
              </a:rPr>
              <a:t>Note that in some cases, you do not need to explicitly specify the type (like for </a:t>
            </a:r>
            <a:r>
              <a:rPr lang="en-US" sz="2100" i="1" dirty="0" err="1">
                <a:solidFill>
                  <a:schemeClr val="accent1">
                    <a:lumMod val="40000"/>
                    <a:lumOff val="60000"/>
                  </a:schemeClr>
                </a:solidFill>
              </a:rPr>
              <a:t>myMax</a:t>
            </a:r>
            <a:r>
              <a:rPr lang="en-US" sz="2100" i="1" dirty="0">
                <a:solidFill>
                  <a:schemeClr val="accent1">
                    <a:lumMod val="40000"/>
                    <a:lumOff val="60000"/>
                  </a:schemeClr>
                </a:solidFill>
              </a:rPr>
              <a:t>('k', 's')) because the compiler can deduce the type based on the arguments passed to the function.</a:t>
            </a:r>
          </a:p>
          <a:p>
            <a:endParaRPr lang="en-US" sz="2100" dirty="0">
              <a:solidFill>
                <a:schemeClr val="bg1"/>
              </a:solidFill>
            </a:endParaRPr>
          </a:p>
          <a:p>
            <a:r>
              <a:rPr lang="en-US" sz="2100" dirty="0">
                <a:solidFill>
                  <a:schemeClr val="bg1"/>
                </a:solidFill>
              </a:rPr>
              <a:t>Template functions are powerful and flexible, making them a fundamental feature of C++ that supports generic programming.</a:t>
            </a:r>
          </a:p>
        </p:txBody>
      </p:sp>
    </p:spTree>
    <p:extLst>
      <p:ext uri="{BB962C8B-B14F-4D97-AF65-F5344CB8AC3E}">
        <p14:creationId xmlns:p14="http://schemas.microsoft.com/office/powerpoint/2010/main" val="1928309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05FA980-94BB-9F19-C22D-23A75C9F1CDE}"/>
              </a:ext>
            </a:extLst>
          </p:cNvPr>
          <p:cNvPicPr>
            <a:picLocks noChangeAspect="1"/>
          </p:cNvPicPr>
          <p:nvPr/>
        </p:nvPicPr>
        <p:blipFill>
          <a:blip r:embed="rId2"/>
          <a:srcRect/>
          <a:stretch/>
        </p:blipFill>
        <p:spPr>
          <a:xfrm>
            <a:off x="744070" y="-2200"/>
            <a:ext cx="10703859" cy="6860200"/>
          </a:xfrm>
          <a:prstGeom prst="rect">
            <a:avLst/>
          </a:prstGeom>
        </p:spPr>
      </p:pic>
      <p:sp>
        <p:nvSpPr>
          <p:cNvPr id="3" name="TextBox 2">
            <a:extLst>
              <a:ext uri="{FF2B5EF4-FFF2-40B4-BE49-F238E27FC236}">
                <a16:creationId xmlns:a16="http://schemas.microsoft.com/office/drawing/2014/main" id="{E4815C3A-3F62-D163-BE17-86F917DAA6E5}"/>
              </a:ext>
            </a:extLst>
          </p:cNvPr>
          <p:cNvSpPr txBox="1"/>
          <p:nvPr/>
        </p:nvSpPr>
        <p:spPr>
          <a:xfrm>
            <a:off x="6612591" y="2908158"/>
            <a:ext cx="6098240" cy="584775"/>
          </a:xfrm>
          <a:prstGeom prst="rect">
            <a:avLst/>
          </a:prstGeom>
          <a:noFill/>
        </p:spPr>
        <p:txBody>
          <a:bodyPr wrap="square">
            <a:spAutoFit/>
          </a:bodyPr>
          <a:lstStyle/>
          <a:p>
            <a:r>
              <a:rPr lang="en-US" sz="3200" dirty="0">
                <a:solidFill>
                  <a:srgbClr val="FF0000"/>
                </a:solidFill>
              </a:rPr>
              <a:t>What is happening here?</a:t>
            </a:r>
          </a:p>
        </p:txBody>
      </p:sp>
    </p:spTree>
    <p:extLst>
      <p:ext uri="{BB962C8B-B14F-4D97-AF65-F5344CB8AC3E}">
        <p14:creationId xmlns:p14="http://schemas.microsoft.com/office/powerpoint/2010/main" val="1771563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2F3475-8D9A-281C-41A5-C78168E4ACF5}"/>
              </a:ext>
            </a:extLst>
          </p:cNvPr>
          <p:cNvPicPr>
            <a:picLocks noChangeAspect="1"/>
          </p:cNvPicPr>
          <p:nvPr/>
        </p:nvPicPr>
        <p:blipFill>
          <a:blip r:embed="rId2"/>
          <a:stretch>
            <a:fillRect/>
          </a:stretch>
        </p:blipFill>
        <p:spPr>
          <a:xfrm>
            <a:off x="1302607" y="0"/>
            <a:ext cx="9589511" cy="6859950"/>
          </a:xfrm>
          <a:prstGeom prst="rect">
            <a:avLst/>
          </a:prstGeom>
        </p:spPr>
      </p:pic>
    </p:spTree>
    <p:extLst>
      <p:ext uri="{BB962C8B-B14F-4D97-AF65-F5344CB8AC3E}">
        <p14:creationId xmlns:p14="http://schemas.microsoft.com/office/powerpoint/2010/main" val="1575378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893FA2-8DA7-5227-9E87-E2DFC4C16FE2}"/>
              </a:ext>
            </a:extLst>
          </p:cNvPr>
          <p:cNvPicPr>
            <a:picLocks noChangeAspect="1"/>
          </p:cNvPicPr>
          <p:nvPr/>
        </p:nvPicPr>
        <p:blipFill>
          <a:blip r:embed="rId2"/>
          <a:stretch>
            <a:fillRect/>
          </a:stretch>
        </p:blipFill>
        <p:spPr>
          <a:xfrm>
            <a:off x="836233" y="645460"/>
            <a:ext cx="9993132" cy="5281010"/>
          </a:xfrm>
          <a:prstGeom prst="rect">
            <a:avLst/>
          </a:prstGeom>
        </p:spPr>
      </p:pic>
      <p:sp>
        <p:nvSpPr>
          <p:cNvPr id="4" name="TextBox 3">
            <a:extLst>
              <a:ext uri="{FF2B5EF4-FFF2-40B4-BE49-F238E27FC236}">
                <a16:creationId xmlns:a16="http://schemas.microsoft.com/office/drawing/2014/main" id="{6BDE6615-B8D0-00AF-2081-D2F2A73879B9}"/>
              </a:ext>
            </a:extLst>
          </p:cNvPr>
          <p:cNvSpPr txBox="1"/>
          <p:nvPr/>
        </p:nvSpPr>
        <p:spPr>
          <a:xfrm>
            <a:off x="6370544" y="2993577"/>
            <a:ext cx="6098240" cy="584775"/>
          </a:xfrm>
          <a:prstGeom prst="rect">
            <a:avLst/>
          </a:prstGeom>
          <a:noFill/>
        </p:spPr>
        <p:txBody>
          <a:bodyPr wrap="square">
            <a:spAutoFit/>
          </a:bodyPr>
          <a:lstStyle/>
          <a:p>
            <a:r>
              <a:rPr lang="en-US" sz="3200" dirty="0">
                <a:solidFill>
                  <a:srgbClr val="FF0000"/>
                </a:solidFill>
              </a:rPr>
              <a:t>Template Specialization</a:t>
            </a:r>
          </a:p>
        </p:txBody>
      </p:sp>
    </p:spTree>
    <p:extLst>
      <p:ext uri="{BB962C8B-B14F-4D97-AF65-F5344CB8AC3E}">
        <p14:creationId xmlns:p14="http://schemas.microsoft.com/office/powerpoint/2010/main" val="364406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F6A4DB-A4C8-3CE6-59A4-7594FB5C05EE}"/>
              </a:ext>
            </a:extLst>
          </p:cNvPr>
          <p:cNvPicPr>
            <a:picLocks noChangeAspect="1"/>
          </p:cNvPicPr>
          <p:nvPr/>
        </p:nvPicPr>
        <p:blipFill>
          <a:blip r:embed="rId2"/>
          <a:stretch>
            <a:fillRect/>
          </a:stretch>
        </p:blipFill>
        <p:spPr>
          <a:xfrm>
            <a:off x="1368879" y="0"/>
            <a:ext cx="9454243" cy="6858000"/>
          </a:xfrm>
          <a:prstGeom prst="rect">
            <a:avLst/>
          </a:prstGeom>
        </p:spPr>
      </p:pic>
    </p:spTree>
    <p:extLst>
      <p:ext uri="{BB962C8B-B14F-4D97-AF65-F5344CB8AC3E}">
        <p14:creationId xmlns:p14="http://schemas.microsoft.com/office/powerpoint/2010/main" val="3907983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A30DF-5AD9-C92C-6A17-94FD801D7D35}"/>
              </a:ext>
            </a:extLst>
          </p:cNvPr>
          <p:cNvPicPr>
            <a:picLocks noChangeAspect="1"/>
          </p:cNvPicPr>
          <p:nvPr/>
        </p:nvPicPr>
        <p:blipFill>
          <a:blip r:embed="rId3"/>
          <a:stretch>
            <a:fillRect/>
          </a:stretch>
        </p:blipFill>
        <p:spPr>
          <a:xfrm>
            <a:off x="0" y="208327"/>
            <a:ext cx="6698796" cy="6858000"/>
          </a:xfrm>
          <a:prstGeom prst="rect">
            <a:avLst/>
          </a:prstGeom>
        </p:spPr>
      </p:pic>
      <p:sp>
        <p:nvSpPr>
          <p:cNvPr id="7" name="TextBox 6">
            <a:extLst>
              <a:ext uri="{FF2B5EF4-FFF2-40B4-BE49-F238E27FC236}">
                <a16:creationId xmlns:a16="http://schemas.microsoft.com/office/drawing/2014/main" id="{FACAA2ED-97F6-7C30-7C72-EC017361A640}"/>
              </a:ext>
            </a:extLst>
          </p:cNvPr>
          <p:cNvSpPr txBox="1"/>
          <p:nvPr/>
        </p:nvSpPr>
        <p:spPr>
          <a:xfrm>
            <a:off x="6698796" y="151179"/>
            <a:ext cx="5493203" cy="6555641"/>
          </a:xfrm>
          <a:prstGeom prst="rect">
            <a:avLst/>
          </a:prstGeom>
          <a:noFill/>
        </p:spPr>
        <p:txBody>
          <a:bodyPr wrap="square">
            <a:spAutoFit/>
          </a:bodyPr>
          <a:lstStyle/>
          <a:p>
            <a:pPr algn="ctr"/>
            <a:r>
              <a:rPr lang="en-US" sz="2800" dirty="0">
                <a:solidFill>
                  <a:schemeClr val="bg1"/>
                </a:solidFill>
              </a:rPr>
              <a:t>Non-type template parameters in C++ templates allow you to pass values, not just types, to your templates. This feature enables templates to be more flexible and powerful, as you can define behavior not just based on types but also on certain compile-time constants or other value-based parameters. These parameters can be integral types (like int, unsigned, </a:t>
            </a:r>
            <a:r>
              <a:rPr lang="en-US" sz="2800" dirty="0" err="1">
                <a:solidFill>
                  <a:schemeClr val="bg1"/>
                </a:solidFill>
              </a:rPr>
              <a:t>size_t</a:t>
            </a:r>
            <a:r>
              <a:rPr lang="en-US" sz="2800" dirty="0">
                <a:solidFill>
                  <a:schemeClr val="bg1"/>
                </a:solidFill>
              </a:rPr>
              <a:t>), pointers, references, or even user-defined </a:t>
            </a:r>
            <a:r>
              <a:rPr lang="en-US" sz="2800" dirty="0" err="1">
                <a:solidFill>
                  <a:schemeClr val="bg1"/>
                </a:solidFill>
              </a:rPr>
              <a:t>constexpr</a:t>
            </a:r>
            <a:r>
              <a:rPr lang="en-US" sz="2800" dirty="0">
                <a:solidFill>
                  <a:schemeClr val="bg1"/>
                </a:solidFill>
              </a:rPr>
              <a:t> objects that have a constant value at compile time.</a:t>
            </a:r>
          </a:p>
        </p:txBody>
      </p:sp>
      <p:pic>
        <p:nvPicPr>
          <p:cNvPr id="5" name="Picture 4">
            <a:extLst>
              <a:ext uri="{FF2B5EF4-FFF2-40B4-BE49-F238E27FC236}">
                <a16:creationId xmlns:a16="http://schemas.microsoft.com/office/drawing/2014/main" id="{C01C41DC-0367-EFDF-1A2A-F8E1145C076B}"/>
              </a:ext>
            </a:extLst>
          </p:cNvPr>
          <p:cNvPicPr>
            <a:picLocks noChangeAspect="1"/>
          </p:cNvPicPr>
          <p:nvPr/>
        </p:nvPicPr>
        <p:blipFill>
          <a:blip r:embed="rId4"/>
          <a:stretch>
            <a:fillRect/>
          </a:stretch>
        </p:blipFill>
        <p:spPr>
          <a:xfrm>
            <a:off x="1" y="2686050"/>
            <a:ext cx="4521200" cy="4171950"/>
          </a:xfrm>
          <a:prstGeom prst="rect">
            <a:avLst/>
          </a:prstGeom>
        </p:spPr>
      </p:pic>
      <p:pic>
        <p:nvPicPr>
          <p:cNvPr id="6" name="Picture 5">
            <a:extLst>
              <a:ext uri="{FF2B5EF4-FFF2-40B4-BE49-F238E27FC236}">
                <a16:creationId xmlns:a16="http://schemas.microsoft.com/office/drawing/2014/main" id="{FE924805-D5E8-636F-A231-468E89741564}"/>
              </a:ext>
            </a:extLst>
          </p:cNvPr>
          <p:cNvPicPr>
            <a:picLocks noChangeAspect="1"/>
          </p:cNvPicPr>
          <p:nvPr/>
        </p:nvPicPr>
        <p:blipFill>
          <a:blip r:embed="rId5"/>
          <a:stretch>
            <a:fillRect/>
          </a:stretch>
        </p:blipFill>
        <p:spPr>
          <a:xfrm>
            <a:off x="0" y="2834591"/>
            <a:ext cx="4138150" cy="742950"/>
          </a:xfrm>
          <a:prstGeom prst="rect">
            <a:avLst/>
          </a:prstGeom>
        </p:spPr>
      </p:pic>
      <p:pic>
        <p:nvPicPr>
          <p:cNvPr id="8" name="Picture 7">
            <a:extLst>
              <a:ext uri="{FF2B5EF4-FFF2-40B4-BE49-F238E27FC236}">
                <a16:creationId xmlns:a16="http://schemas.microsoft.com/office/drawing/2014/main" id="{DAADBEFC-1D6E-5058-583D-6BC8B2BB8E21}"/>
              </a:ext>
            </a:extLst>
          </p:cNvPr>
          <p:cNvPicPr>
            <a:picLocks noChangeAspect="1"/>
          </p:cNvPicPr>
          <p:nvPr/>
        </p:nvPicPr>
        <p:blipFill>
          <a:blip r:embed="rId6"/>
          <a:stretch>
            <a:fillRect/>
          </a:stretch>
        </p:blipFill>
        <p:spPr>
          <a:xfrm>
            <a:off x="0" y="3460750"/>
            <a:ext cx="6580782" cy="1584417"/>
          </a:xfrm>
          <a:prstGeom prst="rect">
            <a:avLst/>
          </a:prstGeom>
        </p:spPr>
      </p:pic>
      <p:pic>
        <p:nvPicPr>
          <p:cNvPr id="10" name="Picture 9">
            <a:extLst>
              <a:ext uri="{FF2B5EF4-FFF2-40B4-BE49-F238E27FC236}">
                <a16:creationId xmlns:a16="http://schemas.microsoft.com/office/drawing/2014/main" id="{2A8D98CF-73A4-6BD7-ED9A-51D5B6C4EBF8}"/>
              </a:ext>
            </a:extLst>
          </p:cNvPr>
          <p:cNvPicPr>
            <a:picLocks noChangeAspect="1"/>
          </p:cNvPicPr>
          <p:nvPr/>
        </p:nvPicPr>
        <p:blipFill rotWithShape="1">
          <a:blip r:embed="rId7"/>
          <a:srcRect l="7299" t="23247" b="12153"/>
          <a:stretch/>
        </p:blipFill>
        <p:spPr>
          <a:xfrm>
            <a:off x="478114" y="4647424"/>
            <a:ext cx="6102668" cy="1448577"/>
          </a:xfrm>
          <a:prstGeom prst="rect">
            <a:avLst/>
          </a:prstGeom>
        </p:spPr>
      </p:pic>
      <p:sp>
        <p:nvSpPr>
          <p:cNvPr id="11" name="TextBox 10">
            <a:extLst>
              <a:ext uri="{FF2B5EF4-FFF2-40B4-BE49-F238E27FC236}">
                <a16:creationId xmlns:a16="http://schemas.microsoft.com/office/drawing/2014/main" id="{20A738B1-6894-F68F-2505-11FC496B5F0B}"/>
              </a:ext>
            </a:extLst>
          </p:cNvPr>
          <p:cNvSpPr txBox="1"/>
          <p:nvPr/>
        </p:nvSpPr>
        <p:spPr>
          <a:xfrm>
            <a:off x="2069075" y="6122045"/>
            <a:ext cx="6098240" cy="584775"/>
          </a:xfrm>
          <a:prstGeom prst="rect">
            <a:avLst/>
          </a:prstGeom>
          <a:noFill/>
        </p:spPr>
        <p:txBody>
          <a:bodyPr wrap="square">
            <a:spAutoFit/>
          </a:bodyPr>
          <a:lstStyle/>
          <a:p>
            <a:r>
              <a:rPr lang="en-US" sz="3200" dirty="0">
                <a:solidFill>
                  <a:srgbClr val="FF0000"/>
                </a:solidFill>
              </a:rPr>
              <a:t>Can you find a bug…?</a:t>
            </a:r>
          </a:p>
        </p:txBody>
      </p:sp>
    </p:spTree>
    <p:extLst>
      <p:ext uri="{BB962C8B-B14F-4D97-AF65-F5344CB8AC3E}">
        <p14:creationId xmlns:p14="http://schemas.microsoft.com/office/powerpoint/2010/main" val="1862376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A30DF-5AD9-C92C-6A17-94FD801D7D35}"/>
              </a:ext>
            </a:extLst>
          </p:cNvPr>
          <p:cNvPicPr>
            <a:picLocks noChangeAspect="1"/>
          </p:cNvPicPr>
          <p:nvPr/>
        </p:nvPicPr>
        <p:blipFill>
          <a:blip r:embed="rId3"/>
          <a:stretch>
            <a:fillRect/>
          </a:stretch>
        </p:blipFill>
        <p:spPr>
          <a:xfrm>
            <a:off x="0" y="0"/>
            <a:ext cx="6698796" cy="6858000"/>
          </a:xfrm>
          <a:prstGeom prst="rect">
            <a:avLst/>
          </a:prstGeom>
        </p:spPr>
      </p:pic>
      <p:sp>
        <p:nvSpPr>
          <p:cNvPr id="7" name="TextBox 6">
            <a:extLst>
              <a:ext uri="{FF2B5EF4-FFF2-40B4-BE49-F238E27FC236}">
                <a16:creationId xmlns:a16="http://schemas.microsoft.com/office/drawing/2014/main" id="{FACAA2ED-97F6-7C30-7C72-EC017361A640}"/>
              </a:ext>
            </a:extLst>
          </p:cNvPr>
          <p:cNvSpPr txBox="1"/>
          <p:nvPr/>
        </p:nvSpPr>
        <p:spPr>
          <a:xfrm>
            <a:off x="6698796" y="151179"/>
            <a:ext cx="5493203" cy="6555641"/>
          </a:xfrm>
          <a:prstGeom prst="rect">
            <a:avLst/>
          </a:prstGeom>
          <a:noFill/>
        </p:spPr>
        <p:txBody>
          <a:bodyPr wrap="square">
            <a:spAutoFit/>
          </a:bodyPr>
          <a:lstStyle/>
          <a:p>
            <a:pPr algn="ctr"/>
            <a:r>
              <a:rPr lang="en-US" sz="2800" dirty="0">
                <a:solidFill>
                  <a:schemeClr val="bg1"/>
                </a:solidFill>
              </a:rPr>
              <a:t>Non-type template parameters in C++ templates allow you to pass values, not just types, to your templates. This feature enables templates to be more flexible and powerful, as you can define behavior not just based on types but also on certain compile-time constants or other value-based parameters. These parameters can be integral types (like int, unsigned, </a:t>
            </a:r>
            <a:r>
              <a:rPr lang="en-US" sz="2800" dirty="0" err="1">
                <a:solidFill>
                  <a:schemeClr val="bg1"/>
                </a:solidFill>
              </a:rPr>
              <a:t>size_t</a:t>
            </a:r>
            <a:r>
              <a:rPr lang="en-US" sz="2800" dirty="0">
                <a:solidFill>
                  <a:schemeClr val="bg1"/>
                </a:solidFill>
              </a:rPr>
              <a:t>), pointers, references, or even user-defined </a:t>
            </a:r>
            <a:r>
              <a:rPr lang="en-US" sz="2800" dirty="0" err="1">
                <a:solidFill>
                  <a:schemeClr val="bg1"/>
                </a:solidFill>
              </a:rPr>
              <a:t>constexpr</a:t>
            </a:r>
            <a:r>
              <a:rPr lang="en-US" sz="2800" dirty="0">
                <a:solidFill>
                  <a:schemeClr val="bg1"/>
                </a:solidFill>
              </a:rPr>
              <a:t> objects that have a constant value at compile time.</a:t>
            </a:r>
          </a:p>
        </p:txBody>
      </p:sp>
      <p:pic>
        <p:nvPicPr>
          <p:cNvPr id="5" name="Picture 4">
            <a:extLst>
              <a:ext uri="{FF2B5EF4-FFF2-40B4-BE49-F238E27FC236}">
                <a16:creationId xmlns:a16="http://schemas.microsoft.com/office/drawing/2014/main" id="{C01C41DC-0367-EFDF-1A2A-F8E1145C076B}"/>
              </a:ext>
            </a:extLst>
          </p:cNvPr>
          <p:cNvPicPr>
            <a:picLocks noChangeAspect="1"/>
          </p:cNvPicPr>
          <p:nvPr/>
        </p:nvPicPr>
        <p:blipFill>
          <a:blip r:embed="rId4"/>
          <a:stretch>
            <a:fillRect/>
          </a:stretch>
        </p:blipFill>
        <p:spPr>
          <a:xfrm>
            <a:off x="1" y="2614082"/>
            <a:ext cx="4521200" cy="3972985"/>
          </a:xfrm>
          <a:prstGeom prst="rect">
            <a:avLst/>
          </a:prstGeom>
        </p:spPr>
      </p:pic>
      <p:pic>
        <p:nvPicPr>
          <p:cNvPr id="6" name="Picture 5">
            <a:extLst>
              <a:ext uri="{FF2B5EF4-FFF2-40B4-BE49-F238E27FC236}">
                <a16:creationId xmlns:a16="http://schemas.microsoft.com/office/drawing/2014/main" id="{FE924805-D5E8-636F-A231-468E89741564}"/>
              </a:ext>
            </a:extLst>
          </p:cNvPr>
          <p:cNvPicPr>
            <a:picLocks noChangeAspect="1"/>
          </p:cNvPicPr>
          <p:nvPr/>
        </p:nvPicPr>
        <p:blipFill>
          <a:blip r:embed="rId5"/>
          <a:stretch>
            <a:fillRect/>
          </a:stretch>
        </p:blipFill>
        <p:spPr>
          <a:xfrm>
            <a:off x="0" y="2686050"/>
            <a:ext cx="4138150" cy="742950"/>
          </a:xfrm>
          <a:prstGeom prst="rect">
            <a:avLst/>
          </a:prstGeom>
        </p:spPr>
      </p:pic>
      <p:pic>
        <p:nvPicPr>
          <p:cNvPr id="8" name="Picture 7">
            <a:extLst>
              <a:ext uri="{FF2B5EF4-FFF2-40B4-BE49-F238E27FC236}">
                <a16:creationId xmlns:a16="http://schemas.microsoft.com/office/drawing/2014/main" id="{DAADBEFC-1D6E-5058-583D-6BC8B2BB8E21}"/>
              </a:ext>
            </a:extLst>
          </p:cNvPr>
          <p:cNvPicPr>
            <a:picLocks noChangeAspect="1"/>
          </p:cNvPicPr>
          <p:nvPr/>
        </p:nvPicPr>
        <p:blipFill>
          <a:blip r:embed="rId6"/>
          <a:stretch>
            <a:fillRect/>
          </a:stretch>
        </p:blipFill>
        <p:spPr>
          <a:xfrm>
            <a:off x="0" y="3460750"/>
            <a:ext cx="6580782" cy="1584417"/>
          </a:xfrm>
          <a:prstGeom prst="rect">
            <a:avLst/>
          </a:prstGeom>
        </p:spPr>
      </p:pic>
      <p:pic>
        <p:nvPicPr>
          <p:cNvPr id="9" name="Picture 8">
            <a:extLst>
              <a:ext uri="{FF2B5EF4-FFF2-40B4-BE49-F238E27FC236}">
                <a16:creationId xmlns:a16="http://schemas.microsoft.com/office/drawing/2014/main" id="{DC5DC531-78B0-958D-EFE2-F5F190A0AF54}"/>
              </a:ext>
            </a:extLst>
          </p:cNvPr>
          <p:cNvPicPr>
            <a:picLocks noChangeAspect="1"/>
          </p:cNvPicPr>
          <p:nvPr/>
        </p:nvPicPr>
        <p:blipFill>
          <a:blip r:embed="rId7"/>
          <a:stretch>
            <a:fillRect/>
          </a:stretch>
        </p:blipFill>
        <p:spPr>
          <a:xfrm>
            <a:off x="534447" y="4732406"/>
            <a:ext cx="6164349" cy="1286834"/>
          </a:xfrm>
          <a:prstGeom prst="rect">
            <a:avLst/>
          </a:prstGeom>
        </p:spPr>
      </p:pic>
    </p:spTree>
    <p:extLst>
      <p:ext uri="{BB962C8B-B14F-4D97-AF65-F5344CB8AC3E}">
        <p14:creationId xmlns:p14="http://schemas.microsoft.com/office/powerpoint/2010/main" val="1075583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A30DF-5AD9-C92C-6A17-94FD801D7D35}"/>
              </a:ext>
            </a:extLst>
          </p:cNvPr>
          <p:cNvPicPr>
            <a:picLocks noChangeAspect="1"/>
          </p:cNvPicPr>
          <p:nvPr/>
        </p:nvPicPr>
        <p:blipFill>
          <a:blip r:embed="rId2"/>
          <a:stretch>
            <a:fillRect/>
          </a:stretch>
        </p:blipFill>
        <p:spPr>
          <a:xfrm>
            <a:off x="0" y="0"/>
            <a:ext cx="6698796" cy="6858000"/>
          </a:xfrm>
          <a:prstGeom prst="rect">
            <a:avLst/>
          </a:prstGeom>
        </p:spPr>
      </p:pic>
      <p:sp>
        <p:nvSpPr>
          <p:cNvPr id="7" name="TextBox 6">
            <a:extLst>
              <a:ext uri="{FF2B5EF4-FFF2-40B4-BE49-F238E27FC236}">
                <a16:creationId xmlns:a16="http://schemas.microsoft.com/office/drawing/2014/main" id="{FACAA2ED-97F6-7C30-7C72-EC017361A640}"/>
              </a:ext>
            </a:extLst>
          </p:cNvPr>
          <p:cNvSpPr txBox="1"/>
          <p:nvPr/>
        </p:nvSpPr>
        <p:spPr>
          <a:xfrm>
            <a:off x="6698796" y="151179"/>
            <a:ext cx="5493203" cy="6555641"/>
          </a:xfrm>
          <a:prstGeom prst="rect">
            <a:avLst/>
          </a:prstGeom>
          <a:noFill/>
        </p:spPr>
        <p:txBody>
          <a:bodyPr wrap="square">
            <a:spAutoFit/>
          </a:bodyPr>
          <a:lstStyle/>
          <a:p>
            <a:pPr algn="ctr"/>
            <a:r>
              <a:rPr lang="en-US" sz="2800" dirty="0">
                <a:solidFill>
                  <a:schemeClr val="bg1"/>
                </a:solidFill>
              </a:rPr>
              <a:t>Non-type template parameters in C++ templates allow you to pass values, not just types, to your templates. This feature enables templates to be more flexible and powerful, as you can define behavior not just based on types but also on certain compile-time constants or other value-based parameters. These parameters can be integral types (like int, unsigned, </a:t>
            </a:r>
            <a:r>
              <a:rPr lang="en-US" sz="2800" dirty="0" err="1">
                <a:solidFill>
                  <a:schemeClr val="bg1"/>
                </a:solidFill>
              </a:rPr>
              <a:t>size_t</a:t>
            </a:r>
            <a:r>
              <a:rPr lang="en-US" sz="2800" dirty="0">
                <a:solidFill>
                  <a:schemeClr val="bg1"/>
                </a:solidFill>
              </a:rPr>
              <a:t>), pointers, references, or even user-defined </a:t>
            </a:r>
            <a:r>
              <a:rPr lang="en-US" sz="2800" dirty="0" err="1">
                <a:solidFill>
                  <a:schemeClr val="bg1"/>
                </a:solidFill>
              </a:rPr>
              <a:t>constexpr</a:t>
            </a:r>
            <a:r>
              <a:rPr lang="en-US" sz="2800" dirty="0">
                <a:solidFill>
                  <a:schemeClr val="bg1"/>
                </a:solidFill>
              </a:rPr>
              <a:t> objects that have a constant value at compile time.</a:t>
            </a:r>
          </a:p>
        </p:txBody>
      </p:sp>
    </p:spTree>
    <p:extLst>
      <p:ext uri="{BB962C8B-B14F-4D97-AF65-F5344CB8AC3E}">
        <p14:creationId xmlns:p14="http://schemas.microsoft.com/office/powerpoint/2010/main" val="894752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A30DF-5AD9-C92C-6A17-94FD801D7D35}"/>
              </a:ext>
            </a:extLst>
          </p:cNvPr>
          <p:cNvPicPr>
            <a:picLocks noChangeAspect="1"/>
          </p:cNvPicPr>
          <p:nvPr/>
        </p:nvPicPr>
        <p:blipFill>
          <a:blip r:embed="rId3"/>
          <a:stretch>
            <a:fillRect/>
          </a:stretch>
        </p:blipFill>
        <p:spPr>
          <a:xfrm>
            <a:off x="0" y="-1"/>
            <a:ext cx="6698796" cy="6858000"/>
          </a:xfrm>
          <a:prstGeom prst="rect">
            <a:avLst/>
          </a:prstGeom>
        </p:spPr>
      </p:pic>
      <p:sp>
        <p:nvSpPr>
          <p:cNvPr id="7" name="TextBox 6">
            <a:extLst>
              <a:ext uri="{FF2B5EF4-FFF2-40B4-BE49-F238E27FC236}">
                <a16:creationId xmlns:a16="http://schemas.microsoft.com/office/drawing/2014/main" id="{FACAA2ED-97F6-7C30-7C72-EC017361A640}"/>
              </a:ext>
            </a:extLst>
          </p:cNvPr>
          <p:cNvSpPr txBox="1"/>
          <p:nvPr/>
        </p:nvSpPr>
        <p:spPr>
          <a:xfrm>
            <a:off x="6698796" y="151179"/>
            <a:ext cx="5493203" cy="6555641"/>
          </a:xfrm>
          <a:prstGeom prst="rect">
            <a:avLst/>
          </a:prstGeom>
          <a:noFill/>
        </p:spPr>
        <p:txBody>
          <a:bodyPr wrap="square">
            <a:spAutoFit/>
          </a:bodyPr>
          <a:lstStyle/>
          <a:p>
            <a:pPr algn="ctr"/>
            <a:r>
              <a:rPr lang="en-US" sz="2800" dirty="0">
                <a:solidFill>
                  <a:schemeClr val="bg1"/>
                </a:solidFill>
              </a:rPr>
              <a:t>Non-type template parameters in C++ templates allow you to pass values, not just types, to your templates. This feature enables templates to be more flexible and powerful, as you can define behavior not just based on types but also on certain compile-time constants or other value-based parameters. These parameters can be integral types (like int, unsigned, </a:t>
            </a:r>
            <a:r>
              <a:rPr lang="en-US" sz="2800" dirty="0" err="1">
                <a:solidFill>
                  <a:schemeClr val="bg1"/>
                </a:solidFill>
              </a:rPr>
              <a:t>size_t</a:t>
            </a:r>
            <a:r>
              <a:rPr lang="en-US" sz="2800" dirty="0">
                <a:solidFill>
                  <a:schemeClr val="bg1"/>
                </a:solidFill>
              </a:rPr>
              <a:t>), pointers, references, or even user-defined </a:t>
            </a:r>
            <a:r>
              <a:rPr lang="en-US" sz="2800" dirty="0" err="1">
                <a:solidFill>
                  <a:schemeClr val="bg1"/>
                </a:solidFill>
              </a:rPr>
              <a:t>constexpr</a:t>
            </a:r>
            <a:r>
              <a:rPr lang="en-US" sz="2800" dirty="0">
                <a:solidFill>
                  <a:schemeClr val="bg1"/>
                </a:solidFill>
              </a:rPr>
              <a:t> objects that have a constant value at compile time.</a:t>
            </a:r>
          </a:p>
        </p:txBody>
      </p:sp>
      <p:pic>
        <p:nvPicPr>
          <p:cNvPr id="2" name="Picture 1">
            <a:extLst>
              <a:ext uri="{FF2B5EF4-FFF2-40B4-BE49-F238E27FC236}">
                <a16:creationId xmlns:a16="http://schemas.microsoft.com/office/drawing/2014/main" id="{5D43D3D4-D4B2-6EBB-5D91-196754674E44}"/>
              </a:ext>
            </a:extLst>
          </p:cNvPr>
          <p:cNvPicPr>
            <a:picLocks noChangeAspect="1"/>
          </p:cNvPicPr>
          <p:nvPr/>
        </p:nvPicPr>
        <p:blipFill rotWithShape="1">
          <a:blip r:embed="rId4"/>
          <a:srcRect l="7299" t="23247" b="12153"/>
          <a:stretch/>
        </p:blipFill>
        <p:spPr>
          <a:xfrm>
            <a:off x="510822" y="5753327"/>
            <a:ext cx="4653845" cy="1104673"/>
          </a:xfrm>
          <a:prstGeom prst="rect">
            <a:avLst/>
          </a:prstGeom>
        </p:spPr>
      </p:pic>
    </p:spTree>
    <p:extLst>
      <p:ext uri="{BB962C8B-B14F-4D97-AF65-F5344CB8AC3E}">
        <p14:creationId xmlns:p14="http://schemas.microsoft.com/office/powerpoint/2010/main" val="3720050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F68FE7-F967-1B61-7550-46853A6FCC3D}"/>
              </a:ext>
            </a:extLst>
          </p:cNvPr>
          <p:cNvPicPr>
            <a:picLocks noChangeAspect="1"/>
          </p:cNvPicPr>
          <p:nvPr/>
        </p:nvPicPr>
        <p:blipFill>
          <a:blip r:embed="rId2"/>
          <a:stretch>
            <a:fillRect/>
          </a:stretch>
        </p:blipFill>
        <p:spPr>
          <a:xfrm>
            <a:off x="1248335" y="15501"/>
            <a:ext cx="9695329" cy="6842499"/>
          </a:xfrm>
          <a:prstGeom prst="rect">
            <a:avLst/>
          </a:prstGeom>
        </p:spPr>
      </p:pic>
      <p:sp>
        <p:nvSpPr>
          <p:cNvPr id="6" name="TextBox 5">
            <a:extLst>
              <a:ext uri="{FF2B5EF4-FFF2-40B4-BE49-F238E27FC236}">
                <a16:creationId xmlns:a16="http://schemas.microsoft.com/office/drawing/2014/main" id="{BBEF6903-F3EA-B171-F966-9972A1713E82}"/>
              </a:ext>
            </a:extLst>
          </p:cNvPr>
          <p:cNvSpPr txBox="1"/>
          <p:nvPr/>
        </p:nvSpPr>
        <p:spPr>
          <a:xfrm>
            <a:off x="7204261" y="1285801"/>
            <a:ext cx="6098240" cy="584775"/>
          </a:xfrm>
          <a:prstGeom prst="rect">
            <a:avLst/>
          </a:prstGeom>
          <a:noFill/>
        </p:spPr>
        <p:txBody>
          <a:bodyPr wrap="square">
            <a:spAutoFit/>
          </a:bodyPr>
          <a:lstStyle/>
          <a:p>
            <a:r>
              <a:rPr lang="en-US" sz="3200" dirty="0">
                <a:solidFill>
                  <a:srgbClr val="FF0000"/>
                </a:solidFill>
              </a:rPr>
              <a:t>Variadic Template</a:t>
            </a:r>
          </a:p>
        </p:txBody>
      </p:sp>
    </p:spTree>
    <p:extLst>
      <p:ext uri="{BB962C8B-B14F-4D97-AF65-F5344CB8AC3E}">
        <p14:creationId xmlns:p14="http://schemas.microsoft.com/office/powerpoint/2010/main" val="2401906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22507</TotalTime>
  <Words>471</Words>
  <Application>Microsoft Macintosh PowerPoint</Application>
  <PresentationFormat>Widescreen</PresentationFormat>
  <Paragraphs>22</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Templates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Bhandari, Keshav</cp:lastModifiedBy>
  <cp:revision>80</cp:revision>
  <dcterms:created xsi:type="dcterms:W3CDTF">2024-01-18T13:32:16Z</dcterms:created>
  <dcterms:modified xsi:type="dcterms:W3CDTF">2024-04-04T17:33:33Z</dcterms:modified>
</cp:coreProperties>
</file>
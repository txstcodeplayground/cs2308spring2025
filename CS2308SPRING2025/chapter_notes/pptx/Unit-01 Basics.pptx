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8"/>
  </p:notesMasterIdLst>
  <p:sldIdLst>
    <p:sldId id="256" r:id="rId2"/>
    <p:sldId id="272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73" r:id="rId21"/>
    <p:sldId id="293" r:id="rId22"/>
    <p:sldId id="294" r:id="rId23"/>
    <p:sldId id="295" r:id="rId24"/>
    <p:sldId id="296" r:id="rId25"/>
    <p:sldId id="297" r:id="rId26"/>
    <p:sldId id="299" r:id="rId27"/>
    <p:sldId id="300" r:id="rId28"/>
    <p:sldId id="301" r:id="rId29"/>
    <p:sldId id="292" r:id="rId30"/>
    <p:sldId id="279" r:id="rId31"/>
    <p:sldId id="280" r:id="rId32"/>
    <p:sldId id="282" r:id="rId33"/>
    <p:sldId id="283" r:id="rId34"/>
    <p:sldId id="284" r:id="rId35"/>
    <p:sldId id="285" r:id="rId36"/>
    <p:sldId id="288" r:id="rId37"/>
    <p:sldId id="289" r:id="rId38"/>
    <p:sldId id="290" r:id="rId39"/>
    <p:sldId id="291" r:id="rId40"/>
    <p:sldId id="304" r:id="rId41"/>
    <p:sldId id="308" r:id="rId42"/>
    <p:sldId id="307" r:id="rId43"/>
    <p:sldId id="337" r:id="rId44"/>
    <p:sldId id="281" r:id="rId45"/>
    <p:sldId id="338" r:id="rId46"/>
    <p:sldId id="339" r:id="rId47"/>
    <p:sldId id="309" r:id="rId48"/>
    <p:sldId id="303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02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5" r:id="rId74"/>
    <p:sldId id="326" r:id="rId75"/>
    <p:sldId id="341" r:id="rId76"/>
    <p:sldId id="342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89C4"/>
    <a:srgbClr val="3435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98"/>
    <p:restoredTop sz="94717"/>
  </p:normalViewPr>
  <p:slideViewPr>
    <p:cSldViewPr snapToGrid="0">
      <p:cViewPr varScale="1">
        <p:scale>
          <a:sx n="85" d="100"/>
          <a:sy n="85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35D1C-2DAE-A844-AB28-6D356E73EE8D}" type="datetimeFigureOut">
              <a:rPr lang="en-US" smtClean="0"/>
              <a:t>5/31/24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8AF8E0-C54F-AA4C-9564-2FD33EE1C5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317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8AF8E0-C54F-AA4C-9564-2FD33EE1C5D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291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6257-958B-09D6-92F7-5B0310B8E4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CB69D8-EB61-F9A8-5D1A-1F94741B9E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573C1-CC5F-0B20-19D7-E42F24682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45A4A3-6948-F153-3318-377D94D70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B17D5C-E654-81BE-EC72-D4253B50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3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21C2A-904F-BFB4-AF47-8225BDBC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645F5-62D0-0F7C-7C71-CE3008954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ED2AA-D3CB-6A87-F6F4-742C557D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BBA9E1-EAA3-B453-5B8B-652839EAC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FC1C9-53BA-938B-7D77-CAB8D9688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447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B4A2-72E8-94B2-0D40-76DCD8C5A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A2FA4D-2759-214F-7B15-F7D3CECC4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3F4A3E-16E9-9B32-F980-9BEE83C9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C2826-3EB8-8571-8075-773114DBC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CEE87-4B22-4F89-0EED-CB2BFB2B6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597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A06D-3A94-9587-31F9-927848D5A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D2124-1628-6087-F974-BFC7A6A9CC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4D2039-E8F0-87D2-C366-1116E08EC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380AFC-7D20-8F02-3AA6-BA310376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5B6E6-EE80-CD45-575B-FC3411EB4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1D726-870A-E31F-7BE9-68A6B559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04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88248-201E-1071-490C-E2B0F034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88978-DF11-33E9-1476-F9EA8A0F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38A99-0E1F-72D2-C53C-B460A7A2FD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EB125-AAAB-196F-2350-8919EFFE0F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9DBE02-FA8F-0337-80CA-1B3A3BA26D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06BCB-093A-41AE-D8AE-FB27B505F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4B73D1-5555-1D92-5FD0-BC4AD4F8F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417B4-3D69-508D-BF7B-2ECFF6F8F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879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F3093-AC16-170B-1304-22A6DAB6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9E668-1077-D884-04D6-9966E158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E0396F-41FD-2200-1696-26C4E6AC0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5B8B63-BC1B-A7AE-B6CC-F5772ACA9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4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A44726-2BA3-55F8-0AC6-9D30DBE7F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D660CA-9103-B6B8-F1D1-3B6BF8913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16655-419F-7504-3B29-E35A841B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992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5877F-AC36-8E35-4BE0-FD9F07582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8E8E-19CC-FE91-8EB8-5C6522CFE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48FD99-AC54-EF58-38DC-685D17EE54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77FE06-565E-0B54-17B9-C2347ABBD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50E3F-AD08-9417-121D-D3416D6A5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0ACD8C-7008-0A11-6165-AED76704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30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780B-49AA-3089-8278-C4E57A9F1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109CF7-752F-4095-BE92-E00EEA8FA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428BCA-DB5F-6B57-92BA-4981C4D1FE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D84446-CE70-3231-1445-DB3A29FC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D26CD-E88D-0741-149E-334963476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B4273E-225F-8B5C-0845-68E63BC32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06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DDFCF-812F-3892-08F6-D30690D39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312774-DB26-BAE7-8990-171346329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0DB4A-BD60-EC40-DE4F-66B96A97D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71122-CEF0-6CE1-D304-347F6FC9C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1BFB4-DF8B-2FF4-59E7-DA7875D50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773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A505B1-2185-FE8C-6683-8010CE9CA4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CDFD91-1410-7EAE-CD08-F36286AAE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0B78F-B99D-2CAE-DE86-4A87A3C44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420540-874A-9F7F-A083-57DC2D85D8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0CACF-7BAD-4BE5-E54B-C0344BED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51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DCD04D-E994-0BCB-BE4C-C4CC95F50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40DE37-3E3C-A2A2-66FC-5D147A979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DEBDE9-86C6-6702-4539-53AD87CF29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ABD409-7894-914B-8B56-CBEFCA3FA783}" type="datetimeFigureOut">
              <a:rPr lang="en-US" smtClean="0"/>
              <a:t>5/31/24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A18CB-38A8-D83F-9344-AAEEE77D9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0B643C-D221-1074-2881-456D09D9C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B0DCE-EB0D-B345-B55B-5E162699D5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474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B790E4-F9DC-82AF-75ED-0A354BC07D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Functions, Organization, Arrays, Vectors, Lists</a:t>
            </a:r>
            <a:br>
              <a:rPr lang="en-US" sz="4800" dirty="0">
                <a:solidFill>
                  <a:srgbClr val="FFC000"/>
                </a:solidFill>
              </a:rPr>
            </a:br>
            <a:r>
              <a:rPr lang="en-US" sz="4800" dirty="0">
                <a:solidFill>
                  <a:srgbClr val="FFC000"/>
                </a:solidFill>
              </a:rPr>
              <a:t>and some comparison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C56E5-B860-CE21-CA7A-DA4228912D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</a:t>
            </a:r>
          </a:p>
        </p:txBody>
      </p:sp>
    </p:spTree>
    <p:extLst>
      <p:ext uri="{BB962C8B-B14F-4D97-AF65-F5344CB8AC3E}">
        <p14:creationId xmlns:p14="http://schemas.microsoft.com/office/powerpoint/2010/main" val="452291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399D4-01D7-E457-F2D9-A666286AD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2853A-AF41-E6AF-D451-C7BC81F986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Functions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4AF2B6-36F1-E11E-A29D-81E4763385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Unit-01.1</a:t>
            </a:r>
          </a:p>
        </p:txBody>
      </p:sp>
    </p:spTree>
    <p:extLst>
      <p:ext uri="{BB962C8B-B14F-4D97-AF65-F5344CB8AC3E}">
        <p14:creationId xmlns:p14="http://schemas.microsoft.com/office/powerpoint/2010/main" val="3684135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A28ED-124B-A56B-9C9F-7465DF5E9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9A14A79-50BA-4A90-E39B-A64D54A6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2438"/>
            <a:ext cx="7772400" cy="6233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39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CE335-34F4-C583-2BCF-9ADD7FB6A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324EE3E-ED8A-6A24-619C-C8ED5148D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" y="0"/>
            <a:ext cx="6057900" cy="242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DDCDAC-5C70-36C9-822B-C722DF60E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2216150"/>
            <a:ext cx="6057900" cy="242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E5F4F6-A617-D363-0F34-6F5446EB3E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" y="4641850"/>
            <a:ext cx="6057900" cy="21308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FE5A2A-0CE0-C072-90C1-B387F11695D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10170"/>
          <a:stretch/>
        </p:blipFill>
        <p:spPr>
          <a:xfrm>
            <a:off x="6189704" y="0"/>
            <a:ext cx="5964196" cy="233542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1B5B5B-CD85-0EDB-8470-8AE88A3A1A5B}"/>
              </a:ext>
            </a:extLst>
          </p:cNvPr>
          <p:cNvSpPr txBox="1"/>
          <p:nvPr/>
        </p:nvSpPr>
        <p:spPr>
          <a:xfrm>
            <a:off x="5574525" y="206813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[A]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A5FF1-1993-BF64-DDFB-535749E31CB0}"/>
              </a:ext>
            </a:extLst>
          </p:cNvPr>
          <p:cNvSpPr txBox="1"/>
          <p:nvPr/>
        </p:nvSpPr>
        <p:spPr>
          <a:xfrm>
            <a:off x="5574525" y="2422963"/>
            <a:ext cx="4587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[B]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A5C5BE-710C-8DDD-0C2B-FCCAC00DEE36}"/>
              </a:ext>
            </a:extLst>
          </p:cNvPr>
          <p:cNvSpPr txBox="1"/>
          <p:nvPr/>
        </p:nvSpPr>
        <p:spPr>
          <a:xfrm>
            <a:off x="5574525" y="4751043"/>
            <a:ext cx="479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[C]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6D337D6-127F-A3D2-8282-5679505B8831}"/>
              </a:ext>
            </a:extLst>
          </p:cNvPr>
          <p:cNvSpPr txBox="1"/>
          <p:nvPr/>
        </p:nvSpPr>
        <p:spPr>
          <a:xfrm>
            <a:off x="11698326" y="20681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[D]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EE65157-B8F8-76E4-30B9-BBEA34CC1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9704" y="4751043"/>
            <a:ext cx="5546557" cy="1140993"/>
          </a:xfrm>
        </p:spPr>
        <p:txBody>
          <a:bodyPr>
            <a:noAutofit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1. Function with arguments no return type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dirty="0">
                <a:solidFill>
                  <a:srgbClr val="FFC000"/>
                </a:solidFill>
              </a:rPr>
              <a:t>2. Function with arguments with return type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dirty="0">
                <a:solidFill>
                  <a:srgbClr val="FFC000"/>
                </a:solidFill>
              </a:rPr>
              <a:t>3. Function without arguments with return type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2000" dirty="0">
                <a:solidFill>
                  <a:srgbClr val="FFC000"/>
                </a:solidFill>
              </a:rPr>
              <a:t>4. Function without arguments without return type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9A1EC3-B590-E7E9-21EC-D0F21DF78CA7}"/>
              </a:ext>
            </a:extLst>
          </p:cNvPr>
          <p:cNvSpPr txBox="1"/>
          <p:nvPr/>
        </p:nvSpPr>
        <p:spPr>
          <a:xfrm>
            <a:off x="6189704" y="3995880"/>
            <a:ext cx="123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984139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315697-4FB5-50E8-6D7F-B69601ECE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67988B9-5CA7-E392-01DA-99AD77D0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042" y="1541891"/>
            <a:ext cx="7772400" cy="40870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9925D6-C196-EAB6-D214-AAA67D89EDD9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1. Standard Functions (std)</a:t>
            </a:r>
          </a:p>
        </p:txBody>
      </p:sp>
    </p:spTree>
    <p:extLst>
      <p:ext uri="{BB962C8B-B14F-4D97-AF65-F5344CB8AC3E}">
        <p14:creationId xmlns:p14="http://schemas.microsoft.com/office/powerpoint/2010/main" val="217656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08AA42-22DB-4659-B214-42A44C269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B2D575F0-A8F0-60AD-ABFD-91A2DFC571D8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2. User Defined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9A651C-FEF1-3913-AC94-8735C7F99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44745"/>
            <a:ext cx="7772400" cy="579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882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E5DE74-0EE0-21B1-49DD-366A632D1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EF3929D-0113-2ADB-98BF-8A366750B6C5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3. Recursive Functions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697E180-2BDD-330F-5E9A-9155A025D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714" y="144379"/>
            <a:ext cx="75399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02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74E2A2-D73C-B2B6-5144-7AE72B8A3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FDC1B8E-B672-1D41-47F3-9FF2D8C37086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DF041C-46DD-140E-7FDF-9333C64F5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37" y="351170"/>
            <a:ext cx="7772400" cy="61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47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9634C-CB86-8448-C51C-9CE2B96D1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B96254-4DB3-51D8-A5D2-75D6FF02BC4C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Functions…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2E3C8D-6E9F-D035-29FF-792B928A6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11" y="387209"/>
            <a:ext cx="7772400" cy="60835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35EEE01-DF4E-858A-398A-715D42BE9314}"/>
              </a:ext>
            </a:extLst>
          </p:cNvPr>
          <p:cNvSpPr txBox="1"/>
          <p:nvPr/>
        </p:nvSpPr>
        <p:spPr>
          <a:xfrm>
            <a:off x="8478253" y="3429000"/>
            <a:ext cx="371374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In the following class declaration, the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Account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constructor is an inline function because it is defined in the body of the class declaration. The member functions </a:t>
            </a:r>
            <a:r>
              <a:rPr lang="en-US" b="1" i="1" dirty="0" err="1">
                <a:solidFill>
                  <a:schemeClr val="accent2">
                    <a:lumMod val="60000"/>
                    <a:lumOff val="40000"/>
                  </a:schemeClr>
                </a:solidFill>
              </a:rPr>
              <a:t>GetBalance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Deposit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, and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Withdraw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are specified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inline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in their definitions. The 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inline</a:t>
            </a:r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 keyword is optional in the function declarations in the class declaration.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785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FE8F9-5D8C-0723-5552-C1C2610D0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317C9C9-9382-53AA-F911-83C6D72C6B2C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94135-AC4A-3BB1-1AC6-1A9133CAC72B}"/>
              </a:ext>
            </a:extLst>
          </p:cNvPr>
          <p:cNvSpPr txBox="1"/>
          <p:nvPr/>
        </p:nvSpPr>
        <p:spPr>
          <a:xfrm>
            <a:off x="7792453" y="3868612"/>
            <a:ext cx="37137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Can you guess the output from 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r>
              <a:rPr lang="en-US" b="0" i="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Segoe UI" panose="020B0502040204020203" pitchFamily="34" charset="0"/>
              </a:rPr>
              <a:t>- L12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- L13</a:t>
            </a:r>
          </a:p>
          <a:p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  <a:latin typeface="Segoe UI" panose="020B0502040204020203" pitchFamily="34" charset="0"/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-L15</a:t>
            </a: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-L16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160A7C-972D-A64A-BFF0-4EFE26C1E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53" y="1054099"/>
            <a:ext cx="6565900" cy="474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6503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0027F4-7A53-C5A3-887A-D6032BF5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82590BD-D548-39B4-18A3-2BC10E27BAB1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Inline Functions vs Macros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81D7B7-C09E-C222-4E2F-1CD07FBC2B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329290"/>
            <a:ext cx="6329084" cy="3865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F3BDD-89BC-DECD-EE41-8A246B181E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473" y="3892046"/>
            <a:ext cx="6144126" cy="282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360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5DB176-88B5-0CFB-353D-D190C91D6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5C51B0B-71DE-D066-9DDC-D4261E3B6617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Function Overloading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53A741-18CC-7C20-6903-3A1514B9A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06" y="66174"/>
            <a:ext cx="7198242" cy="6725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79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7B228C-C4B1-D47D-ED86-9217D3B4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4483B98-4EAE-EF68-691A-7B322226D74C}"/>
              </a:ext>
            </a:extLst>
          </p:cNvPr>
          <p:cNvSpPr txBox="1"/>
          <p:nvPr/>
        </p:nvSpPr>
        <p:spPr>
          <a:xfrm>
            <a:off x="8686617" y="144379"/>
            <a:ext cx="35053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VARIOUS TYPES OF FUNCTIONS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4. Lambda Functions (&gt;=C++11)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E9B8C2E-C114-8F61-D5F8-1D2CF0A57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217" y="507175"/>
            <a:ext cx="7772400" cy="58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768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9E8D9-6DCC-A961-94BF-CFB711F3C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959783-A5DA-D060-0162-04354C7EC2B1}"/>
              </a:ext>
            </a:extLst>
          </p:cNvPr>
          <p:cNvSpPr txBox="1"/>
          <p:nvPr/>
        </p:nvSpPr>
        <p:spPr>
          <a:xfrm>
            <a:off x="10288274" y="184009"/>
            <a:ext cx="1903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FUNCTION CALL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Call by Value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082C6-6B40-D65E-7658-3895925B8B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42" y="261935"/>
            <a:ext cx="7333712" cy="65960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2840F0-2CAD-6BC0-9C13-8F1055FF43CB}"/>
              </a:ext>
            </a:extLst>
          </p:cNvPr>
          <p:cNvSpPr txBox="1"/>
          <p:nvPr/>
        </p:nvSpPr>
        <p:spPr>
          <a:xfrm>
            <a:off x="7502154" y="5750661"/>
            <a:ext cx="398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function call has </a:t>
            </a:r>
            <a:r>
              <a:rPr lang="en-US" dirty="0">
                <a:solidFill>
                  <a:srgbClr val="FF0000"/>
                </a:solidFill>
              </a:rPr>
              <a:t>NO</a:t>
            </a:r>
          </a:p>
          <a:p>
            <a:r>
              <a:rPr lang="en-US" dirty="0">
                <a:solidFill>
                  <a:srgbClr val="FF0000"/>
                </a:solidFill>
              </a:rPr>
              <a:t>effect</a:t>
            </a:r>
            <a:r>
              <a:rPr lang="en-US" dirty="0">
                <a:solidFill>
                  <a:schemeClr val="bg1"/>
                </a:solidFill>
              </a:rPr>
              <a:t> on </a:t>
            </a:r>
            <a:r>
              <a:rPr lang="en-US" b="1" i="1" dirty="0">
                <a:solidFill>
                  <a:schemeClr val="bg1"/>
                </a:solidFill>
              </a:rPr>
              <a:t>number </a:t>
            </a:r>
            <a:r>
              <a:rPr lang="en-US" i="1" dirty="0">
                <a:solidFill>
                  <a:schemeClr val="bg1"/>
                </a:solidFill>
              </a:rPr>
              <a:t>inside main function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i.e., number is still 5</a:t>
            </a:r>
          </a:p>
        </p:txBody>
      </p:sp>
    </p:spTree>
    <p:extLst>
      <p:ext uri="{BB962C8B-B14F-4D97-AF65-F5344CB8AC3E}">
        <p14:creationId xmlns:p14="http://schemas.microsoft.com/office/powerpoint/2010/main" val="1887896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604EAF-205E-CE01-5162-D013A6DB4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4259309-F8E1-5873-701B-400E0077EE37}"/>
              </a:ext>
            </a:extLst>
          </p:cNvPr>
          <p:cNvSpPr txBox="1"/>
          <p:nvPr/>
        </p:nvSpPr>
        <p:spPr>
          <a:xfrm>
            <a:off x="10288274" y="184009"/>
            <a:ext cx="19037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FUNCTION CALL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Call by 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790A4-0553-A95E-E16E-DAA37B753650}"/>
              </a:ext>
            </a:extLst>
          </p:cNvPr>
          <p:cNvSpPr txBox="1"/>
          <p:nvPr/>
        </p:nvSpPr>
        <p:spPr>
          <a:xfrm>
            <a:off x="7502154" y="5750661"/>
            <a:ext cx="39840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function call </a:t>
            </a:r>
            <a:r>
              <a:rPr lang="en-US" dirty="0">
                <a:solidFill>
                  <a:srgbClr val="FF0000"/>
                </a:solidFill>
              </a:rPr>
              <a:t>has</a:t>
            </a:r>
          </a:p>
          <a:p>
            <a:r>
              <a:rPr lang="en-US" dirty="0">
                <a:solidFill>
                  <a:srgbClr val="FF0000"/>
                </a:solidFill>
              </a:rPr>
              <a:t>effect</a:t>
            </a:r>
            <a:r>
              <a:rPr lang="en-US" dirty="0">
                <a:solidFill>
                  <a:schemeClr val="bg1"/>
                </a:solidFill>
              </a:rPr>
              <a:t> on </a:t>
            </a:r>
            <a:r>
              <a:rPr lang="en-US" b="1" i="1" dirty="0">
                <a:solidFill>
                  <a:schemeClr val="bg1"/>
                </a:solidFill>
              </a:rPr>
              <a:t>number </a:t>
            </a:r>
            <a:r>
              <a:rPr lang="en-US" i="1" dirty="0">
                <a:solidFill>
                  <a:schemeClr val="bg1"/>
                </a:solidFill>
              </a:rPr>
              <a:t>inside main function</a:t>
            </a:r>
          </a:p>
          <a:p>
            <a:r>
              <a:rPr lang="en-US" b="1" i="1" dirty="0">
                <a:solidFill>
                  <a:schemeClr val="bg1"/>
                </a:solidFill>
              </a:rPr>
              <a:t>i.e., number will be 8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70E279-2B45-2C5D-3975-8E2AB3E38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003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739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B60E94-2517-FF15-BC3C-9D68E1B25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AA9CEDE-D194-44A7-9230-17CE74A3916D}"/>
              </a:ext>
            </a:extLst>
          </p:cNvPr>
          <p:cNvSpPr txBox="1"/>
          <p:nvPr/>
        </p:nvSpPr>
        <p:spPr>
          <a:xfrm>
            <a:off x="10288274" y="184009"/>
            <a:ext cx="19497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FUNCTION ARGS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Default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D90556-5C14-33DA-44BF-DA3CB5B9BB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16" y="184009"/>
            <a:ext cx="6091737" cy="58077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FB3579B-CBC1-5E24-D530-286CEDA9D3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477" y="4308013"/>
            <a:ext cx="7281028" cy="254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3735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C7FC9E-A2F7-B2BE-6EB8-677B22798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3DAA5E8-BFE8-51C4-2537-7DF4E7C140D1}"/>
              </a:ext>
            </a:extLst>
          </p:cNvPr>
          <p:cNvSpPr txBox="1"/>
          <p:nvPr/>
        </p:nvSpPr>
        <p:spPr>
          <a:xfrm>
            <a:off x="10288274" y="184009"/>
            <a:ext cx="199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VARIABLE SCOPE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Local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18D697-DE39-71A4-CDD3-76257CA5F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315" y="206179"/>
            <a:ext cx="7035370" cy="6445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64780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9C4202-42D7-E7BF-157C-EA38016E4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9FF94E4-F166-3D9B-D699-ABED265C67A5}"/>
              </a:ext>
            </a:extLst>
          </p:cNvPr>
          <p:cNvSpPr txBox="1"/>
          <p:nvPr/>
        </p:nvSpPr>
        <p:spPr>
          <a:xfrm>
            <a:off x="10288274" y="184009"/>
            <a:ext cx="199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VARIABLE SCOPE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Global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A52DD5-B37C-6943-CEF0-8776138324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62890"/>
            <a:ext cx="7772400" cy="633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2137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2705D2-CCEF-5EAA-4008-0269BB734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C0142C7-3357-E113-FF0F-16A24E0F2673}"/>
              </a:ext>
            </a:extLst>
          </p:cNvPr>
          <p:cNvSpPr txBox="1"/>
          <p:nvPr/>
        </p:nvSpPr>
        <p:spPr>
          <a:xfrm>
            <a:off x="10288274" y="184009"/>
            <a:ext cx="19996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VARIABLE SCOPE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Parameters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056E010-5413-C53C-6E9F-87D854E12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40005"/>
            <a:ext cx="7772400" cy="677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077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6B9C8C-6F06-D142-7322-C009B5753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E00B8-7041-CB98-FA87-FB9E6ABAC2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Organization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3740BE-D3CB-A74F-BA5E-2096C96338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Unit-01.2</a:t>
            </a:r>
          </a:p>
        </p:txBody>
      </p:sp>
    </p:spTree>
    <p:extLst>
      <p:ext uri="{BB962C8B-B14F-4D97-AF65-F5344CB8AC3E}">
        <p14:creationId xmlns:p14="http://schemas.microsoft.com/office/powerpoint/2010/main" val="290270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4CFC12-E7E5-6B07-1B5C-78463A34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BF273A-D780-CC6A-8EE5-82ECD262C1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</a:rPr>
              <a:t>As your project gets bigger and bigger, it is impossible to put everything in one big file.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WHY?</a:t>
            </a:r>
          </a:p>
        </p:txBody>
      </p:sp>
    </p:spTree>
    <p:extLst>
      <p:ext uri="{BB962C8B-B14F-4D97-AF65-F5344CB8AC3E}">
        <p14:creationId xmlns:p14="http://schemas.microsoft.com/office/powerpoint/2010/main" val="12151328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7200CD-A7D4-1182-FABC-E6AF0FE76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B06919-8722-4D97-63BF-20F0087D6D24}"/>
              </a:ext>
            </a:extLst>
          </p:cNvPr>
          <p:cNvSpPr txBox="1"/>
          <p:nvPr/>
        </p:nvSpPr>
        <p:spPr>
          <a:xfrm>
            <a:off x="9451649" y="184009"/>
            <a:ext cx="2836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Simple easy: good for small projects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CASE1: Everything in one file, function first and main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E3D5FB5D-7E4F-1372-2F07-D2EF60A87A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78" b="11785"/>
          <a:stretch/>
        </p:blipFill>
        <p:spPr>
          <a:xfrm>
            <a:off x="1760434" y="0"/>
            <a:ext cx="7563028" cy="6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4938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09F0E-68E8-1941-DA7A-C0A8FF048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0569B1-579F-AC07-A93D-E351AE9F5758}"/>
              </a:ext>
            </a:extLst>
          </p:cNvPr>
          <p:cNvSpPr txBox="1"/>
          <p:nvPr/>
        </p:nvSpPr>
        <p:spPr>
          <a:xfrm>
            <a:off x="9451649" y="184009"/>
            <a:ext cx="2836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Simple easy: good for small projects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CASE1: Everything in one file, with function declaration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1236FA-BDD5-3CC0-78B9-982254867BA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" t="-290" r="54435" b="11810"/>
          <a:stretch/>
        </p:blipFill>
        <p:spPr>
          <a:xfrm>
            <a:off x="760574" y="0"/>
            <a:ext cx="85725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820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2FF014-324C-EB57-3113-083675005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53BE8D-89A4-49D4-82E9-9FA7F66ABCAD}"/>
              </a:ext>
            </a:extLst>
          </p:cNvPr>
          <p:cNvSpPr txBox="1"/>
          <p:nvPr/>
        </p:nvSpPr>
        <p:spPr>
          <a:xfrm>
            <a:off x="9451649" y="184009"/>
            <a:ext cx="283627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Your project is now a big deal!! 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CASE2: USING External Function from different file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612E358-E810-8691-748C-CA6D1DDD6A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583" t="-2683" r="37141" b="11717"/>
          <a:stretch/>
        </p:blipFill>
        <p:spPr>
          <a:xfrm>
            <a:off x="777666" y="175464"/>
            <a:ext cx="8572501" cy="6238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8863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D11F9B-20FA-1DEB-6337-69CE35C1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DB87CB-3CFC-53DF-1877-430A4C790AB6}"/>
              </a:ext>
            </a:extLst>
          </p:cNvPr>
          <p:cNvSpPr txBox="1"/>
          <p:nvPr/>
        </p:nvSpPr>
        <p:spPr>
          <a:xfrm>
            <a:off x="9451649" y="184009"/>
            <a:ext cx="28362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Your project is now a big deal!! </a:t>
            </a:r>
          </a:p>
          <a:p>
            <a:endParaRPr lang="en-US" b="1" i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CASE2: USING Header Files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F7397E-F94F-B5EF-98FD-DBD9AB549E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196" t="-137" r="32436" b="11991"/>
          <a:stretch/>
        </p:blipFill>
        <p:spPr>
          <a:xfrm>
            <a:off x="0" y="461472"/>
            <a:ext cx="9458440" cy="606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058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E08E50-BB15-8552-4C38-09C94C56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FBED49-61DE-491B-16C6-0E5ABBB576DC}"/>
              </a:ext>
            </a:extLst>
          </p:cNvPr>
          <p:cNvSpPr txBox="1"/>
          <p:nvPr/>
        </p:nvSpPr>
        <p:spPr>
          <a:xfrm>
            <a:off x="9451649" y="184009"/>
            <a:ext cx="2836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BUT WHY?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51E43B-E977-48AB-849B-DE5206B2A27B}"/>
              </a:ext>
            </a:extLst>
          </p:cNvPr>
          <p:cNvSpPr txBox="1"/>
          <p:nvPr/>
        </p:nvSpPr>
        <p:spPr>
          <a:xfrm>
            <a:off x="3072213" y="3246470"/>
            <a:ext cx="614442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BUT WHY?</a:t>
            </a:r>
          </a:p>
        </p:txBody>
      </p:sp>
    </p:spTree>
    <p:extLst>
      <p:ext uri="{BB962C8B-B14F-4D97-AF65-F5344CB8AC3E}">
        <p14:creationId xmlns:p14="http://schemas.microsoft.com/office/powerpoint/2010/main" val="39244603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7DF1-61A1-EAF9-DD64-C5DD0C3CB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5480941B-FD02-99F9-C7E8-805452A046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39" b="36324"/>
          <a:stretch/>
        </p:blipFill>
        <p:spPr>
          <a:xfrm>
            <a:off x="0" y="1059678"/>
            <a:ext cx="12192000" cy="52567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F22B70-5CD3-098F-1B2E-D4CEF4D9071C}"/>
              </a:ext>
            </a:extLst>
          </p:cNvPr>
          <p:cNvSpPr txBox="1"/>
          <p:nvPr/>
        </p:nvSpPr>
        <p:spPr>
          <a:xfrm>
            <a:off x="9579836" y="122789"/>
            <a:ext cx="28362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Case Study</a:t>
            </a:r>
          </a:p>
        </p:txBody>
      </p:sp>
      <p:pic>
        <p:nvPicPr>
          <p:cNvPr id="6" name="Picture 5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A1E92F8A-A934-D318-36B8-B1E21D5A96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939" t="73416" r="66872"/>
          <a:stretch/>
        </p:blipFill>
        <p:spPr>
          <a:xfrm>
            <a:off x="0" y="5034897"/>
            <a:ext cx="2436976" cy="18231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353539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E15614-5AF5-9E8B-19D0-D22A9BF56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ECFDBB-50C4-8058-BAC6-E0BCD9A0EDF7}"/>
              </a:ext>
            </a:extLst>
          </p:cNvPr>
          <p:cNvSpPr txBox="1"/>
          <p:nvPr/>
        </p:nvSpPr>
        <p:spPr>
          <a:xfrm>
            <a:off x="3067940" y="184009"/>
            <a:ext cx="92199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Organization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Having multiple files, work independently, compile only that changes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6FD85AA-2D73-7605-D7BE-30BB276719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753" t="-209" b="37822"/>
          <a:stretch/>
        </p:blipFill>
        <p:spPr>
          <a:xfrm>
            <a:off x="0" y="922673"/>
            <a:ext cx="12192000" cy="4572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7ADACD-93F0-FC6A-9BD6-05736ED7E3E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373" t="61678" r="57792"/>
          <a:stretch/>
        </p:blipFill>
        <p:spPr>
          <a:xfrm>
            <a:off x="85459" y="4469422"/>
            <a:ext cx="3093578" cy="23885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3EB5E774-2D8A-D223-352E-15E30F024E2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4635" t="47511" r="3986" b="38664"/>
          <a:stretch/>
        </p:blipFill>
        <p:spPr>
          <a:xfrm>
            <a:off x="5057255" y="5725099"/>
            <a:ext cx="2753683" cy="1061800"/>
          </a:xfrm>
          <a:prstGeom prst="rect">
            <a:avLst/>
          </a:prstGeom>
        </p:spPr>
      </p:pic>
      <p:sp>
        <p:nvSpPr>
          <p:cNvPr id="6" name="Down Arrow 5">
            <a:extLst>
              <a:ext uri="{FF2B5EF4-FFF2-40B4-BE49-F238E27FC236}">
                <a16:creationId xmlns:a16="http://schemas.microsoft.com/office/drawing/2014/main" id="{4378DA5A-970B-577E-3D67-A7470669F0A9}"/>
              </a:ext>
            </a:extLst>
          </p:cNvPr>
          <p:cNvSpPr/>
          <p:nvPr/>
        </p:nvSpPr>
        <p:spPr>
          <a:xfrm rot="14419093">
            <a:off x="8819942" y="4486948"/>
            <a:ext cx="264210" cy="24763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8121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64212F-2A84-EF09-EADC-23B061FFE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18E5-95E3-D620-8E68-910410DC40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Arrays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F5CB0-0B39-67B0-53DB-2E8DE35C9D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Unit-01.3</a:t>
            </a:r>
          </a:p>
        </p:txBody>
      </p:sp>
    </p:spTree>
    <p:extLst>
      <p:ext uri="{BB962C8B-B14F-4D97-AF65-F5344CB8AC3E}">
        <p14:creationId xmlns:p14="http://schemas.microsoft.com/office/powerpoint/2010/main" val="28531625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D12C70-0BFD-ADB5-86A7-B2FE4E7C3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FE75EF57-6076-DD3D-50F5-ED06F1EC2874}"/>
              </a:ext>
            </a:extLst>
          </p:cNvPr>
          <p:cNvSpPr txBox="1"/>
          <p:nvPr/>
        </p:nvSpPr>
        <p:spPr>
          <a:xfrm>
            <a:off x="10288274" y="184009"/>
            <a:ext cx="12899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Char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48E38A-EB63-DC57-68E8-6371A173A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8717"/>
            <a:ext cx="7772400" cy="674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425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8A779-D5C6-69E5-D79B-896642288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15535E1-021C-B5FC-800E-11F005D9B4AE}"/>
              </a:ext>
            </a:extLst>
          </p:cNvPr>
          <p:cNvSpPr txBox="1"/>
          <p:nvPr/>
        </p:nvSpPr>
        <p:spPr>
          <a:xfrm>
            <a:off x="10288274" y="184009"/>
            <a:ext cx="1634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Number Array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83EFB2-5784-4BBC-347F-4B9EF6B2D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788" y="0"/>
            <a:ext cx="64224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8313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9149F3-33CD-C7BA-80EA-3A486BB61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0721638-352A-1D2A-B716-B19F4CCCB8CE}"/>
              </a:ext>
            </a:extLst>
          </p:cNvPr>
          <p:cNvSpPr txBox="1"/>
          <p:nvPr/>
        </p:nvSpPr>
        <p:spPr>
          <a:xfrm>
            <a:off x="10288274" y="184009"/>
            <a:ext cx="1423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Struct Array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7086444-8F02-320F-CC29-604AF3B3D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3" y="0"/>
            <a:ext cx="678942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D4D95AC-2EED-DA1D-AE87-960666E11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0173" y="1173241"/>
            <a:ext cx="5069150" cy="31965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D544C7-7FE7-4BF4-FAE8-C77D7CD4707E}"/>
              </a:ext>
            </a:extLst>
          </p:cNvPr>
          <p:cNvSpPr txBox="1"/>
          <p:nvPr/>
        </p:nvSpPr>
        <p:spPr>
          <a:xfrm>
            <a:off x="6912097" y="5161548"/>
            <a:ext cx="956556" cy="27699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200" b="0" i="0" dirty="0">
                <a:solidFill>
                  <a:schemeClr val="bg1"/>
                </a:solidFill>
                <a:effectLst/>
                <a:latin typeface="Söhne Mono"/>
              </a:rPr>
              <a:t>&lt;&lt; std::</a:t>
            </a:r>
            <a:r>
              <a:rPr lang="en-US" sz="1200" b="0" i="0" dirty="0" err="1">
                <a:solidFill>
                  <a:schemeClr val="bg1"/>
                </a:solidFill>
                <a:effectLst/>
                <a:latin typeface="Söhne Mono"/>
              </a:rPr>
              <a:t>endl</a:t>
            </a:r>
            <a:r>
              <a:rPr lang="en-US" sz="1200" b="0" i="0" dirty="0">
                <a:solidFill>
                  <a:schemeClr val="bg1"/>
                </a:solidFill>
                <a:effectLst/>
                <a:latin typeface="Söhne Mono"/>
              </a:rPr>
              <a:t>;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FFF40C-DC51-B853-795C-0E759C33799F}"/>
              </a:ext>
            </a:extLst>
          </p:cNvPr>
          <p:cNvSpPr/>
          <p:nvPr/>
        </p:nvSpPr>
        <p:spPr>
          <a:xfrm>
            <a:off x="4071690" y="4460241"/>
            <a:ext cx="2840408" cy="61929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PLEASE IGNORE THIS FOR LOOP FOR NOW</a:t>
            </a:r>
          </a:p>
        </p:txBody>
      </p:sp>
    </p:spTree>
    <p:extLst>
      <p:ext uri="{BB962C8B-B14F-4D97-AF65-F5344CB8AC3E}">
        <p14:creationId xmlns:p14="http://schemas.microsoft.com/office/powerpoint/2010/main" val="36184090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41DB3F-92C5-8B01-DB2C-836107A54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C1FA1BF-AE15-CDD1-525D-098AEE86434D}"/>
              </a:ext>
            </a:extLst>
          </p:cNvPr>
          <p:cNvSpPr txBox="1"/>
          <p:nvPr/>
        </p:nvSpPr>
        <p:spPr>
          <a:xfrm>
            <a:off x="9763515" y="147915"/>
            <a:ext cx="2428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 function argument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104C58-C396-CA52-B548-FC2E289E0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" y="0"/>
            <a:ext cx="742592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29AD2D2-E0C5-6ED6-3E14-712C3BED5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53" y="2069432"/>
            <a:ext cx="5861509" cy="3391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168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E41C51-5892-49C5-6F04-CDB8DFC7C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6F285C52-F77C-9734-4FC0-031E941C979E}"/>
              </a:ext>
            </a:extLst>
          </p:cNvPr>
          <p:cNvSpPr txBox="1"/>
          <p:nvPr/>
        </p:nvSpPr>
        <p:spPr>
          <a:xfrm>
            <a:off x="9763515" y="147915"/>
            <a:ext cx="2428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As function argument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31D4C8-B80C-16C7-15EA-2D4662A96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2" y="0"/>
            <a:ext cx="7425928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15C50C-4C3B-B041-8758-2C430E1BA8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2153" y="2069432"/>
            <a:ext cx="5861509" cy="339172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95DC3B-5B43-A11E-88FE-5E3DB9618873}"/>
              </a:ext>
            </a:extLst>
          </p:cNvPr>
          <p:cNvSpPr txBox="1"/>
          <p:nvPr/>
        </p:nvSpPr>
        <p:spPr>
          <a:xfrm>
            <a:off x="7778305" y="5836412"/>
            <a:ext cx="35228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 dirty="0">
                <a:solidFill>
                  <a:schemeClr val="bg1"/>
                </a:solidFill>
              </a:rPr>
              <a:t>WHAT HAPPENS IF YOU MODIFY ARRAY INSIDE FUNCTION?</a:t>
            </a:r>
          </a:p>
        </p:txBody>
      </p:sp>
    </p:spTree>
    <p:extLst>
      <p:ext uri="{BB962C8B-B14F-4D97-AF65-F5344CB8AC3E}">
        <p14:creationId xmlns:p14="http://schemas.microsoft.com/office/powerpoint/2010/main" val="14856084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59457C-3EE5-085A-9967-D53DCFBCB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DD504F7-F89B-7004-83DC-187AF4012F09}"/>
              </a:ext>
            </a:extLst>
          </p:cNvPr>
          <p:cNvSpPr txBox="1"/>
          <p:nvPr/>
        </p:nvSpPr>
        <p:spPr>
          <a:xfrm>
            <a:off x="9763515" y="147915"/>
            <a:ext cx="2441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You can also pass ref.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99541C-83F4-FB4D-0CFC-661B035E8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47"/>
            <a:ext cx="6898263" cy="63010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B366D2-271A-E1C2-3627-ACEA0ED31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9523" y="5740017"/>
            <a:ext cx="7382733" cy="99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0124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8A58D-DD4F-18F6-0BB0-C4892EDB2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DF66152-DE28-3C90-9CC3-95B1D56D2E6D}"/>
              </a:ext>
            </a:extLst>
          </p:cNvPr>
          <p:cNvSpPr txBox="1"/>
          <p:nvPr/>
        </p:nvSpPr>
        <p:spPr>
          <a:xfrm>
            <a:off x="9763515" y="147915"/>
            <a:ext cx="2282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ALLOWED?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BC3D35-3485-4163-85E0-24F81352C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115" y="294772"/>
            <a:ext cx="7772400" cy="196272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5E29D2-0B50-6B58-E6E3-07AEDE749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15" y="2257499"/>
            <a:ext cx="7772400" cy="19290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43E9A0-065D-3EEA-2AC9-598BAE90D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115" y="4186579"/>
            <a:ext cx="7772400" cy="252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1319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46288-E37C-2E8D-8999-7F1B6FDB1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46122D4C-C425-0FD9-913E-A45A2DB0C496}"/>
              </a:ext>
            </a:extLst>
          </p:cNvPr>
          <p:cNvSpPr txBox="1"/>
          <p:nvPr/>
        </p:nvSpPr>
        <p:spPr>
          <a:xfrm>
            <a:off x="9763515" y="147915"/>
            <a:ext cx="2282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ALLOWED?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D7521-529B-C863-946D-F96B1F180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6979" y="1735447"/>
            <a:ext cx="7772400" cy="338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3262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7F1BF9-9D84-32A9-1BF4-3D8C6B382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B7DA506-BD9E-3F35-9FA5-C30BFAA9804F}"/>
              </a:ext>
            </a:extLst>
          </p:cNvPr>
          <p:cNvSpPr txBox="1"/>
          <p:nvPr/>
        </p:nvSpPr>
        <p:spPr>
          <a:xfrm>
            <a:off x="9763515" y="147915"/>
            <a:ext cx="2282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ALLOWED?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A24D59-9EF8-AB08-00BA-5CEA99BD17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629" y="0"/>
            <a:ext cx="5970595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F0479A1-69CC-91D4-2059-AE4EDD98E1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3040" y="2931533"/>
            <a:ext cx="7028960" cy="2484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2973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21CA9-EDBB-4A7E-B545-1FEFA181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C35005C3-DCDA-4C06-0992-3F625315E694}"/>
              </a:ext>
            </a:extLst>
          </p:cNvPr>
          <p:cNvSpPr txBox="1"/>
          <p:nvPr/>
        </p:nvSpPr>
        <p:spPr>
          <a:xfrm>
            <a:off x="9416817" y="147915"/>
            <a:ext cx="27751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WHAT IS </a:t>
            </a:r>
            <a:r>
              <a:rPr lang="en-US" b="1" i="1" dirty="0">
                <a:solidFill>
                  <a:srgbClr val="FF0000"/>
                </a:solidFill>
              </a:rPr>
              <a:t>NOT</a:t>
            </a:r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ALLOWED?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B05FE-F34F-C77B-4DED-64AC906F4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63" y="147915"/>
            <a:ext cx="6549190" cy="8883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F48523-7E9D-195D-7B64-C6DEC3F58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63" y="1200773"/>
            <a:ext cx="6332621" cy="8589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751D97-8397-710D-254F-8C8728EFE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219" y="2059742"/>
            <a:ext cx="8110227" cy="27385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619102-FB46-0C39-0ADA-A0244A858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864" y="3580633"/>
            <a:ext cx="6755640" cy="3129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340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CC70BA-F0B8-9032-88CC-A1CC2640B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FB38-F0C2-0F17-8085-025683467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Array Iteration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9603A0-7E9A-4DA6-6519-9F873B2AD8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Unit-01.3.1</a:t>
            </a:r>
          </a:p>
        </p:txBody>
      </p:sp>
    </p:spTree>
    <p:extLst>
      <p:ext uri="{BB962C8B-B14F-4D97-AF65-F5344CB8AC3E}">
        <p14:creationId xmlns:p14="http://schemas.microsoft.com/office/powerpoint/2010/main" val="27123387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5B061-C99A-290B-5005-F7D8BBEF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BAFB133D-104C-3474-1C03-CB8120102A3C}"/>
              </a:ext>
            </a:extLst>
          </p:cNvPr>
          <p:cNvGrpSpPr/>
          <p:nvPr/>
        </p:nvGrpSpPr>
        <p:grpSpPr>
          <a:xfrm>
            <a:off x="1162226" y="100412"/>
            <a:ext cx="8913263" cy="6657176"/>
            <a:chOff x="1580060" y="2615012"/>
            <a:chExt cx="5997092" cy="446517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A2F13DF-3EF9-CA35-3A3A-82082CD95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80060" y="2615012"/>
              <a:ext cx="5997092" cy="446517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064E957-4DBD-0CE6-65FF-C2F91D66D2E1}"/>
                </a:ext>
              </a:extLst>
            </p:cNvPr>
            <p:cNvSpPr txBox="1"/>
            <p:nvPr/>
          </p:nvSpPr>
          <p:spPr>
            <a:xfrm>
              <a:off x="4188154" y="2704652"/>
              <a:ext cx="1414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1428 BASED</a:t>
              </a:r>
            </a:p>
          </p:txBody>
        </p: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9FF1CF0F-F394-A56F-9E83-97D40E1E65EE}"/>
              </a:ext>
            </a:extLst>
          </p:cNvPr>
          <p:cNvSpPr txBox="1">
            <a:spLocks/>
          </p:cNvSpPr>
          <p:nvPr/>
        </p:nvSpPr>
        <p:spPr>
          <a:xfrm>
            <a:off x="10186586" y="128186"/>
            <a:ext cx="2224755" cy="4163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000" dirty="0">
                <a:solidFill>
                  <a:srgbClr val="FFC000"/>
                </a:solidFill>
              </a:rPr>
              <a:t>Array Iteration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1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1428 Based</a:t>
            </a:r>
            <a:endParaRPr lang="en-US" sz="20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5156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ED7D9D-0E1D-FA2F-F834-F69C4E47A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2DE1A-55C5-4921-D2CC-94408A468B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586" y="128186"/>
            <a:ext cx="2224755" cy="416385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Array Iteration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1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Range Based</a:t>
            </a:r>
            <a:endParaRPr lang="en-US" sz="2000" dirty="0">
              <a:solidFill>
                <a:srgbClr val="FFC000"/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7411663-B7AC-E4F2-15D0-0EC76D330D2A}"/>
              </a:ext>
            </a:extLst>
          </p:cNvPr>
          <p:cNvGrpSpPr/>
          <p:nvPr/>
        </p:nvGrpSpPr>
        <p:grpSpPr>
          <a:xfrm>
            <a:off x="836634" y="778805"/>
            <a:ext cx="10358356" cy="5951009"/>
            <a:chOff x="802451" y="778805"/>
            <a:chExt cx="6385156" cy="370659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F02911-3921-FF49-FA63-B123401A23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2451" y="778805"/>
              <a:ext cx="6385156" cy="3706597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83B15EC-AA3A-1B1E-3D35-FC9A9F5A81F5}"/>
                </a:ext>
              </a:extLst>
            </p:cNvPr>
            <p:cNvSpPr txBox="1"/>
            <p:nvPr/>
          </p:nvSpPr>
          <p:spPr>
            <a:xfrm>
              <a:off x="3596274" y="837356"/>
              <a:ext cx="16509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RANGE BASED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06435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0D9AD-4CB8-8A4C-7147-CF54ECFCD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3E4DA5C5-1812-3AB5-9358-5921FC9D2C09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633820-D297-3E75-5902-D8C19A510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EED5F90-B88F-75AE-C794-064226828EBA}"/>
              </a:ext>
            </a:extLst>
          </p:cNvPr>
          <p:cNvSpPr/>
          <p:nvPr/>
        </p:nvSpPr>
        <p:spPr>
          <a:xfrm>
            <a:off x="4361688" y="2971800"/>
            <a:ext cx="603504" cy="2455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rgbClr val="2B89C4"/>
                </a:solidFill>
              </a:rPr>
              <a:t>string</a:t>
            </a:r>
          </a:p>
        </p:txBody>
      </p:sp>
    </p:spTree>
    <p:extLst>
      <p:ext uri="{BB962C8B-B14F-4D97-AF65-F5344CB8AC3E}">
        <p14:creationId xmlns:p14="http://schemas.microsoft.com/office/powerpoint/2010/main" val="30482798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91BA1C-BF54-B276-6B01-2F42F3942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D1478B99-BDBD-A616-ECE0-41EC37BDBFAB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B7A2BF-8A5F-7A72-D94D-96DB4F347D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0E95EDB-ACDA-1F92-0168-388D31E76A1A}"/>
              </a:ext>
            </a:extLst>
          </p:cNvPr>
          <p:cNvSpPr/>
          <p:nvPr/>
        </p:nvSpPr>
        <p:spPr>
          <a:xfrm>
            <a:off x="4809071" y="2971800"/>
            <a:ext cx="101596" cy="24553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3DEBB8-EFCF-D5D3-0387-3DE2DCFF1E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523673" y="2672842"/>
            <a:ext cx="3751133" cy="843450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02613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4D94A-7F50-D732-FF52-6D1ACF876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A8BBB713-CC6D-3020-626E-B532022EED3A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CE490B-FC93-0773-83E6-AF2346EEDC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A6C01D3-DB76-2C85-8AE6-3E80C97D9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385" y="2654977"/>
            <a:ext cx="3751133" cy="843450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956560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A59BC-2821-C235-B4B5-8197C3E6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1DCBC0C-F2E6-3EB7-05B2-45A8E7E1DCE3}"/>
              </a:ext>
            </a:extLst>
          </p:cNvPr>
          <p:cNvSpPr txBox="1"/>
          <p:nvPr/>
        </p:nvSpPr>
        <p:spPr>
          <a:xfrm>
            <a:off x="10288274" y="184009"/>
            <a:ext cx="13941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ARRAY</a:t>
            </a:r>
          </a:p>
          <a:p>
            <a:r>
              <a:rPr lang="en-US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String Array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7DDAC-DD84-1D77-9F99-8117259BE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00" y="0"/>
            <a:ext cx="6237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CABD85-4744-7C9A-A524-F49FDE9B1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385" y="2654977"/>
            <a:ext cx="3751133" cy="843450"/>
          </a:xfrm>
          <a:prstGeom prst="roundRect">
            <a:avLst>
              <a:gd name="adj" fmla="val 16667"/>
            </a:avLst>
          </a:prstGeom>
          <a:ln>
            <a:solidFill>
              <a:schemeClr val="accent1">
                <a:lumMod val="60000"/>
                <a:lumOff val="40000"/>
              </a:schemeClr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C3ED54-8417-3FA1-0B66-9BD0DC1A77B7}"/>
              </a:ext>
            </a:extLst>
          </p:cNvPr>
          <p:cNvSpPr txBox="1"/>
          <p:nvPr/>
        </p:nvSpPr>
        <p:spPr>
          <a:xfrm>
            <a:off x="509562" y="360440"/>
            <a:ext cx="2141405" cy="6117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0" u="sng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Use of Reference: </a:t>
            </a:r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Range based loops creates a </a:t>
            </a:r>
            <a:r>
              <a:rPr lang="en-US" b="0" i="1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copy</a:t>
            </a:r>
            <a:r>
              <a:rPr lang="en-US" b="0" i="0" dirty="0">
                <a:solidFill>
                  <a:schemeClr val="bg1"/>
                </a:solidFill>
                <a:effectLst/>
                <a:latin typeface="Georgia" panose="02040502050405020303" pitchFamily="18" charset="0"/>
              </a:rPr>
              <a:t> of the element for each iteration. Unless you actually need a copy, there is no need to perform it. And if the objects you are copying are any larger than a built-in type (integer, pointer etc.), there is a potential performance penalty.</a:t>
            </a:r>
          </a:p>
          <a:p>
            <a:pPr algn="ctr"/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pPr algn="ctr"/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Ref: </a:t>
            </a: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</a:rPr>
              <a:t>https://</a:t>
            </a:r>
            <a:r>
              <a:rPr lang="en-US" sz="1050" dirty="0" err="1">
                <a:solidFill>
                  <a:schemeClr val="bg1"/>
                </a:solidFill>
                <a:latin typeface="Georgia" panose="02040502050405020303" pitchFamily="18" charset="0"/>
              </a:rPr>
              <a:t>blog.knatten.org</a:t>
            </a:r>
            <a:r>
              <a:rPr lang="en-US" sz="1050" dirty="0">
                <a:solidFill>
                  <a:schemeClr val="bg1"/>
                </a:solidFill>
                <a:latin typeface="Georgia" panose="02040502050405020303" pitchFamily="18" charset="0"/>
              </a:rPr>
              <a:t>/2013/10/13/prefer-using-references-with-range-based-for-loops/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0438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BD49E-F947-CFA9-B3FC-E7C94528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7EE77C29-8A85-E353-9824-0AAB34F40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2689"/>
            <a:ext cx="9786049" cy="619262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FEA0FC2-DE6D-BB01-86C7-D9337FAC3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86586" y="128186"/>
            <a:ext cx="2224755" cy="416385"/>
          </a:xfrm>
        </p:spPr>
        <p:txBody>
          <a:bodyPr>
            <a:normAutofit fontScale="90000"/>
          </a:bodyPr>
          <a:lstStyle/>
          <a:p>
            <a:pPr algn="l"/>
            <a:r>
              <a:rPr lang="en-US" sz="2000" dirty="0">
                <a:solidFill>
                  <a:srgbClr val="FFC000"/>
                </a:solidFill>
              </a:rPr>
              <a:t>Array Iteration</a:t>
            </a:r>
            <a:br>
              <a:rPr lang="en-US" sz="2000" dirty="0">
                <a:solidFill>
                  <a:srgbClr val="FFC000"/>
                </a:solidFill>
              </a:rPr>
            </a:br>
            <a:r>
              <a:rPr lang="en-US" sz="1600" b="1" i="1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for_each</a:t>
            </a:r>
            <a:r>
              <a:rPr lang="en-US" sz="1600" b="1" i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Based</a:t>
            </a:r>
            <a:endParaRPr lang="en-US" sz="2000" dirty="0">
              <a:solidFill>
                <a:srgbClr val="FFC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7AC6B1-E913-DAA2-FFA8-29C0EF142F4C}"/>
              </a:ext>
            </a:extLst>
          </p:cNvPr>
          <p:cNvSpPr txBox="1"/>
          <p:nvPr/>
        </p:nvSpPr>
        <p:spPr>
          <a:xfrm>
            <a:off x="4421461" y="472921"/>
            <a:ext cx="2678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FOR_EACH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D8EE8B9-FDB7-0788-4AAF-1679D1E1D46F}"/>
              </a:ext>
            </a:extLst>
          </p:cNvPr>
          <p:cNvSpPr/>
          <p:nvPr/>
        </p:nvSpPr>
        <p:spPr>
          <a:xfrm>
            <a:off x="7650826" y="3777342"/>
            <a:ext cx="2238998" cy="489857"/>
          </a:xfrm>
          <a:prstGeom prst="roundRect">
            <a:avLst/>
          </a:prstGeom>
          <a:solidFill>
            <a:schemeClr val="bg1">
              <a:alpha val="386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6524EFF-CFC8-B3D8-8D78-55D901BE5EE0}"/>
              </a:ext>
            </a:extLst>
          </p:cNvPr>
          <p:cNvSpPr/>
          <p:nvPr/>
        </p:nvSpPr>
        <p:spPr>
          <a:xfrm>
            <a:off x="945225" y="4147456"/>
            <a:ext cx="4051317" cy="489857"/>
          </a:xfrm>
          <a:prstGeom prst="roundRect">
            <a:avLst/>
          </a:prstGeom>
          <a:solidFill>
            <a:schemeClr val="bg1">
              <a:alpha val="386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7B7EFBA-9E8B-63AF-D92C-240B5B16BB48}"/>
              </a:ext>
            </a:extLst>
          </p:cNvPr>
          <p:cNvSpPr/>
          <p:nvPr/>
        </p:nvSpPr>
        <p:spPr>
          <a:xfrm>
            <a:off x="457200" y="4495798"/>
            <a:ext cx="334248" cy="489857"/>
          </a:xfrm>
          <a:prstGeom prst="roundRect">
            <a:avLst/>
          </a:prstGeom>
          <a:solidFill>
            <a:schemeClr val="bg1">
              <a:alpha val="38636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1B7E8C-4C0F-3F0D-866B-A5A41F8AB972}"/>
              </a:ext>
            </a:extLst>
          </p:cNvPr>
          <p:cNvSpPr txBox="1"/>
          <p:nvPr/>
        </p:nvSpPr>
        <p:spPr>
          <a:xfrm>
            <a:off x="9740688" y="1361615"/>
            <a:ext cx="24513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//signature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for_each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</a:p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begin_of_array</a:t>
            </a:r>
            <a:r>
              <a:rPr lang="en-US" sz="2400" dirty="0">
                <a:solidFill>
                  <a:schemeClr val="bg1"/>
                </a:solidFill>
              </a:rPr>
              <a:t>,</a:t>
            </a:r>
          </a:p>
          <a:p>
            <a:r>
              <a:rPr lang="en-US" sz="2400" dirty="0" err="1">
                <a:solidFill>
                  <a:schemeClr val="accent2">
                    <a:lumMod val="75000"/>
                  </a:schemeClr>
                </a:solidFill>
              </a:rPr>
              <a:t>end_of_array</a:t>
            </a:r>
            <a:r>
              <a:rPr lang="en-US" sz="2400" dirty="0">
                <a:solidFill>
                  <a:schemeClr val="accent2">
                    <a:lumMod val="75000"/>
                  </a:schemeClr>
                </a:solidFill>
              </a:rPr>
              <a:t>,</a:t>
            </a:r>
          </a:p>
          <a:p>
            <a:r>
              <a:rPr lang="en-US" sz="2400" dirty="0" err="1">
                <a:solidFill>
                  <a:srgbClr val="FF0000"/>
                </a:solidFill>
              </a:rPr>
              <a:t>lambda_function</a:t>
            </a:r>
            <a:endParaRPr lang="en-US" sz="2400" dirty="0">
              <a:solidFill>
                <a:srgbClr val="FF0000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059561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3B055-0019-25B2-A08A-75B74613F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28DC0-B69F-A45B-EFA1-9419744CEA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VECTORS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11D8BB-8780-731A-A135-1567DA3B72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Unit-01.4</a:t>
            </a:r>
          </a:p>
        </p:txBody>
      </p:sp>
    </p:spTree>
    <p:extLst>
      <p:ext uri="{BB962C8B-B14F-4D97-AF65-F5344CB8AC3E}">
        <p14:creationId xmlns:p14="http://schemas.microsoft.com/office/powerpoint/2010/main" val="35120050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652224-BFDD-B5DA-879C-9C85FA39F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0ABC0D1-A5FF-5CD7-0731-B382AB03E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060054"/>
            <a:ext cx="7772400" cy="4737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975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D4E05-F962-25D5-A7CC-49F0C835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D80F43-F300-5D05-1931-A0A5DFD78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46185"/>
            <a:ext cx="7772400" cy="4365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137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C5A0A-7EA8-6D89-AF03-EDABB0F7B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36D679-CCD1-E4ED-F551-2ED97E3CA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20107"/>
            <a:ext cx="7772400" cy="5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4648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7761EE-1DC1-1AEA-F27E-454D6EC68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94EEFE-891C-33C9-A12E-4A900E17B602}"/>
              </a:ext>
            </a:extLst>
          </p:cNvPr>
          <p:cNvGrpSpPr/>
          <p:nvPr/>
        </p:nvGrpSpPr>
        <p:grpSpPr>
          <a:xfrm>
            <a:off x="1392117" y="1437957"/>
            <a:ext cx="8590083" cy="3982085"/>
            <a:chOff x="1392117" y="1437957"/>
            <a:chExt cx="8590083" cy="3982085"/>
          </a:xfrm>
        </p:grpSpPr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D7AE1823-06BF-2A6D-88A5-5AED0A2120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09800" y="1437957"/>
              <a:ext cx="7772400" cy="3982085"/>
            </a:xfrm>
            <a:prstGeom prst="rect">
              <a:avLst/>
            </a:prstGeom>
          </p:spPr>
        </p:pic>
        <p:sp>
          <p:nvSpPr>
            <p:cNvPr id="3" name="Rounded Rectangle 2">
              <a:extLst>
                <a:ext uri="{FF2B5EF4-FFF2-40B4-BE49-F238E27FC236}">
                  <a16:creationId xmlns:a16="http://schemas.microsoft.com/office/drawing/2014/main" id="{30D56CAD-C8EB-9198-556B-C0F4EDDE172A}"/>
                </a:ext>
              </a:extLst>
            </p:cNvPr>
            <p:cNvSpPr/>
            <p:nvPr/>
          </p:nvSpPr>
          <p:spPr>
            <a:xfrm>
              <a:off x="1392118" y="3807067"/>
              <a:ext cx="888021" cy="298939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en-US" sz="1400" dirty="0"/>
                <a:t>my</a:t>
              </a:r>
            </a:p>
          </p:txBody>
        </p:sp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CB9693F4-247D-32D0-BACA-5782F8D0735F}"/>
                </a:ext>
              </a:extLst>
            </p:cNvPr>
            <p:cNvSpPr/>
            <p:nvPr/>
          </p:nvSpPr>
          <p:spPr>
            <a:xfrm>
              <a:off x="1392118" y="4706814"/>
              <a:ext cx="888021" cy="298939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en-US" sz="1400" dirty="0"/>
                <a:t>my</a:t>
              </a:r>
            </a:p>
          </p:txBody>
        </p:sp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9E6B576B-6E23-04CC-F8DC-EB7592A5BB34}"/>
                </a:ext>
              </a:extLst>
            </p:cNvPr>
            <p:cNvSpPr/>
            <p:nvPr/>
          </p:nvSpPr>
          <p:spPr>
            <a:xfrm>
              <a:off x="1392117" y="2936627"/>
              <a:ext cx="888021" cy="298939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Ins="0" rtlCol="0" anchor="ctr"/>
            <a:lstStyle/>
            <a:p>
              <a:pPr algn="r"/>
              <a:r>
                <a:rPr lang="en-US" sz="1400" dirty="0"/>
                <a:t>my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880248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28AB8-C467-3125-7A36-DF326792C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4AF5AF2-B7D5-F58C-9DB0-717D4641E247}"/>
              </a:ext>
            </a:extLst>
          </p:cNvPr>
          <p:cNvGrpSpPr/>
          <p:nvPr/>
        </p:nvGrpSpPr>
        <p:grpSpPr>
          <a:xfrm>
            <a:off x="1733371" y="1175193"/>
            <a:ext cx="8905433" cy="4692770"/>
            <a:chOff x="1733371" y="1175193"/>
            <a:chExt cx="8905433" cy="469277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ADD5DA2-C53A-ABA2-4FB6-EC548AE860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66404" y="1175194"/>
              <a:ext cx="7772400" cy="4692769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4068C41-7E86-E66F-4740-1AC3623811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1548"/>
            <a:stretch/>
          </p:blipFill>
          <p:spPr>
            <a:xfrm>
              <a:off x="1733371" y="1175193"/>
              <a:ext cx="7652047" cy="469276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8507618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548E97-B6B8-E6B1-A1C6-38958B755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598F59E-6311-31E1-E5AD-E0CAEFCAE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608826"/>
            <a:ext cx="7772400" cy="5640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248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AAC298-7F5A-D235-BBBC-5769C746D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D5260E-CC81-647D-F8C6-1724CF95C0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73790"/>
            <a:ext cx="7772400" cy="2910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7623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D2CEDC-D097-4C26-7073-E9FEF1832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885A25F-83CC-E766-F48F-00719621A2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97"/>
          <a:stretch/>
        </p:blipFill>
        <p:spPr>
          <a:xfrm>
            <a:off x="2209800" y="649480"/>
            <a:ext cx="7772400" cy="572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4069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8AD348-48D7-CA70-7626-60A52A987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B9E4-A7B1-5001-0838-0DF56B700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LIST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B893B6-BE61-56CE-94BF-4A275000F7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Unit-01.5</a:t>
            </a:r>
          </a:p>
        </p:txBody>
      </p:sp>
    </p:spTree>
    <p:extLst>
      <p:ext uri="{BB962C8B-B14F-4D97-AF65-F5344CB8AC3E}">
        <p14:creationId xmlns:p14="http://schemas.microsoft.com/office/powerpoint/2010/main" val="23971823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404C8D-C9A3-A375-64A5-76CE3E2EF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E7976D-E701-54ED-8BCB-639B16D31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105176"/>
            <a:ext cx="7772400" cy="464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07863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7F1703-3FCA-0D98-AEB8-8F6F7F54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C39BC25-A764-7830-8FEE-BFB5A99C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0001"/>
            <a:ext cx="7772400" cy="385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518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83F00A-6B66-B66B-26B9-85D386E4F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EB15C-7883-7827-9EAD-AA6385F7D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21036"/>
            <a:ext cx="7772400" cy="4015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136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12B7AC-DF47-58DE-41FC-04DACACE4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8824F01-552F-C452-EFB9-21BB384C1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85203"/>
            <a:ext cx="7772400" cy="50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7836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E770C6-DB8F-D0C3-3C3F-863F14E9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CCCD22-BE5B-E41B-13CE-C368F61FA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5037"/>
            <a:ext cx="7772400" cy="6587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7923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B909B8-7BE8-3D9D-3A54-9E639ABA6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CD99AF-EDFD-9E0B-6955-0454B9D68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06106"/>
            <a:ext cx="7772400" cy="304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1697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8CD11F-9F71-9E3E-C895-CA779BC18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6A705D-149C-5ADC-718C-AC454255FE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906106"/>
            <a:ext cx="7772400" cy="3045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10090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67A977-4229-BECE-407D-5CDB3CF7E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40FEB54-0004-6274-1A77-125655F18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85203"/>
            <a:ext cx="7772400" cy="508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67115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C3ADB-C869-960D-470A-54F95B112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79AE4-F8CE-838E-60A9-9D592C7C34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STACK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0F7A1C-EC56-384C-6C02-895466D4C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Unit-01.6</a:t>
            </a:r>
          </a:p>
        </p:txBody>
      </p:sp>
    </p:spTree>
    <p:extLst>
      <p:ext uri="{BB962C8B-B14F-4D97-AF65-F5344CB8AC3E}">
        <p14:creationId xmlns:p14="http://schemas.microsoft.com/office/powerpoint/2010/main" val="1403851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8B98FB-C491-1DDC-75D5-841A50E51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899C3C6-CEFE-437F-FB98-9DD94DEF7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668" y="1361106"/>
            <a:ext cx="6784664" cy="4135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66355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EB679A-E577-2543-FA90-23691964D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A77DA83-3945-64EE-F49E-B8FFE64BED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62"/>
          <a:stretch/>
        </p:blipFill>
        <p:spPr>
          <a:xfrm>
            <a:off x="2877962" y="1352373"/>
            <a:ext cx="6436076" cy="415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31964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D8ED6E-A64A-3675-8C88-14AC3080A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653A4CF-2C0A-4B4D-15C0-15CC96B22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36" y="1595179"/>
            <a:ext cx="7098327" cy="36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10828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2FAB8-2A83-6057-D485-487823461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9A3D361-E9FA-701B-EB52-029F194A11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36" y="1595179"/>
            <a:ext cx="7098327" cy="3667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965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D98D2-D817-EB77-E771-77BA9B74A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D042BC-89D7-0048-5AD8-BFE2CFE4C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483080"/>
            <a:ext cx="7772400" cy="38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87578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26225-D950-E112-D5CF-77FC427D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E409C7E-7FB2-3ABF-5607-B8B685E5C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16922"/>
            <a:ext cx="7772400" cy="3824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9700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9A315D-D994-B554-CEE9-592D46B7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CDD4E-DE4C-6541-F5C2-17E30F192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COMPARISONS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D65F3E-5E5E-F886-5138-F156408FAD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Unit-01.7</a:t>
            </a:r>
          </a:p>
        </p:txBody>
      </p:sp>
    </p:spTree>
    <p:extLst>
      <p:ext uri="{BB962C8B-B14F-4D97-AF65-F5344CB8AC3E}">
        <p14:creationId xmlns:p14="http://schemas.microsoft.com/office/powerpoint/2010/main" val="2307523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FBA5B3-1F58-7F6B-3949-8A23B9C4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C2B38E-F003-AA36-F6BB-F71211C527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3644" y="0"/>
            <a:ext cx="74647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31879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5C009-1133-1C1C-0F3B-0A643A8D5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A4B6D-4887-BE9E-1BFC-60500510E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rgbClr val="FFC000"/>
                </a:solidFill>
              </a:rPr>
              <a:t>MAP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14CEE8-1B0C-E301-FCB2-3C2FD84847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Unit-01.8</a:t>
            </a:r>
          </a:p>
        </p:txBody>
      </p:sp>
    </p:spTree>
    <p:extLst>
      <p:ext uri="{BB962C8B-B14F-4D97-AF65-F5344CB8AC3E}">
        <p14:creationId xmlns:p14="http://schemas.microsoft.com/office/powerpoint/2010/main" val="37405404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435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0682D-0FC3-7814-8D85-9A2D95BDF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7556A-7696-1087-6D66-72A5B6A36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52338" y="0"/>
            <a:ext cx="3739662" cy="555748"/>
          </a:xfrm>
        </p:spPr>
        <p:txBody>
          <a:bodyPr>
            <a:noAutofit/>
          </a:bodyPr>
          <a:lstStyle/>
          <a:p>
            <a:pPr algn="r"/>
            <a:r>
              <a:rPr lang="en-US" sz="2400" dirty="0">
                <a:solidFill>
                  <a:srgbClr val="FFC000"/>
                </a:solidFill>
              </a:rPr>
              <a:t>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B0986BE-70D8-D8BC-F2F9-CE03B501F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43327"/>
            <a:ext cx="7772400" cy="25759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1176D7-3F92-E7AE-5543-EFC0C3E6E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9709" y="135924"/>
            <a:ext cx="7331328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3D4348D-4657-6C49-EC44-6548C004BB3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3878" b="3542"/>
          <a:stretch/>
        </p:blipFill>
        <p:spPr>
          <a:xfrm>
            <a:off x="10109541" y="5171132"/>
            <a:ext cx="1320460" cy="3523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D68742-C8EB-6F9A-9B06-C0B3B7CBBC2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6123" r="8990" b="3542"/>
          <a:stretch/>
        </p:blipFill>
        <p:spPr>
          <a:xfrm>
            <a:off x="10043813" y="5483225"/>
            <a:ext cx="1285102" cy="35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24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4266</TotalTime>
  <Words>608</Words>
  <Application>Microsoft Macintosh PowerPoint</Application>
  <PresentationFormat>Widescreen</PresentationFormat>
  <Paragraphs>148</Paragraphs>
  <Slides>76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3" baseType="lpstr">
      <vt:lpstr>Aptos</vt:lpstr>
      <vt:lpstr>Aptos Display</vt:lpstr>
      <vt:lpstr>Arial</vt:lpstr>
      <vt:lpstr>Georgia</vt:lpstr>
      <vt:lpstr>Segoe UI</vt:lpstr>
      <vt:lpstr>Söhne Mono</vt:lpstr>
      <vt:lpstr>Office Theme</vt:lpstr>
      <vt:lpstr>Functions, Organization, Arrays, Vectors, Lists and some comparison</vt:lpstr>
      <vt:lpstr>Functions</vt:lpstr>
      <vt:lpstr>PowerPoint Presentation</vt:lpstr>
      <vt:lpstr>1. Function with arguments no return type 2. Function with arguments with return type 3. Function without arguments with return type 4. Function without arguments without return type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Organization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Iteration</vt:lpstr>
      <vt:lpstr>PowerPoint Presentation</vt:lpstr>
      <vt:lpstr>Array Iteration Range Based</vt:lpstr>
      <vt:lpstr>PowerPoint Presentation</vt:lpstr>
      <vt:lpstr>PowerPoint Presentation</vt:lpstr>
      <vt:lpstr>PowerPoint Presentation</vt:lpstr>
      <vt:lpstr>PowerPoint Presentation</vt:lpstr>
      <vt:lpstr>Array Iteration for_each Based</vt:lpstr>
      <vt:lpstr>VECTORS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COMPARISONS</vt:lpstr>
      <vt:lpstr>PowerPoint Presentation</vt:lpstr>
      <vt:lpstr>MAP</vt:lpstr>
      <vt:lpstr>MAP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Functions, Arrays, Vectors, Lists and for-loops</dc:title>
  <dc:creator>Bhandari, Keshav</dc:creator>
  <cp:lastModifiedBy>Bhandari, Keshav</cp:lastModifiedBy>
  <cp:revision>17</cp:revision>
  <dcterms:created xsi:type="dcterms:W3CDTF">2024-01-18T13:32:16Z</dcterms:created>
  <dcterms:modified xsi:type="dcterms:W3CDTF">2024-05-31T19:55:14Z</dcterms:modified>
</cp:coreProperties>
</file>
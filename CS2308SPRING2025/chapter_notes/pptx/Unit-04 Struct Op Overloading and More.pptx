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2"/>
  </p:notes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6" r:id="rId9"/>
    <p:sldId id="268" r:id="rId10"/>
    <p:sldId id="267" r:id="rId11"/>
    <p:sldId id="269" r:id="rId12"/>
    <p:sldId id="270" r:id="rId13"/>
    <p:sldId id="272" r:id="rId14"/>
    <p:sldId id="273" r:id="rId15"/>
    <p:sldId id="274" r:id="rId16"/>
    <p:sldId id="275" r:id="rId17"/>
    <p:sldId id="276" r:id="rId18"/>
    <p:sldId id="277" r:id="rId19"/>
    <p:sldId id="278" r:id="rId20"/>
    <p:sldId id="279" r:id="rId21"/>
    <p:sldId id="281" r:id="rId22"/>
    <p:sldId id="283" r:id="rId23"/>
    <p:sldId id="284" r:id="rId24"/>
    <p:sldId id="285" r:id="rId25"/>
    <p:sldId id="286" r:id="rId26"/>
    <p:sldId id="287" r:id="rId27"/>
    <p:sldId id="288" r:id="rId28"/>
    <p:sldId id="289" r:id="rId29"/>
    <p:sldId id="290" r:id="rId30"/>
    <p:sldId id="291" r:id="rId31"/>
    <p:sldId id="294" r:id="rId32"/>
    <p:sldId id="295" r:id="rId33"/>
    <p:sldId id="292" r:id="rId34"/>
    <p:sldId id="296" r:id="rId35"/>
    <p:sldId id="298" r:id="rId36"/>
    <p:sldId id="299" r:id="rId37"/>
    <p:sldId id="300" r:id="rId38"/>
    <p:sldId id="301" r:id="rId39"/>
    <p:sldId id="302" r:id="rId40"/>
    <p:sldId id="297" r:id="rId41"/>
    <p:sldId id="303" r:id="rId42"/>
    <p:sldId id="304" r:id="rId43"/>
    <p:sldId id="305" r:id="rId44"/>
    <p:sldId id="306" r:id="rId45"/>
    <p:sldId id="307" r:id="rId46"/>
    <p:sldId id="308" r:id="rId47"/>
    <p:sldId id="314" r:id="rId48"/>
    <p:sldId id="310" r:id="rId49"/>
    <p:sldId id="312" r:id="rId50"/>
    <p:sldId id="313" r:id="rId5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B89C4"/>
    <a:srgbClr val="3435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412"/>
    <p:restoredTop sz="94340"/>
  </p:normalViewPr>
  <p:slideViewPr>
    <p:cSldViewPr snapToGrid="0">
      <p:cViewPr>
        <p:scale>
          <a:sx n="122" d="100"/>
          <a:sy n="122" d="100"/>
        </p:scale>
        <p:origin x="112" y="-4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735D1C-2DAE-A844-AB28-6D356E73EE8D}" type="datetimeFigureOut">
              <a:rPr lang="en-US" smtClean="0"/>
              <a:t>6/13/24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8AF8E0-C54F-AA4C-9564-2FD33EE1C5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3317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8AF8E0-C54F-AA4C-9564-2FD33EE1C5D9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11995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F46ED4-9C9D-4E68-924E-E4D0D8C6E6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A419A5-3A62-0451-FCA4-A2BE2A0259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DF22CC-5AD0-BC53-28E8-178D5BF408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1B96B8-D144-5E73-FACC-BDA01F5441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8AF8E0-C54F-AA4C-9564-2FD33EE1C5D9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36091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E2CD3A-E7C4-B0BC-5B15-E73BEF80A0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347525-7C91-4FF7-6415-FA77FB0D4D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BC3DE8-A8E0-8126-2AEA-7595633003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2D237F-E483-D043-8AE5-B77D0F69C5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8AF8E0-C54F-AA4C-9564-2FD33EE1C5D9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23474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AB584A-D899-0708-4230-E401C11702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5AE2BF-020E-F83F-1C2F-08328F84B6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80190C-3332-EBCF-1541-6D9E4919A6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423CFC-9FB0-21D2-FF15-6CBB27BAE5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8AF8E0-C54F-AA4C-9564-2FD33EE1C5D9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85201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9A2E81-20D2-2239-C72B-79F588388D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5C43B0-4E60-D1B6-1B00-F5D6B0A538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4CCF13-CC11-4B30-33BE-8B090190E5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798958-F941-BE75-1FD1-7CB4892563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8AF8E0-C54F-AA4C-9564-2FD33EE1C5D9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32150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674EF2-00AE-FA86-7CF1-933F46B6C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E8481C-2C9D-B157-F0D5-0CDE25E294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E7430A8-B6BF-70E4-82B5-9452DF0303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A87A55-CB2C-139D-DB18-C07AD327EF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8AF8E0-C54F-AA4C-9564-2FD33EE1C5D9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09092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3AC0C3-83E1-8F75-37E0-A5AC365697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0953B0-CE02-B60E-2E23-A63FDFB07B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F088B2-3626-570F-D9C9-BF4E153A63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C7CB4D-352D-526A-EBBD-FFB00DAF8B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8AF8E0-C54F-AA4C-9564-2FD33EE1C5D9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825147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4AA39F-4DF6-A5B2-0E51-53CE8F1F1E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8AE9BA-37C5-298D-77D7-E4D54C6268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9C311E-735F-A615-7A7C-2D2AAC0983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E8A788-334C-DA33-8F33-A33FD3DF6A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8AF8E0-C54F-AA4C-9564-2FD33EE1C5D9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529997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D8FADE-DB66-242F-A10B-A6DD41C292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085144-10EC-AB57-5B05-C1CE9E422D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36E204-675F-5AB4-FAA6-62E5EDF904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C9727A-CB99-C404-26D7-2EBBA83B06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8AF8E0-C54F-AA4C-9564-2FD33EE1C5D9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44792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B9B141-23CA-C9B0-80B6-98EBE692BE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D9CFFA-A441-F67A-9914-B9908528E3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905CB0-E908-3FF0-9E5A-01EAF48E4B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7C0691-7D48-5016-171B-5DF52B3121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8AF8E0-C54F-AA4C-9564-2FD33EE1C5D9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3078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3FC7BE-A388-BE18-794E-225D0A536F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7E29C7-9EE6-7A11-AC2D-3A9CDE9F9B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8155BA-8EB9-F238-25AE-8206AEF40A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A0948A-01E2-6E6E-FB73-69F02C094B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8AF8E0-C54F-AA4C-9564-2FD33EE1C5D9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464367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6FE2B4-3E18-6DB9-5C1F-CC68B19CF3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99EDB9-8D81-EC5D-3F2C-C94FFD8A8D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1D0861-CE55-5412-948C-DD83AE53C1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F06AA7-6C4C-7F10-1FB1-ABC25CFBE6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8AF8E0-C54F-AA4C-9564-2FD33EE1C5D9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631391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2A9BA6-A5F3-41D9-7357-0A4D701D6B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D5EEDF-516D-5165-CB03-62DFCA6DA4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4E3008-99D5-6BC6-3DC9-F8A79503A6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7B60E6-27CB-B310-1041-EDBA57F269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8AF8E0-C54F-AA4C-9564-2FD33EE1C5D9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447845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5A02CE-642A-2B87-C75C-0BFB6C2C16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372AC9-FEBF-2C80-6DF0-4750D89E04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77AD80-0905-2586-807C-26D93828BD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B875DB-AF7E-FC9C-E3F2-4AEB603369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8AF8E0-C54F-AA4C-9564-2FD33EE1C5D9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464663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90F45A-5C87-6705-EFF0-7DD7FF9F4A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1B90B5-AAEC-645D-FD77-7B88689D4E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DE27A6-1FC1-F695-C838-1A67841B70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AD6C26-784F-668A-6860-BDD7BDAFB3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8AF8E0-C54F-AA4C-9564-2FD33EE1C5D9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532611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946463-219D-C13B-9687-9EDC298DE2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A21C3D-AF85-0E9C-81E6-9A07533FB6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A1BC4B-42D6-2E30-B200-2C8950C32B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2CC780-F088-4177-3D8B-7877FE9FE7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8AF8E0-C54F-AA4C-9564-2FD33EE1C5D9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53113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C76257-958B-09D6-92F7-5B0310B8E4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CB69D8-EB61-F9A8-5D1A-1F94741B9E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E573C1-CC5F-0B20-19D7-E42F24682F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ABD409-7894-914B-8B56-CBEFCA3FA783}" type="datetimeFigureOut">
              <a:rPr lang="en-US" smtClean="0"/>
              <a:t>6/13/24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45A4A3-6948-F153-3318-377D94D70E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B17D5C-E654-81BE-EC72-D4253B5010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B0DCE-EB0D-B345-B55B-5E162699D5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9335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521C2A-904F-BFB4-AF47-8225BDBC14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7645F5-62D0-0F7C-7C71-CE30089549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1ED2AA-D3CB-6A87-F6F4-742C557D46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ABD409-7894-914B-8B56-CBEFCA3FA783}" type="datetimeFigureOut">
              <a:rPr lang="en-US" smtClean="0"/>
              <a:t>6/13/24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BBA9E1-EAA3-B453-5B8B-652839EACC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7FC1C9-53BA-938B-7D77-CAB8D9688D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B0DCE-EB0D-B345-B55B-5E162699D5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04473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6BB4A2-72E8-94B2-0D40-76DCD8C5A4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A2FA4D-2759-214F-7B15-F7D3CECC42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3F4A3E-16E9-9B32-F980-9BEE83C98C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ABD409-7894-914B-8B56-CBEFCA3FA783}" type="datetimeFigureOut">
              <a:rPr lang="en-US" smtClean="0"/>
              <a:t>6/13/24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6C2826-3EB8-8571-8075-773114DBC7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ACEE87-4B22-4F89-0EED-CB2BFB2B6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B0DCE-EB0D-B345-B55B-5E162699D5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95977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B2A06D-3A94-9587-31F9-927848D5AA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FD2124-1628-6087-F974-BFC7A6A9CCF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4D2039-E8F0-87D2-C366-1116E08EC9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380AFC-7D20-8F02-3AA6-BA3103765F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ABD409-7894-914B-8B56-CBEFCA3FA783}" type="datetimeFigureOut">
              <a:rPr lang="en-US" smtClean="0"/>
              <a:t>6/13/24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D5B6E6-EE80-CD45-575B-FC3411EB4B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71D726-870A-E31F-7BE9-68A6B559EF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B0DCE-EB0D-B345-B55B-5E162699D5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47044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C88248-201E-1071-490C-E2B0F03432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A88978-DF11-33E9-1476-F9EA8A0F87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D38A99-0E1F-72D2-C53C-B460A7A2FD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DEB125-AAAB-196F-2350-8919EFFE0FF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E9DBE02-FA8F-0337-80CA-1B3A3BA26D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7E06BCB-093A-41AE-D8AE-FB27B505FB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ABD409-7894-914B-8B56-CBEFCA3FA783}" type="datetimeFigureOut">
              <a:rPr lang="en-US" smtClean="0"/>
              <a:t>6/13/24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E4B73D1-5555-1D92-5FD0-BC4AD4F8F9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DF417B4-3D69-508D-BF7B-2ECFF6F8F3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B0DCE-EB0D-B345-B55B-5E162699D5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58793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7F3093-AC16-170B-1304-22A6DAB64B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99E668-1077-D884-04D6-9966E1589B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ABD409-7894-914B-8B56-CBEFCA3FA783}" type="datetimeFigureOut">
              <a:rPr lang="en-US" smtClean="0"/>
              <a:t>6/13/24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1E0396F-41FD-2200-1696-26C4E6AC01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5B8B63-BC1B-A7AE-B6CC-F5772ACA91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B0DCE-EB0D-B345-B55B-5E162699D5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54660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0A44726-2BA3-55F8-0AC6-9D30DBE7F5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ABD409-7894-914B-8B56-CBEFCA3FA783}" type="datetimeFigureOut">
              <a:rPr lang="en-US" smtClean="0"/>
              <a:t>6/13/24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2D660CA-9103-B6B8-F1D1-3B6BF8913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816655-419F-7504-3B29-E35A841B9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B0DCE-EB0D-B345-B55B-5E162699D5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59921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5877F-AC36-8E35-4BE0-FD9F07582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B48E8E-19CC-FE91-8EB8-5C6522CFE3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48FD99-AC54-EF58-38DC-685D17EE54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77FE06-565E-0B54-17B9-C2347ABBDC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ABD409-7894-914B-8B56-CBEFCA3FA783}" type="datetimeFigureOut">
              <a:rPr lang="en-US" smtClean="0"/>
              <a:t>6/13/24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E50E3F-AD08-9417-121D-D3416D6A50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0ACD8C-7008-0A11-6165-AED767049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B0DCE-EB0D-B345-B55B-5E162699D5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3049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C0780B-49AA-3089-8278-C4E57A9F18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B109CF7-752F-4095-BE92-E00EEA8FAB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428BCA-DB5F-6B57-92BA-4981C4D1FE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D84446-CE70-3231-1445-DB3A29FCF2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ABD409-7894-914B-8B56-CBEFCA3FA783}" type="datetimeFigureOut">
              <a:rPr lang="en-US" smtClean="0"/>
              <a:t>6/13/24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DD26CD-E88D-0741-149E-3349634769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B4273E-225F-8B5C-0845-68E63BC32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B0DCE-EB0D-B345-B55B-5E162699D5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88069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6DDFCF-812F-3892-08F6-D30690D39D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312774-DB26-BAE7-8990-1713463290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40DB4A-BD60-EC40-DE4F-66B96A97D8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ABD409-7894-914B-8B56-CBEFCA3FA783}" type="datetimeFigureOut">
              <a:rPr lang="en-US" smtClean="0"/>
              <a:t>6/13/24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271122-CEF0-6CE1-D304-347F6FC9CD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71BFB4-DF8B-2FF4-59E7-DA7875D505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B0DCE-EB0D-B345-B55B-5E162699D5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07731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CA505B1-2185-FE8C-6683-8010CE9CA4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CDFD91-1410-7EAE-CD08-F36286AAE4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F0B78F-B99D-2CAE-DE86-4A87A3C44C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ABD409-7894-914B-8B56-CBEFCA3FA783}" type="datetimeFigureOut">
              <a:rPr lang="en-US" smtClean="0"/>
              <a:t>6/13/24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420540-874A-9F7F-A083-57DC2D85D8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70CACF-7BAD-4BE5-E54B-C0344BED8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B0DCE-EB0D-B345-B55B-5E162699D5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8519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1DCD04D-E994-0BCB-BE4C-C4CC95F508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40DE37-3E3C-A2A2-66FC-5D147A979C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DEBDE9-86C6-6702-4539-53AD87CF29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ABD409-7894-914B-8B56-CBEFCA3FA783}" type="datetimeFigureOut">
              <a:rPr lang="en-US" smtClean="0"/>
              <a:t>6/13/24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0A18CB-38A8-D83F-9344-AAEEE77D9F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0B643C-D221-1074-2881-456D09D9C5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7B0DCE-EB0D-B345-B55B-5E162699D5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44748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2.sv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3.png"/><Relationship Id="rId5" Type="http://schemas.openxmlformats.org/officeDocument/2006/relationships/image" Target="../media/image42.svg"/><Relationship Id="rId4" Type="http://schemas.openxmlformats.org/officeDocument/2006/relationships/image" Target="../media/image41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7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7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7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7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2.png"/><Relationship Id="rId4" Type="http://schemas.openxmlformats.org/officeDocument/2006/relationships/image" Target="../media/image47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8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3.png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B790E4-F9DC-82AF-75ED-0A354BC07D3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800" dirty="0">
                <a:solidFill>
                  <a:srgbClr val="FFC000"/>
                </a:solidFill>
              </a:rPr>
              <a:t>Struct, Operator Overloading &amp; Classes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DC56E5-B860-CE21-CA7A-DA4228912DE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Unit-04</a:t>
            </a:r>
          </a:p>
        </p:txBody>
      </p:sp>
    </p:spTree>
    <p:extLst>
      <p:ext uri="{BB962C8B-B14F-4D97-AF65-F5344CB8AC3E}">
        <p14:creationId xmlns:p14="http://schemas.microsoft.com/office/powerpoint/2010/main" val="4522913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5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3B7A11D-B5C2-57FC-C107-6D0E8F4DCE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049A45-4D2B-20A1-E51E-A5650D5AF2C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800" dirty="0">
                <a:solidFill>
                  <a:srgbClr val="FFC000"/>
                </a:solidFill>
              </a:rPr>
              <a:t>Struct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23028B-DDBF-3BBB-B6A6-5045B2E25A1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Unit-04.01</a:t>
            </a:r>
          </a:p>
        </p:txBody>
      </p:sp>
    </p:spTree>
    <p:extLst>
      <p:ext uri="{BB962C8B-B14F-4D97-AF65-F5344CB8AC3E}">
        <p14:creationId xmlns:p14="http://schemas.microsoft.com/office/powerpoint/2010/main" val="30133718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5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92E5468-FE96-0B47-7566-E49E3F8132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35FB3B-9146-125B-21FB-8D840D3757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170543" y="0"/>
            <a:ext cx="2205487" cy="576982"/>
          </a:xfrm>
        </p:spPr>
        <p:txBody>
          <a:bodyPr>
            <a:noAutofit/>
          </a:bodyPr>
          <a:lstStyle/>
          <a:p>
            <a:r>
              <a:rPr lang="en-US" sz="3200" dirty="0">
                <a:solidFill>
                  <a:srgbClr val="FFC000"/>
                </a:solidFill>
              </a:rPr>
              <a:t>Struct……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E09F39-80C4-A21A-5C5D-384806F8C8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886045"/>
            <a:ext cx="9144000" cy="1655762"/>
          </a:xfrm>
        </p:spPr>
        <p:txBody>
          <a:bodyPr>
            <a:normAutofit lnSpcReduction="10000"/>
          </a:bodyPr>
          <a:lstStyle/>
          <a:p>
            <a:r>
              <a:rPr lang="en-US" b="0" i="0" dirty="0">
                <a:solidFill>
                  <a:srgbClr val="ECECEC"/>
                </a:solidFill>
                <a:effectLst/>
                <a:latin typeface="Söhne"/>
              </a:rPr>
              <a:t>In C++, a 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struct</a:t>
            </a:r>
            <a:r>
              <a:rPr lang="en-US" b="0" i="0" dirty="0">
                <a:solidFill>
                  <a:srgbClr val="ECECEC"/>
                </a:solidFill>
                <a:effectLst/>
                <a:latin typeface="Söhne"/>
              </a:rPr>
              <a:t> is a </a:t>
            </a:r>
            <a:r>
              <a:rPr lang="en-US" b="0" i="0" dirty="0"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Söhne"/>
              </a:rPr>
              <a:t>user-defined aggregate data type</a:t>
            </a:r>
            <a:r>
              <a:rPr lang="en-US" b="0" i="0" dirty="0">
                <a:solidFill>
                  <a:srgbClr val="ECECEC"/>
                </a:solidFill>
                <a:effectLst/>
                <a:latin typeface="Söhne"/>
              </a:rPr>
              <a:t> that can contain </a:t>
            </a:r>
            <a:r>
              <a:rPr lang="en-US" b="0" i="0" dirty="0">
                <a:solidFill>
                  <a:schemeClr val="accent3">
                    <a:lumMod val="60000"/>
                    <a:lumOff val="40000"/>
                  </a:schemeClr>
                </a:solidFill>
                <a:effectLst/>
                <a:latin typeface="Söhne"/>
              </a:rPr>
              <a:t>member variables (fields) </a:t>
            </a:r>
            <a:r>
              <a:rPr lang="en-US" b="0" i="0" dirty="0">
                <a:solidFill>
                  <a:srgbClr val="ECECEC"/>
                </a:solidFill>
                <a:effectLst/>
                <a:latin typeface="Söhne"/>
              </a:rPr>
              <a:t>and </a:t>
            </a:r>
            <a:r>
              <a:rPr lang="en-US" b="0" i="0" dirty="0">
                <a:solidFill>
                  <a:schemeClr val="accent3">
                    <a:lumMod val="60000"/>
                    <a:lumOff val="40000"/>
                  </a:schemeClr>
                </a:solidFill>
                <a:effectLst/>
                <a:latin typeface="Söhne"/>
              </a:rPr>
              <a:t>member functions (methods). </a:t>
            </a:r>
            <a:r>
              <a:rPr lang="en-US" b="0" i="0" dirty="0">
                <a:solidFill>
                  <a:srgbClr val="ECECEC"/>
                </a:solidFill>
                <a:effectLst/>
                <a:latin typeface="Söhne"/>
              </a:rPr>
              <a:t>It is very similar to a 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class</a:t>
            </a:r>
            <a:r>
              <a:rPr lang="en-US" b="0" i="0" dirty="0">
                <a:solidFill>
                  <a:srgbClr val="ECECEC"/>
                </a:solidFill>
                <a:effectLst/>
                <a:latin typeface="Söhne"/>
              </a:rPr>
              <a:t>, with the main difference being that members of a 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struct</a:t>
            </a:r>
            <a:r>
              <a:rPr lang="en-US" b="0" i="0" dirty="0">
                <a:solidFill>
                  <a:srgbClr val="ECECEC"/>
                </a:solidFill>
                <a:effectLst/>
                <a:latin typeface="Söhne"/>
              </a:rPr>
              <a:t> are by default public, while members of a 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class</a:t>
            </a:r>
            <a:r>
              <a:rPr lang="en-US" b="0" i="0" dirty="0">
                <a:solidFill>
                  <a:srgbClr val="ECECEC"/>
                </a:solidFill>
                <a:effectLst/>
                <a:latin typeface="Söhne"/>
              </a:rPr>
              <a:t> are by default private.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35944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5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B942340-4AD2-1AC6-780C-751497C396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321AB-A408-FD7A-AE99-D9DF3E2FA3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170543" y="0"/>
            <a:ext cx="2205487" cy="576982"/>
          </a:xfrm>
        </p:spPr>
        <p:txBody>
          <a:bodyPr>
            <a:noAutofit/>
          </a:bodyPr>
          <a:lstStyle/>
          <a:p>
            <a:r>
              <a:rPr lang="en-US" sz="3200" dirty="0">
                <a:solidFill>
                  <a:srgbClr val="FFC000"/>
                </a:solidFill>
              </a:rPr>
              <a:t>Struct……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EE7D465-9311-FB07-65F0-9470D80097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9986" y="5568830"/>
            <a:ext cx="6083300" cy="7112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439917" dist="38100" dir="7800000" sx="98000" sy="98000" algn="tl" rotWithShape="0">
              <a:schemeClr val="accent2"/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grpSp>
        <p:nvGrpSpPr>
          <p:cNvPr id="26" name="Group 25">
            <a:extLst>
              <a:ext uri="{FF2B5EF4-FFF2-40B4-BE49-F238E27FC236}">
                <a16:creationId xmlns:a16="http://schemas.microsoft.com/office/drawing/2014/main" id="{ECC9ED6C-BCB0-25E6-E883-ECE269A447B5}"/>
              </a:ext>
            </a:extLst>
          </p:cNvPr>
          <p:cNvGrpSpPr/>
          <p:nvPr/>
        </p:nvGrpSpPr>
        <p:grpSpPr>
          <a:xfrm>
            <a:off x="198407" y="656921"/>
            <a:ext cx="6369556" cy="4544520"/>
            <a:chOff x="198407" y="656921"/>
            <a:chExt cx="6369556" cy="4544520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D89DDEA0-5BE9-2FDA-8407-44D5D2EEBDA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98407" y="656921"/>
              <a:ext cx="6369556" cy="4544520"/>
            </a:xfrm>
            <a:prstGeom prst="roundRect">
              <a:avLst>
                <a:gd name="adj" fmla="val 2620"/>
              </a:avLst>
            </a:prstGeom>
            <a:ln>
              <a:noFill/>
            </a:ln>
            <a:effectLst>
              <a:outerShdw blurRad="821820" dist="38100" dir="7800000" algn="tl" rotWithShape="0">
                <a:srgbClr val="000000"/>
              </a:outerShdw>
            </a:effectLst>
            <a:scene3d>
              <a:camera prst="orthographicFront"/>
              <a:lightRig rig="contrasting" dir="t">
                <a:rot lat="0" lon="0" rev="4200000"/>
              </a:lightRig>
            </a:scene3d>
            <a:sp3d prstMaterial="plastic">
              <a:bevelT w="381000" h="114300" prst="relaxedInset"/>
              <a:contourClr>
                <a:srgbClr val="969696"/>
              </a:contourClr>
            </a:sp3d>
          </p:spPr>
        </p:pic>
        <p:sp>
          <p:nvSpPr>
            <p:cNvPr id="13" name="Rounded Rectangle 12">
              <a:extLst>
                <a:ext uri="{FF2B5EF4-FFF2-40B4-BE49-F238E27FC236}">
                  <a16:creationId xmlns:a16="http://schemas.microsoft.com/office/drawing/2014/main" id="{C78FE73C-D8B5-69F4-A335-90B33D71E147}"/>
                </a:ext>
              </a:extLst>
            </p:cNvPr>
            <p:cNvSpPr/>
            <p:nvPr/>
          </p:nvSpPr>
          <p:spPr>
            <a:xfrm>
              <a:off x="618226" y="1802922"/>
              <a:ext cx="3165894" cy="872828"/>
            </a:xfrm>
            <a:prstGeom prst="roundRect">
              <a:avLst>
                <a:gd name="adj" fmla="val 5801"/>
              </a:avLst>
            </a:prstGeom>
            <a:solidFill>
              <a:schemeClr val="accent1">
                <a:alpha val="26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ounded Rectangle 13">
              <a:extLst>
                <a:ext uri="{FF2B5EF4-FFF2-40B4-BE49-F238E27FC236}">
                  <a16:creationId xmlns:a16="http://schemas.microsoft.com/office/drawing/2014/main" id="{0BACF3DC-90BB-A73C-7B3F-66EAD7627E54}"/>
                </a:ext>
              </a:extLst>
            </p:cNvPr>
            <p:cNvSpPr/>
            <p:nvPr/>
          </p:nvSpPr>
          <p:spPr>
            <a:xfrm>
              <a:off x="618225" y="2701629"/>
              <a:ext cx="5949737" cy="727372"/>
            </a:xfrm>
            <a:prstGeom prst="roundRect">
              <a:avLst>
                <a:gd name="adj" fmla="val 5801"/>
              </a:avLst>
            </a:prstGeom>
            <a:solidFill>
              <a:schemeClr val="accent1">
                <a:alpha val="26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ounded Rectangle 14">
              <a:extLst>
                <a:ext uri="{FF2B5EF4-FFF2-40B4-BE49-F238E27FC236}">
                  <a16:creationId xmlns:a16="http://schemas.microsoft.com/office/drawing/2014/main" id="{3A5E46F1-51ED-F9AD-6B37-93FC813415CA}"/>
                </a:ext>
              </a:extLst>
            </p:cNvPr>
            <p:cNvSpPr/>
            <p:nvPr/>
          </p:nvSpPr>
          <p:spPr>
            <a:xfrm>
              <a:off x="618225" y="3482698"/>
              <a:ext cx="5949737" cy="1482565"/>
            </a:xfrm>
            <a:prstGeom prst="roundRect">
              <a:avLst>
                <a:gd name="adj" fmla="val 5801"/>
              </a:avLst>
            </a:prstGeom>
            <a:solidFill>
              <a:schemeClr val="accent1">
                <a:alpha val="26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6" name="Picture 15">
            <a:extLst>
              <a:ext uri="{FF2B5EF4-FFF2-40B4-BE49-F238E27FC236}">
                <a16:creationId xmlns:a16="http://schemas.microsoft.com/office/drawing/2014/main" id="{1DA7BAE3-4DB1-EE7B-85B3-9EF5766F2C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6155" y="3928819"/>
            <a:ext cx="6557131" cy="1441638"/>
          </a:xfrm>
          <a:prstGeom prst="roundRect">
            <a:avLst>
              <a:gd name="adj" fmla="val 8888"/>
            </a:avLst>
          </a:prstGeom>
          <a:ln>
            <a:noFill/>
          </a:ln>
          <a:effectLst>
            <a:outerShdw blurRad="440170" dist="38100" dir="7800000" algn="tl" rotWithShape="0">
              <a:schemeClr val="tx1"/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16862750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5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06FDC4-2D21-BCFE-4C5A-56DFCD3A70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E92EFF-2808-63EC-71DB-41A756164E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32785" y="0"/>
            <a:ext cx="4543245" cy="576982"/>
          </a:xfrm>
        </p:spPr>
        <p:txBody>
          <a:bodyPr>
            <a:noAutofit/>
          </a:bodyPr>
          <a:lstStyle/>
          <a:p>
            <a:r>
              <a:rPr lang="en-US" sz="3200" dirty="0">
                <a:solidFill>
                  <a:srgbClr val="FFC000"/>
                </a:solidFill>
              </a:rPr>
              <a:t>Struct [</a:t>
            </a:r>
            <a:r>
              <a:rPr lang="en-US" sz="32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Constructor</a:t>
            </a:r>
            <a:r>
              <a:rPr lang="en-US" sz="3200" dirty="0">
                <a:solidFill>
                  <a:srgbClr val="FFC000"/>
                </a:solidFill>
              </a:rPr>
              <a:t>]……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1EABEE3-0679-FBEC-96DA-C39590F1A5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9986" y="5568830"/>
            <a:ext cx="6083300" cy="7112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439917" dist="38100" dir="7800000" sx="98000" sy="98000" algn="tl" rotWithShape="0">
              <a:schemeClr val="accent2"/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A877C348-B3A8-51E5-FA8E-7EE58059B91D}"/>
              </a:ext>
            </a:extLst>
          </p:cNvPr>
          <p:cNvGrpSpPr/>
          <p:nvPr/>
        </p:nvGrpSpPr>
        <p:grpSpPr>
          <a:xfrm>
            <a:off x="198407" y="656921"/>
            <a:ext cx="6369556" cy="4544520"/>
            <a:chOff x="198407" y="656921"/>
            <a:chExt cx="6369556" cy="4544520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7D82D496-A8C6-92B6-21EB-65D6B0391D5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98407" y="656921"/>
              <a:ext cx="6369556" cy="4544520"/>
            </a:xfrm>
            <a:prstGeom prst="roundRect">
              <a:avLst>
                <a:gd name="adj" fmla="val 2620"/>
              </a:avLst>
            </a:prstGeom>
            <a:ln>
              <a:noFill/>
            </a:ln>
            <a:effectLst>
              <a:outerShdw blurRad="821820" dist="38100" dir="7800000" algn="tl" rotWithShape="0">
                <a:srgbClr val="000000"/>
              </a:outerShdw>
            </a:effectLst>
            <a:scene3d>
              <a:camera prst="orthographicFront"/>
              <a:lightRig rig="contrasting" dir="t">
                <a:rot lat="0" lon="0" rev="4200000"/>
              </a:lightRig>
            </a:scene3d>
            <a:sp3d prstMaterial="plastic">
              <a:bevelT w="381000" h="114300" prst="relaxedInset"/>
              <a:contourClr>
                <a:srgbClr val="969696"/>
              </a:contourClr>
            </a:sp3d>
          </p:spPr>
        </p:pic>
        <p:sp>
          <p:nvSpPr>
            <p:cNvPr id="14" name="Rounded Rectangle 13">
              <a:extLst>
                <a:ext uri="{FF2B5EF4-FFF2-40B4-BE49-F238E27FC236}">
                  <a16:creationId xmlns:a16="http://schemas.microsoft.com/office/drawing/2014/main" id="{9CF2BF1C-DDCA-4D1B-BC9C-E1813603C813}"/>
                </a:ext>
              </a:extLst>
            </p:cNvPr>
            <p:cNvSpPr/>
            <p:nvPr/>
          </p:nvSpPr>
          <p:spPr>
            <a:xfrm>
              <a:off x="618225" y="2701629"/>
              <a:ext cx="5949737" cy="727372"/>
            </a:xfrm>
            <a:prstGeom prst="roundRect">
              <a:avLst>
                <a:gd name="adj" fmla="val 5801"/>
              </a:avLst>
            </a:prstGeom>
            <a:solidFill>
              <a:schemeClr val="accent1">
                <a:alpha val="26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6" name="Picture 15">
            <a:extLst>
              <a:ext uri="{FF2B5EF4-FFF2-40B4-BE49-F238E27FC236}">
                <a16:creationId xmlns:a16="http://schemas.microsoft.com/office/drawing/2014/main" id="{254767B1-8406-3A70-F7DA-D8EE483E41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6155" y="3928819"/>
            <a:ext cx="6557131" cy="1441638"/>
          </a:xfrm>
          <a:prstGeom prst="roundRect">
            <a:avLst>
              <a:gd name="adj" fmla="val 8888"/>
            </a:avLst>
          </a:prstGeom>
          <a:ln>
            <a:noFill/>
          </a:ln>
          <a:effectLst>
            <a:outerShdw blurRad="440170" dist="38100" dir="7800000" algn="tl" rotWithShape="0">
              <a:schemeClr val="tx1"/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DF2FA623-13E5-2819-6977-B3A892D6896F}"/>
              </a:ext>
            </a:extLst>
          </p:cNvPr>
          <p:cNvSpPr/>
          <p:nvPr/>
        </p:nvSpPr>
        <p:spPr>
          <a:xfrm>
            <a:off x="7601693" y="1131448"/>
            <a:ext cx="3671593" cy="1941457"/>
          </a:xfrm>
          <a:prstGeom prst="roundRect">
            <a:avLst>
              <a:gd name="adj" fmla="val 5801"/>
            </a:avLst>
          </a:prstGeom>
          <a:solidFill>
            <a:schemeClr val="accent1">
              <a:alpha val="26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Let’s do some dissection…..</a:t>
            </a:r>
          </a:p>
        </p:txBody>
      </p:sp>
    </p:spTree>
    <p:extLst>
      <p:ext uri="{BB962C8B-B14F-4D97-AF65-F5344CB8AC3E}">
        <p14:creationId xmlns:p14="http://schemas.microsoft.com/office/powerpoint/2010/main" val="8035282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5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6C18DE3-6143-D743-E5DD-BF0982BFDA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F43443-A9CB-07C1-00C8-B8CFB16C1F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32785" y="0"/>
            <a:ext cx="4543245" cy="576982"/>
          </a:xfrm>
        </p:spPr>
        <p:txBody>
          <a:bodyPr>
            <a:noAutofit/>
          </a:bodyPr>
          <a:lstStyle/>
          <a:p>
            <a:r>
              <a:rPr lang="en-US" sz="3200" dirty="0">
                <a:solidFill>
                  <a:srgbClr val="FFC000"/>
                </a:solidFill>
              </a:rPr>
              <a:t>Struct [</a:t>
            </a:r>
            <a:r>
              <a:rPr lang="en-US" sz="32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Constructor</a:t>
            </a:r>
            <a:r>
              <a:rPr lang="en-US" sz="3200" dirty="0">
                <a:solidFill>
                  <a:srgbClr val="FFC000"/>
                </a:solidFill>
              </a:rPr>
              <a:t>]……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465D1D7-AE8B-7603-B11B-54825A6611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407" y="656921"/>
            <a:ext cx="6369556" cy="4544520"/>
          </a:xfrm>
          <a:prstGeom prst="roundRect">
            <a:avLst>
              <a:gd name="adj" fmla="val 2620"/>
            </a:avLst>
          </a:prstGeom>
          <a:ln>
            <a:noFill/>
          </a:ln>
          <a:effectLst>
            <a:outerShdw blurRad="821820" dist="38100" dir="7800000" algn="tl" rotWithShape="0">
              <a:srgbClr val="000000"/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3167CC24-7979-2D98-4BFB-9D2116962ABD}"/>
              </a:ext>
            </a:extLst>
          </p:cNvPr>
          <p:cNvSpPr/>
          <p:nvPr/>
        </p:nvSpPr>
        <p:spPr>
          <a:xfrm>
            <a:off x="618225" y="2701629"/>
            <a:ext cx="5949737" cy="727372"/>
          </a:xfrm>
          <a:prstGeom prst="roundRect">
            <a:avLst>
              <a:gd name="adj" fmla="val 5801"/>
            </a:avLst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AC7C5E5-4FAA-7E29-848B-C979EA6F41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6155" y="3928819"/>
            <a:ext cx="6557131" cy="1441638"/>
          </a:xfrm>
          <a:prstGeom prst="roundRect">
            <a:avLst>
              <a:gd name="adj" fmla="val 8888"/>
            </a:avLst>
          </a:prstGeom>
          <a:ln>
            <a:noFill/>
          </a:ln>
          <a:effectLst>
            <a:outerShdw blurRad="440170" dist="38100" dir="7800000" algn="tl" rotWithShape="0">
              <a:schemeClr val="tx1"/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D2231BE7-8460-E1BA-68EF-6AF051521876}"/>
              </a:ext>
            </a:extLst>
          </p:cNvPr>
          <p:cNvSpPr/>
          <p:nvPr/>
        </p:nvSpPr>
        <p:spPr>
          <a:xfrm>
            <a:off x="7601693" y="775355"/>
            <a:ext cx="3671593" cy="576983"/>
          </a:xfrm>
          <a:prstGeom prst="roundRect">
            <a:avLst>
              <a:gd name="adj" fmla="val 5801"/>
            </a:avLst>
          </a:prstGeom>
          <a:solidFill>
            <a:schemeClr val="accent1">
              <a:alpha val="26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Let’s do some dissection…..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AF0F5124-4662-D1EB-A040-4F4C00B5E2AC}"/>
              </a:ext>
            </a:extLst>
          </p:cNvPr>
          <p:cNvSpPr/>
          <p:nvPr/>
        </p:nvSpPr>
        <p:spPr>
          <a:xfrm>
            <a:off x="6667164" y="2776823"/>
            <a:ext cx="3671593" cy="576983"/>
          </a:xfrm>
          <a:prstGeom prst="roundRect">
            <a:avLst>
              <a:gd name="adj" fmla="val 5801"/>
            </a:avLst>
          </a:prstGeom>
          <a:solidFill>
            <a:schemeClr val="accent2">
              <a:alpha val="26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DELETE CONSTRUCTOR??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ACD47985-5E1A-57CE-0AAC-83D17940AC00}"/>
              </a:ext>
            </a:extLst>
          </p:cNvPr>
          <p:cNvSpPr/>
          <p:nvPr/>
        </p:nvSpPr>
        <p:spPr>
          <a:xfrm>
            <a:off x="533784" y="2635882"/>
            <a:ext cx="6034177" cy="857815"/>
          </a:xfrm>
          <a:prstGeom prst="roundRect">
            <a:avLst>
              <a:gd name="adj" fmla="val 580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C0B9291-47AA-5527-CFB4-C72861135E3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92" r="7140"/>
          <a:stretch/>
        </p:blipFill>
        <p:spPr>
          <a:xfrm>
            <a:off x="4382219" y="5568830"/>
            <a:ext cx="7168551" cy="7112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439917" dist="38100" dir="7800000" sx="98000" sy="98000" algn="tl" rotWithShape="0">
              <a:schemeClr val="accent2"/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13962000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5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F67BD2E-4527-904E-52CB-3852B536BD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3FA558-3A81-F6BB-803B-3DBA1CE971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32785" y="0"/>
            <a:ext cx="4543245" cy="576982"/>
          </a:xfrm>
        </p:spPr>
        <p:txBody>
          <a:bodyPr>
            <a:noAutofit/>
          </a:bodyPr>
          <a:lstStyle/>
          <a:p>
            <a:r>
              <a:rPr lang="en-US" sz="3200" dirty="0">
                <a:solidFill>
                  <a:srgbClr val="FFC000"/>
                </a:solidFill>
              </a:rPr>
              <a:t>Struct [</a:t>
            </a:r>
            <a:r>
              <a:rPr lang="en-US" sz="32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Constructor</a:t>
            </a:r>
            <a:r>
              <a:rPr lang="en-US" sz="3200" dirty="0">
                <a:solidFill>
                  <a:srgbClr val="FFC000"/>
                </a:solidFill>
              </a:rPr>
              <a:t>]……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9C8972F-DB54-1583-5431-04F67ACD67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407" y="656921"/>
            <a:ext cx="6369556" cy="4544520"/>
          </a:xfrm>
          <a:prstGeom prst="roundRect">
            <a:avLst>
              <a:gd name="adj" fmla="val 2620"/>
            </a:avLst>
          </a:prstGeom>
          <a:ln>
            <a:noFill/>
          </a:ln>
          <a:effectLst>
            <a:outerShdw blurRad="821820" dist="38100" dir="7800000" algn="tl" rotWithShape="0">
              <a:srgbClr val="000000"/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7287EE52-D825-9D86-2329-68E9AA70620D}"/>
              </a:ext>
            </a:extLst>
          </p:cNvPr>
          <p:cNvSpPr/>
          <p:nvPr/>
        </p:nvSpPr>
        <p:spPr>
          <a:xfrm>
            <a:off x="618225" y="2701629"/>
            <a:ext cx="5949737" cy="727372"/>
          </a:xfrm>
          <a:prstGeom prst="roundRect">
            <a:avLst>
              <a:gd name="adj" fmla="val 5801"/>
            </a:avLst>
          </a:prstGeom>
          <a:solidFill>
            <a:schemeClr val="accent1">
              <a:alpha val="26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DD4A9BA3-C3B3-FB6E-9F6B-FE3EDB74F08F}"/>
              </a:ext>
            </a:extLst>
          </p:cNvPr>
          <p:cNvSpPr/>
          <p:nvPr/>
        </p:nvSpPr>
        <p:spPr>
          <a:xfrm>
            <a:off x="7601693" y="1131448"/>
            <a:ext cx="3671593" cy="1941457"/>
          </a:xfrm>
          <a:prstGeom prst="roundRect">
            <a:avLst>
              <a:gd name="adj" fmla="val 5801"/>
            </a:avLst>
          </a:prstGeom>
          <a:solidFill>
            <a:schemeClr val="accent1">
              <a:alpha val="26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Let’s do some dissection…..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7D53D660-AB56-94EA-B91F-3A46DA44E475}"/>
              </a:ext>
            </a:extLst>
          </p:cNvPr>
          <p:cNvSpPr/>
          <p:nvPr/>
        </p:nvSpPr>
        <p:spPr>
          <a:xfrm>
            <a:off x="7601694" y="4295955"/>
            <a:ext cx="1542306" cy="249200"/>
          </a:xfrm>
          <a:prstGeom prst="roundRect">
            <a:avLst>
              <a:gd name="adj" fmla="val 580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F7233BD6-CD3A-0754-2B7A-1B5A4C2B1AEE}"/>
              </a:ext>
            </a:extLst>
          </p:cNvPr>
          <p:cNvSpPr/>
          <p:nvPr/>
        </p:nvSpPr>
        <p:spPr>
          <a:xfrm>
            <a:off x="533784" y="2635882"/>
            <a:ext cx="6034177" cy="857815"/>
          </a:xfrm>
          <a:prstGeom prst="roundRect">
            <a:avLst>
              <a:gd name="adj" fmla="val 580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19E4A11-0079-E3CF-E183-BA5BBCD1BC3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-1269" b="-3"/>
          <a:stretch/>
        </p:blipFill>
        <p:spPr>
          <a:xfrm>
            <a:off x="936337" y="4351512"/>
            <a:ext cx="10614434" cy="2359839"/>
          </a:xfrm>
          <a:prstGeom prst="roundRect">
            <a:avLst>
              <a:gd name="adj" fmla="val 6924"/>
            </a:avLst>
          </a:prstGeom>
          <a:ln>
            <a:noFill/>
          </a:ln>
          <a:effectLst>
            <a:outerShdw blurRad="439917" dist="38100" dir="7800000" sx="98000" sy="98000" algn="tl" rotWithShape="0">
              <a:schemeClr val="accent2"/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A8EC0BBD-D28B-0998-56CF-ABDD54FF3673}"/>
              </a:ext>
            </a:extLst>
          </p:cNvPr>
          <p:cNvSpPr/>
          <p:nvPr/>
        </p:nvSpPr>
        <p:spPr>
          <a:xfrm>
            <a:off x="8296839" y="3240355"/>
            <a:ext cx="1571780" cy="335464"/>
          </a:xfrm>
          <a:prstGeom prst="roundRect">
            <a:avLst>
              <a:gd name="adj" fmla="val 580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D81F496-F045-74F9-C63F-7229EF5BD0C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873" r="6873"/>
          <a:stretch/>
        </p:blipFill>
        <p:spPr>
          <a:xfrm>
            <a:off x="4993640" y="3064277"/>
            <a:ext cx="6557131" cy="1441638"/>
          </a:xfrm>
          <a:prstGeom prst="roundRect">
            <a:avLst>
              <a:gd name="adj" fmla="val 8888"/>
            </a:avLst>
          </a:prstGeom>
          <a:ln>
            <a:noFill/>
          </a:ln>
          <a:effectLst>
            <a:outerShdw blurRad="440170" dist="38100" dir="7800000" algn="tl" rotWithShape="0">
              <a:schemeClr val="tx1"/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37333051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5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5C5B6D-AD17-E83D-9413-9930383FB9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4CCF93-7DBD-4503-03A6-2A735E50B8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32785" y="0"/>
            <a:ext cx="4543245" cy="576982"/>
          </a:xfrm>
        </p:spPr>
        <p:txBody>
          <a:bodyPr>
            <a:noAutofit/>
          </a:bodyPr>
          <a:lstStyle/>
          <a:p>
            <a:r>
              <a:rPr lang="en-US" sz="3200" dirty="0">
                <a:solidFill>
                  <a:srgbClr val="FFC000"/>
                </a:solidFill>
              </a:rPr>
              <a:t>Struct [</a:t>
            </a:r>
            <a:r>
              <a:rPr lang="en-US" sz="32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Constructor</a:t>
            </a:r>
            <a:r>
              <a:rPr lang="en-US" sz="3200" dirty="0">
                <a:solidFill>
                  <a:srgbClr val="FFC000"/>
                </a:solidFill>
              </a:rPr>
              <a:t>]……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A20FB33-64AA-CC10-30F5-D87D0865C3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407" y="656921"/>
            <a:ext cx="6369556" cy="4544520"/>
          </a:xfrm>
          <a:prstGeom prst="roundRect">
            <a:avLst>
              <a:gd name="adj" fmla="val 2620"/>
            </a:avLst>
          </a:prstGeom>
          <a:ln>
            <a:noFill/>
          </a:ln>
          <a:effectLst>
            <a:outerShdw blurRad="821820" dist="38100" dir="7800000" algn="tl" rotWithShape="0">
              <a:srgbClr val="000000"/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DC11DA49-370E-C655-50A6-4D4D191CE355}"/>
              </a:ext>
            </a:extLst>
          </p:cNvPr>
          <p:cNvSpPr/>
          <p:nvPr/>
        </p:nvSpPr>
        <p:spPr>
          <a:xfrm>
            <a:off x="618225" y="2701629"/>
            <a:ext cx="5949737" cy="727372"/>
          </a:xfrm>
          <a:prstGeom prst="roundRect">
            <a:avLst>
              <a:gd name="adj" fmla="val 5801"/>
            </a:avLst>
          </a:prstGeom>
          <a:solidFill>
            <a:schemeClr val="accent1">
              <a:alpha val="26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FBC1304E-BF68-1FE2-F254-3CFFAD46C1C5}"/>
              </a:ext>
            </a:extLst>
          </p:cNvPr>
          <p:cNvSpPr/>
          <p:nvPr/>
        </p:nvSpPr>
        <p:spPr>
          <a:xfrm>
            <a:off x="7601693" y="1131448"/>
            <a:ext cx="3671593" cy="1941457"/>
          </a:xfrm>
          <a:prstGeom prst="roundRect">
            <a:avLst>
              <a:gd name="adj" fmla="val 5801"/>
            </a:avLst>
          </a:prstGeom>
          <a:solidFill>
            <a:schemeClr val="accent1">
              <a:alpha val="26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Let’s do some dissection…..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8EB3A0FE-3296-9E93-FAF0-03E41BE25A12}"/>
              </a:ext>
            </a:extLst>
          </p:cNvPr>
          <p:cNvSpPr/>
          <p:nvPr/>
        </p:nvSpPr>
        <p:spPr>
          <a:xfrm>
            <a:off x="533784" y="2635882"/>
            <a:ext cx="6034177" cy="857815"/>
          </a:xfrm>
          <a:prstGeom prst="roundRect">
            <a:avLst>
              <a:gd name="adj" fmla="val 580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1993271-4A19-51BA-9E05-634DD19C7A6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873" r="6873"/>
          <a:stretch/>
        </p:blipFill>
        <p:spPr>
          <a:xfrm>
            <a:off x="5013455" y="4096767"/>
            <a:ext cx="6557131" cy="1441638"/>
          </a:xfrm>
          <a:prstGeom prst="roundRect">
            <a:avLst>
              <a:gd name="adj" fmla="val 8888"/>
            </a:avLst>
          </a:prstGeom>
          <a:ln>
            <a:noFill/>
          </a:ln>
          <a:effectLst>
            <a:outerShdw blurRad="440170" dist="38100" dir="7800000" algn="tl" rotWithShape="0">
              <a:schemeClr val="tx1"/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17F6193-014D-0C83-EF06-952AF589AE3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650" b="650"/>
          <a:stretch/>
        </p:blipFill>
        <p:spPr>
          <a:xfrm>
            <a:off x="4791135" y="5699712"/>
            <a:ext cx="6083300" cy="7112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439917" dist="38100" dir="7800000" sx="98000" sy="98000" algn="tl" rotWithShape="0">
              <a:schemeClr val="accent2"/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9" name="Graphic 8" descr="Question Mark with solid fill">
            <a:extLst>
              <a:ext uri="{FF2B5EF4-FFF2-40B4-BE49-F238E27FC236}">
                <a16:creationId xmlns:a16="http://schemas.microsoft.com/office/drawing/2014/main" id="{E62213A8-EF56-C21F-1CFA-031322E2F82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034669" y="5698983"/>
            <a:ext cx="711929" cy="711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58622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5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10A69B-CE2B-FB2A-A14A-437CAABBC1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A5F0B7-1570-B6B1-949D-9754994A82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32785" y="0"/>
            <a:ext cx="4543245" cy="576982"/>
          </a:xfrm>
        </p:spPr>
        <p:txBody>
          <a:bodyPr>
            <a:noAutofit/>
          </a:bodyPr>
          <a:lstStyle/>
          <a:p>
            <a:r>
              <a:rPr lang="en-US" sz="3200" dirty="0">
                <a:solidFill>
                  <a:srgbClr val="FFC000"/>
                </a:solidFill>
              </a:rPr>
              <a:t>Struct [</a:t>
            </a:r>
            <a:r>
              <a:rPr lang="en-US" sz="32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Constructor</a:t>
            </a:r>
            <a:r>
              <a:rPr lang="en-US" sz="3200" dirty="0">
                <a:solidFill>
                  <a:srgbClr val="FFC000"/>
                </a:solidFill>
              </a:rPr>
              <a:t>]……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D2A1F4B-05A7-3A1C-A2A5-9446769B82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407" y="656921"/>
            <a:ext cx="6369556" cy="4544520"/>
          </a:xfrm>
          <a:prstGeom prst="roundRect">
            <a:avLst>
              <a:gd name="adj" fmla="val 2620"/>
            </a:avLst>
          </a:prstGeom>
          <a:ln>
            <a:noFill/>
          </a:ln>
          <a:effectLst>
            <a:outerShdw blurRad="821820" dist="38100" dir="7800000" algn="tl" rotWithShape="0">
              <a:srgbClr val="000000"/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D52C8E89-CF2F-79F4-754D-2E72A9A38DBD}"/>
              </a:ext>
            </a:extLst>
          </p:cNvPr>
          <p:cNvSpPr/>
          <p:nvPr/>
        </p:nvSpPr>
        <p:spPr>
          <a:xfrm>
            <a:off x="618225" y="2701629"/>
            <a:ext cx="5949737" cy="727372"/>
          </a:xfrm>
          <a:prstGeom prst="roundRect">
            <a:avLst>
              <a:gd name="adj" fmla="val 5801"/>
            </a:avLst>
          </a:prstGeom>
          <a:solidFill>
            <a:schemeClr val="accent1">
              <a:alpha val="26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DF3E39B6-76E3-5692-A8C1-72D2AC55453D}"/>
              </a:ext>
            </a:extLst>
          </p:cNvPr>
          <p:cNvSpPr/>
          <p:nvPr/>
        </p:nvSpPr>
        <p:spPr>
          <a:xfrm>
            <a:off x="7601693" y="1131448"/>
            <a:ext cx="3671593" cy="1941457"/>
          </a:xfrm>
          <a:prstGeom prst="roundRect">
            <a:avLst>
              <a:gd name="adj" fmla="val 5801"/>
            </a:avLst>
          </a:prstGeom>
          <a:solidFill>
            <a:schemeClr val="accent1">
              <a:alpha val="26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Let’s do some dissection…..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8BA43A15-8D9C-BD67-A0D1-AA8975EBAE15}"/>
              </a:ext>
            </a:extLst>
          </p:cNvPr>
          <p:cNvSpPr/>
          <p:nvPr/>
        </p:nvSpPr>
        <p:spPr>
          <a:xfrm>
            <a:off x="533784" y="2635882"/>
            <a:ext cx="6034177" cy="857815"/>
          </a:xfrm>
          <a:prstGeom prst="roundRect">
            <a:avLst>
              <a:gd name="adj" fmla="val 580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765D9DF-68FA-B1AD-C82C-213BC783355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873" r="6873"/>
          <a:stretch/>
        </p:blipFill>
        <p:spPr>
          <a:xfrm>
            <a:off x="5013455" y="4096767"/>
            <a:ext cx="6557131" cy="1441638"/>
          </a:xfrm>
          <a:prstGeom prst="roundRect">
            <a:avLst>
              <a:gd name="adj" fmla="val 8888"/>
            </a:avLst>
          </a:prstGeom>
          <a:ln>
            <a:noFill/>
          </a:ln>
          <a:effectLst>
            <a:outerShdw blurRad="440170" dist="38100" dir="7800000" algn="tl" rotWithShape="0">
              <a:schemeClr val="tx1"/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8700582-7F67-34AF-9A5E-A93A1F9EB5D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650" b="650"/>
          <a:stretch/>
        </p:blipFill>
        <p:spPr>
          <a:xfrm>
            <a:off x="4791135" y="5699712"/>
            <a:ext cx="6083300" cy="7112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439917" dist="38100" dir="7800000" sx="98000" sy="98000" algn="tl" rotWithShape="0">
              <a:schemeClr val="accent2"/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9" name="Graphic 8" descr="Question Mark with solid fill">
            <a:extLst>
              <a:ext uri="{FF2B5EF4-FFF2-40B4-BE49-F238E27FC236}">
                <a16:creationId xmlns:a16="http://schemas.microsoft.com/office/drawing/2014/main" id="{12F540EE-834A-A946-C4EA-FC3EFB75140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136292" y="5726552"/>
            <a:ext cx="602394" cy="60239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B03D63F-1350-04E8-DC2D-8152C3D20A3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2543" y="2859306"/>
            <a:ext cx="3576785" cy="545887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54D59887-D657-5134-8839-594690080436}"/>
              </a:ext>
            </a:extLst>
          </p:cNvPr>
          <p:cNvSpPr/>
          <p:nvPr/>
        </p:nvSpPr>
        <p:spPr>
          <a:xfrm>
            <a:off x="3550872" y="1495677"/>
            <a:ext cx="2741396" cy="1291686"/>
          </a:xfrm>
          <a:prstGeom prst="roundRect">
            <a:avLst>
              <a:gd name="adj" fmla="val 5801"/>
            </a:avLst>
          </a:prstGeom>
          <a:solidFill>
            <a:schemeClr val="accent1">
              <a:alpha val="26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Not having a constructor is equivalent to having empty constructor like below…</a:t>
            </a:r>
          </a:p>
        </p:txBody>
      </p:sp>
    </p:spTree>
    <p:extLst>
      <p:ext uri="{BB962C8B-B14F-4D97-AF65-F5344CB8AC3E}">
        <p14:creationId xmlns:p14="http://schemas.microsoft.com/office/powerpoint/2010/main" val="35581944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5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8D3D8CE-FB55-36E9-6CB1-417C86FC22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C3482-A468-0711-F4A7-13FF5A94A0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32785" y="0"/>
            <a:ext cx="4543245" cy="576982"/>
          </a:xfrm>
        </p:spPr>
        <p:txBody>
          <a:bodyPr>
            <a:noAutofit/>
          </a:bodyPr>
          <a:lstStyle/>
          <a:p>
            <a:r>
              <a:rPr lang="en-US" sz="3200" dirty="0">
                <a:solidFill>
                  <a:srgbClr val="FFC000"/>
                </a:solidFill>
              </a:rPr>
              <a:t>Struct [</a:t>
            </a:r>
            <a:r>
              <a:rPr lang="en-US" sz="32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Constructor</a:t>
            </a:r>
            <a:r>
              <a:rPr lang="en-US" sz="3200" dirty="0">
                <a:solidFill>
                  <a:srgbClr val="FFC000"/>
                </a:solidFill>
              </a:rPr>
              <a:t>]……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2ABC818-1EFB-915F-8005-5BAAF9034C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9986" y="5568830"/>
            <a:ext cx="6083300" cy="7112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439917" dist="38100" dir="7800000" sx="98000" sy="98000" algn="tl" rotWithShape="0">
              <a:schemeClr val="accent2"/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52E325DD-876C-CEF9-A738-9D16BD42BCFD}"/>
              </a:ext>
            </a:extLst>
          </p:cNvPr>
          <p:cNvGrpSpPr/>
          <p:nvPr/>
        </p:nvGrpSpPr>
        <p:grpSpPr>
          <a:xfrm>
            <a:off x="198407" y="656921"/>
            <a:ext cx="6369556" cy="4544520"/>
            <a:chOff x="198407" y="656921"/>
            <a:chExt cx="6369556" cy="4544520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608611EF-7AC5-F1E6-4A0C-2E78EA3F35A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98407" y="656921"/>
              <a:ext cx="6369556" cy="4544520"/>
            </a:xfrm>
            <a:prstGeom prst="roundRect">
              <a:avLst>
                <a:gd name="adj" fmla="val 2620"/>
              </a:avLst>
            </a:prstGeom>
            <a:ln>
              <a:noFill/>
            </a:ln>
            <a:effectLst>
              <a:outerShdw blurRad="821820" dist="38100" dir="7800000" algn="tl" rotWithShape="0">
                <a:srgbClr val="000000"/>
              </a:outerShdw>
            </a:effectLst>
            <a:scene3d>
              <a:camera prst="orthographicFront"/>
              <a:lightRig rig="contrasting" dir="t">
                <a:rot lat="0" lon="0" rev="4200000"/>
              </a:lightRig>
            </a:scene3d>
            <a:sp3d prstMaterial="plastic">
              <a:bevelT w="381000" h="114300" prst="relaxedInset"/>
              <a:contourClr>
                <a:srgbClr val="969696"/>
              </a:contourClr>
            </a:sp3d>
          </p:spPr>
        </p:pic>
        <p:sp>
          <p:nvSpPr>
            <p:cNvPr id="14" name="Rounded Rectangle 13">
              <a:extLst>
                <a:ext uri="{FF2B5EF4-FFF2-40B4-BE49-F238E27FC236}">
                  <a16:creationId xmlns:a16="http://schemas.microsoft.com/office/drawing/2014/main" id="{DBAF784C-7F8C-AA82-102A-E8AAB5CEDE37}"/>
                </a:ext>
              </a:extLst>
            </p:cNvPr>
            <p:cNvSpPr/>
            <p:nvPr/>
          </p:nvSpPr>
          <p:spPr>
            <a:xfrm>
              <a:off x="618225" y="2701629"/>
              <a:ext cx="5949737" cy="727372"/>
            </a:xfrm>
            <a:prstGeom prst="roundRect">
              <a:avLst>
                <a:gd name="adj" fmla="val 5801"/>
              </a:avLst>
            </a:prstGeom>
            <a:solidFill>
              <a:schemeClr val="accent1">
                <a:alpha val="26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6" name="Picture 15">
            <a:extLst>
              <a:ext uri="{FF2B5EF4-FFF2-40B4-BE49-F238E27FC236}">
                <a16:creationId xmlns:a16="http://schemas.microsoft.com/office/drawing/2014/main" id="{E688F352-8624-10CB-5600-D34FCBBAFD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6155" y="3928819"/>
            <a:ext cx="6557131" cy="1441638"/>
          </a:xfrm>
          <a:prstGeom prst="roundRect">
            <a:avLst>
              <a:gd name="adj" fmla="val 8888"/>
            </a:avLst>
          </a:prstGeom>
          <a:ln>
            <a:noFill/>
          </a:ln>
          <a:effectLst>
            <a:outerShdw blurRad="440170" dist="38100" dir="7800000" algn="tl" rotWithShape="0">
              <a:schemeClr val="tx1"/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464B1016-2969-AE9D-7E81-EF1850D2626C}"/>
              </a:ext>
            </a:extLst>
          </p:cNvPr>
          <p:cNvSpPr/>
          <p:nvPr/>
        </p:nvSpPr>
        <p:spPr>
          <a:xfrm>
            <a:off x="7412850" y="910561"/>
            <a:ext cx="3671593" cy="576982"/>
          </a:xfrm>
          <a:prstGeom prst="roundRect">
            <a:avLst>
              <a:gd name="adj" fmla="val 5801"/>
            </a:avLst>
          </a:prstGeom>
          <a:solidFill>
            <a:schemeClr val="accent1">
              <a:alpha val="26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What did we learn?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DA0B0D53-D228-2773-8D30-CEE88804EF5F}"/>
              </a:ext>
            </a:extLst>
          </p:cNvPr>
          <p:cNvSpPr/>
          <p:nvPr/>
        </p:nvSpPr>
        <p:spPr>
          <a:xfrm>
            <a:off x="7412849" y="1821122"/>
            <a:ext cx="3671593" cy="1441638"/>
          </a:xfrm>
          <a:prstGeom prst="roundRect">
            <a:avLst>
              <a:gd name="adj" fmla="val 5801"/>
            </a:avLst>
          </a:prstGeom>
          <a:solidFill>
            <a:schemeClr val="accent1">
              <a:alpha val="26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Constructor is a way of saying, this is how I want to define my structure… </a:t>
            </a:r>
          </a:p>
        </p:txBody>
      </p:sp>
    </p:spTree>
    <p:extLst>
      <p:ext uri="{BB962C8B-B14F-4D97-AF65-F5344CB8AC3E}">
        <p14:creationId xmlns:p14="http://schemas.microsoft.com/office/powerpoint/2010/main" val="8469580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5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93B1605-F168-EDB9-8F59-0BBA39BBDA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F6F95E-A84E-F7FD-051E-26F560141A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32785" y="0"/>
            <a:ext cx="4543245" cy="576982"/>
          </a:xfrm>
        </p:spPr>
        <p:txBody>
          <a:bodyPr>
            <a:noAutofit/>
          </a:bodyPr>
          <a:lstStyle/>
          <a:p>
            <a:r>
              <a:rPr lang="en-US" sz="3200" dirty="0">
                <a:solidFill>
                  <a:srgbClr val="FFC000"/>
                </a:solidFill>
              </a:rPr>
              <a:t>Struct [</a:t>
            </a:r>
            <a:r>
              <a:rPr lang="en-US" sz="32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Constructor</a:t>
            </a:r>
            <a:r>
              <a:rPr lang="en-US" sz="3200" dirty="0">
                <a:solidFill>
                  <a:srgbClr val="FFC000"/>
                </a:solidFill>
              </a:rPr>
              <a:t>]……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D5A12F7-C8D2-336F-06DB-6F738E6666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973" y="1103499"/>
            <a:ext cx="6253121" cy="4651001"/>
          </a:xfrm>
          <a:prstGeom prst="rect">
            <a:avLst/>
          </a:prstGeom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ABAC3C5A-C472-A5E2-EC49-EDB58DBCF52C}"/>
              </a:ext>
            </a:extLst>
          </p:cNvPr>
          <p:cNvGrpSpPr/>
          <p:nvPr/>
        </p:nvGrpSpPr>
        <p:grpSpPr>
          <a:xfrm>
            <a:off x="7051563" y="749250"/>
            <a:ext cx="4646723" cy="1795240"/>
            <a:chOff x="7051563" y="749250"/>
            <a:chExt cx="4646723" cy="1795240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1C2D96D4-F002-47CA-CB0E-7C98E0A743A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669130" y="1967508"/>
              <a:ext cx="3029156" cy="576982"/>
            </a:xfrm>
            <a:prstGeom prst="rect">
              <a:avLst/>
            </a:prstGeom>
            <a:ln>
              <a:solidFill>
                <a:srgbClr val="FF0000"/>
              </a:solidFill>
            </a:ln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3EA636BC-BEFE-4EAE-2DFE-F28E807F72D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051563" y="749250"/>
              <a:ext cx="3999396" cy="1506749"/>
            </a:xfrm>
            <a:prstGeom prst="rect">
              <a:avLst/>
            </a:prstGeom>
            <a:ln>
              <a:solidFill>
                <a:srgbClr val="FF0000"/>
              </a:solidFill>
            </a:ln>
          </p:spPr>
        </p:pic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129271DB-DFD4-001A-B68B-10DAC6C417D3}"/>
              </a:ext>
            </a:extLst>
          </p:cNvPr>
          <p:cNvGrpSpPr/>
          <p:nvPr/>
        </p:nvGrpSpPr>
        <p:grpSpPr>
          <a:xfrm>
            <a:off x="7051563" y="2675625"/>
            <a:ext cx="4795327" cy="1975936"/>
            <a:chOff x="7051563" y="2675625"/>
            <a:chExt cx="4795327" cy="1975936"/>
          </a:xfrm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C164A9C1-7174-8C45-3A6E-C0D7681BBC2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/>
            <a:stretch/>
          </p:blipFill>
          <p:spPr>
            <a:xfrm>
              <a:off x="7051563" y="2675625"/>
              <a:ext cx="3999395" cy="1506749"/>
            </a:xfrm>
            <a:prstGeom prst="rect">
              <a:avLst/>
            </a:prstGeom>
            <a:ln>
              <a:solidFill>
                <a:srgbClr val="FF0000"/>
              </a:solidFill>
            </a:ln>
          </p:spPr>
        </p:pic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4943BCB2-0CFE-6E78-D4A5-53AC776BBF1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192603" y="4114773"/>
              <a:ext cx="3654287" cy="536788"/>
            </a:xfrm>
            <a:prstGeom prst="rect">
              <a:avLst/>
            </a:prstGeom>
            <a:ln>
              <a:solidFill>
                <a:srgbClr val="FF0000"/>
              </a:solidFill>
            </a:ln>
          </p:spPr>
        </p:pic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D46A1726-6804-AD31-F80E-422BF2A68D19}"/>
              </a:ext>
            </a:extLst>
          </p:cNvPr>
          <p:cNvGrpSpPr/>
          <p:nvPr/>
        </p:nvGrpSpPr>
        <p:grpSpPr>
          <a:xfrm>
            <a:off x="7051563" y="4738061"/>
            <a:ext cx="4795327" cy="1922245"/>
            <a:chOff x="7051563" y="4738061"/>
            <a:chExt cx="4795327" cy="1922245"/>
          </a:xfrm>
        </p:grpSpPr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5922C7FB-9CFD-18BC-3648-0F9A11279F3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/>
            <a:stretch/>
          </p:blipFill>
          <p:spPr>
            <a:xfrm>
              <a:off x="7051563" y="4738061"/>
              <a:ext cx="3999395" cy="1506749"/>
            </a:xfrm>
            <a:prstGeom prst="rect">
              <a:avLst/>
            </a:prstGeom>
            <a:ln>
              <a:solidFill>
                <a:srgbClr val="FF0000"/>
              </a:solidFill>
            </a:ln>
          </p:spPr>
        </p:pic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B6F64017-78C9-783D-5401-5CFFECB4EF1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993820" y="6194353"/>
              <a:ext cx="3853070" cy="465953"/>
            </a:xfrm>
            <a:prstGeom prst="rect">
              <a:avLst/>
            </a:prstGeom>
            <a:ln>
              <a:solidFill>
                <a:srgbClr val="FF0000"/>
              </a:solidFill>
            </a:ln>
          </p:spPr>
        </p:pic>
      </p:grp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972935F0-8024-4A19-FD54-31C741603ADC}"/>
              </a:ext>
            </a:extLst>
          </p:cNvPr>
          <p:cNvSpPr/>
          <p:nvPr/>
        </p:nvSpPr>
        <p:spPr>
          <a:xfrm>
            <a:off x="3545960" y="1610156"/>
            <a:ext cx="2741396" cy="1291686"/>
          </a:xfrm>
          <a:prstGeom prst="roundRect">
            <a:avLst>
              <a:gd name="adj" fmla="val 5801"/>
            </a:avLst>
          </a:prstGeom>
          <a:solidFill>
            <a:schemeClr val="accent1">
              <a:alpha val="26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Note: We already did Option2, that is initializing with all parameters</a:t>
            </a:r>
          </a:p>
        </p:txBody>
      </p:sp>
    </p:spTree>
    <p:extLst>
      <p:ext uri="{BB962C8B-B14F-4D97-AF65-F5344CB8AC3E}">
        <p14:creationId xmlns:p14="http://schemas.microsoft.com/office/powerpoint/2010/main" val="7285514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5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E306BC5-517B-B280-FA8B-2E810FF52C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425445-779D-9D20-0E3F-9F601DBB52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32785" y="0"/>
            <a:ext cx="4543245" cy="576982"/>
          </a:xfrm>
        </p:spPr>
        <p:txBody>
          <a:bodyPr>
            <a:noAutofit/>
          </a:bodyPr>
          <a:lstStyle/>
          <a:p>
            <a:r>
              <a:rPr lang="en-US" sz="3200" dirty="0">
                <a:solidFill>
                  <a:srgbClr val="FFC000"/>
                </a:solidFill>
              </a:rPr>
              <a:t>Struct [</a:t>
            </a:r>
            <a:r>
              <a:rPr lang="en-US" sz="32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Constructor</a:t>
            </a:r>
            <a:r>
              <a:rPr lang="en-US" sz="3200" dirty="0">
                <a:solidFill>
                  <a:srgbClr val="FFC000"/>
                </a:solidFill>
              </a:rPr>
              <a:t>]……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9EDAFB0-5BD5-CD30-02AD-1A59D8D211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973" y="1103499"/>
            <a:ext cx="6253121" cy="4651001"/>
          </a:xfrm>
          <a:prstGeom prst="rect">
            <a:avLst/>
          </a:prstGeom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8A9A1162-1691-0116-6051-CCEBE1552BF1}"/>
              </a:ext>
            </a:extLst>
          </p:cNvPr>
          <p:cNvGrpSpPr/>
          <p:nvPr/>
        </p:nvGrpSpPr>
        <p:grpSpPr>
          <a:xfrm>
            <a:off x="7051563" y="749250"/>
            <a:ext cx="4646723" cy="1795240"/>
            <a:chOff x="7051563" y="749250"/>
            <a:chExt cx="4646723" cy="1795240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2A9E4455-29FD-05A8-B544-E5467A81792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669130" y="1967508"/>
              <a:ext cx="3029156" cy="576982"/>
            </a:xfrm>
            <a:prstGeom prst="rect">
              <a:avLst/>
            </a:prstGeom>
            <a:ln>
              <a:solidFill>
                <a:srgbClr val="FF0000"/>
              </a:solidFill>
            </a:ln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C9E79C2D-507E-DCCB-115E-F1A556AF20D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051563" y="749250"/>
              <a:ext cx="3999396" cy="1506749"/>
            </a:xfrm>
            <a:prstGeom prst="rect">
              <a:avLst/>
            </a:prstGeom>
            <a:ln>
              <a:solidFill>
                <a:srgbClr val="FF0000"/>
              </a:solidFill>
            </a:ln>
          </p:spPr>
        </p:pic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3C44862B-73F3-C453-DE4C-F9DF2893AE32}"/>
              </a:ext>
            </a:extLst>
          </p:cNvPr>
          <p:cNvGrpSpPr/>
          <p:nvPr/>
        </p:nvGrpSpPr>
        <p:grpSpPr>
          <a:xfrm>
            <a:off x="7051563" y="2675625"/>
            <a:ext cx="4795327" cy="1975936"/>
            <a:chOff x="7051563" y="2675625"/>
            <a:chExt cx="4795327" cy="1975936"/>
          </a:xfrm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A6C14713-1063-F98F-AD4B-E097DFFC8EA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/>
            <a:stretch/>
          </p:blipFill>
          <p:spPr>
            <a:xfrm>
              <a:off x="7051563" y="2675625"/>
              <a:ext cx="3999395" cy="1506749"/>
            </a:xfrm>
            <a:prstGeom prst="rect">
              <a:avLst/>
            </a:prstGeom>
            <a:ln>
              <a:solidFill>
                <a:srgbClr val="FF0000"/>
              </a:solidFill>
            </a:ln>
          </p:spPr>
        </p:pic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BC926031-1874-08FA-BFF7-E3E81D17E60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192603" y="4114773"/>
              <a:ext cx="3654287" cy="536788"/>
            </a:xfrm>
            <a:prstGeom prst="rect">
              <a:avLst/>
            </a:prstGeom>
            <a:ln>
              <a:solidFill>
                <a:srgbClr val="FF0000"/>
              </a:solidFill>
            </a:ln>
          </p:spPr>
        </p:pic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E66EDC20-FABC-43EC-5E3B-7DFB7368659A}"/>
              </a:ext>
            </a:extLst>
          </p:cNvPr>
          <p:cNvGrpSpPr/>
          <p:nvPr/>
        </p:nvGrpSpPr>
        <p:grpSpPr>
          <a:xfrm>
            <a:off x="7051563" y="4738061"/>
            <a:ext cx="4795327" cy="1922245"/>
            <a:chOff x="7051563" y="4738061"/>
            <a:chExt cx="4795327" cy="1922245"/>
          </a:xfrm>
        </p:grpSpPr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05AE6534-E3A9-6DCC-F567-5C03971C64B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/>
            <a:stretch/>
          </p:blipFill>
          <p:spPr>
            <a:xfrm>
              <a:off x="7051563" y="4738061"/>
              <a:ext cx="3999395" cy="1506749"/>
            </a:xfrm>
            <a:prstGeom prst="rect">
              <a:avLst/>
            </a:prstGeom>
            <a:ln>
              <a:solidFill>
                <a:srgbClr val="FF0000"/>
              </a:solidFill>
            </a:ln>
          </p:spPr>
        </p:pic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969B62C7-481A-08C1-2936-0905093FBF1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993820" y="6194353"/>
              <a:ext cx="3853070" cy="465953"/>
            </a:xfrm>
            <a:prstGeom prst="rect">
              <a:avLst/>
            </a:prstGeom>
            <a:ln>
              <a:solidFill>
                <a:srgbClr val="FF0000"/>
              </a:solidFill>
            </a:ln>
          </p:spPr>
        </p:pic>
      </p:grp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D797BA2E-2B03-5741-22C6-5493551C8622}"/>
              </a:ext>
            </a:extLst>
          </p:cNvPr>
          <p:cNvSpPr/>
          <p:nvPr/>
        </p:nvSpPr>
        <p:spPr>
          <a:xfrm>
            <a:off x="3545960" y="1610156"/>
            <a:ext cx="2741396" cy="1291686"/>
          </a:xfrm>
          <a:prstGeom prst="roundRect">
            <a:avLst>
              <a:gd name="adj" fmla="val 5801"/>
            </a:avLst>
          </a:prstGeom>
          <a:solidFill>
            <a:schemeClr val="accent1">
              <a:alpha val="26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Note: We already did Option2, that is initializing with all parameters</a:t>
            </a:r>
          </a:p>
        </p:txBody>
      </p:sp>
    </p:spTree>
    <p:extLst>
      <p:ext uri="{BB962C8B-B14F-4D97-AF65-F5344CB8AC3E}">
        <p14:creationId xmlns:p14="http://schemas.microsoft.com/office/powerpoint/2010/main" val="11807934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5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4D3FFB6-6A87-7033-744B-6C42C17D98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1C1ECC-4276-9F3C-CF4F-2DF2A8ADD2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32785" y="0"/>
            <a:ext cx="4543245" cy="576982"/>
          </a:xfrm>
        </p:spPr>
        <p:txBody>
          <a:bodyPr>
            <a:noAutofit/>
          </a:bodyPr>
          <a:lstStyle/>
          <a:p>
            <a:r>
              <a:rPr lang="en-US" sz="3200" dirty="0">
                <a:solidFill>
                  <a:srgbClr val="FFC000"/>
                </a:solidFill>
              </a:rPr>
              <a:t>Struct [</a:t>
            </a:r>
            <a:r>
              <a:rPr lang="en-US" sz="32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Constructor</a:t>
            </a:r>
            <a:r>
              <a:rPr lang="en-US" sz="3200" dirty="0">
                <a:solidFill>
                  <a:srgbClr val="FFC000"/>
                </a:solidFill>
              </a:rPr>
              <a:t>]……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9D5FE667-BCC9-5C52-C60F-05877AD23BC4}"/>
              </a:ext>
            </a:extLst>
          </p:cNvPr>
          <p:cNvSpPr/>
          <p:nvPr/>
        </p:nvSpPr>
        <p:spPr>
          <a:xfrm>
            <a:off x="7394713" y="1346582"/>
            <a:ext cx="3101759" cy="1257469"/>
          </a:xfrm>
          <a:prstGeom prst="roundRect">
            <a:avLst>
              <a:gd name="adj" fmla="val 5801"/>
            </a:avLst>
          </a:prstGeom>
          <a:solidFill>
            <a:schemeClr val="accent1">
              <a:alpha val="26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What is a best way to reference the member?</a:t>
            </a:r>
          </a:p>
          <a:p>
            <a:pPr algn="ctr"/>
            <a:endParaRPr lang="en-US" dirty="0">
              <a:solidFill>
                <a:schemeClr val="bg1"/>
              </a:solidFill>
            </a:endParaRPr>
          </a:p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5B2A38F-DDC3-A941-78A1-3E27B376F6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313" y="775427"/>
            <a:ext cx="5276878" cy="265357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77EACAD-AB39-4D72-FA6C-8FABAB2A51E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588280" y="3655057"/>
            <a:ext cx="7772400" cy="2634395"/>
          </a:xfrm>
          <a:prstGeom prst="rect">
            <a:avLst/>
          </a:prstGeom>
        </p:spPr>
      </p:pic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88784D21-808B-2D53-0FA7-F5EA31E48C54}"/>
              </a:ext>
            </a:extLst>
          </p:cNvPr>
          <p:cNvSpPr/>
          <p:nvPr/>
        </p:nvSpPr>
        <p:spPr>
          <a:xfrm>
            <a:off x="728748" y="2997610"/>
            <a:ext cx="1189505" cy="362946"/>
          </a:xfrm>
          <a:prstGeom prst="roundRect">
            <a:avLst>
              <a:gd name="adj" fmla="val 580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;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0905DD28-F4C1-5D9B-C6AF-62869D45CEDF}"/>
              </a:ext>
            </a:extLst>
          </p:cNvPr>
          <p:cNvSpPr/>
          <p:nvPr/>
        </p:nvSpPr>
        <p:spPr>
          <a:xfrm>
            <a:off x="3763496" y="6042817"/>
            <a:ext cx="1189505" cy="206879"/>
          </a:xfrm>
          <a:prstGeom prst="roundRect">
            <a:avLst>
              <a:gd name="adj" fmla="val 580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1999809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5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D606353-72A4-89A7-05BE-79A0EFFB98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759C9A-DA43-EB13-375D-F620A876A6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32785" y="0"/>
            <a:ext cx="4543245" cy="576982"/>
          </a:xfrm>
        </p:spPr>
        <p:txBody>
          <a:bodyPr>
            <a:noAutofit/>
          </a:bodyPr>
          <a:lstStyle/>
          <a:p>
            <a:r>
              <a:rPr lang="en-US" sz="3200" dirty="0">
                <a:solidFill>
                  <a:srgbClr val="FFC000"/>
                </a:solidFill>
              </a:rPr>
              <a:t>Struct [</a:t>
            </a:r>
            <a:r>
              <a:rPr lang="en-US" sz="32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Constructor</a:t>
            </a:r>
            <a:r>
              <a:rPr lang="en-US" sz="3200" dirty="0">
                <a:solidFill>
                  <a:srgbClr val="FFC000"/>
                </a:solidFill>
              </a:rPr>
              <a:t>]……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F36B6515-AF09-3182-34EF-59A0F5DEC03E}"/>
              </a:ext>
            </a:extLst>
          </p:cNvPr>
          <p:cNvSpPr/>
          <p:nvPr/>
        </p:nvSpPr>
        <p:spPr>
          <a:xfrm>
            <a:off x="7374835" y="909261"/>
            <a:ext cx="3101759" cy="2082418"/>
          </a:xfrm>
          <a:prstGeom prst="roundRect">
            <a:avLst>
              <a:gd name="adj" fmla="val 5801"/>
            </a:avLst>
          </a:prstGeom>
          <a:solidFill>
            <a:schemeClr val="accent1">
              <a:alpha val="26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What is a best way to reference the member?</a:t>
            </a:r>
          </a:p>
          <a:p>
            <a:pPr algn="ctr"/>
            <a:endParaRPr lang="en-US" dirty="0">
              <a:solidFill>
                <a:schemeClr val="bg1"/>
              </a:solidFill>
            </a:endParaRPr>
          </a:p>
          <a:p>
            <a:pPr algn="ctr"/>
            <a:r>
              <a:rPr lang="en-US" dirty="0">
                <a:solidFill>
                  <a:schemeClr val="bg1"/>
                </a:solidFill>
              </a:rPr>
              <a:t>Resolution: do not use same argument twice in constructor, may be do t0, t1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B03D907-7CB0-B598-2F9F-3E3F75499F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313" y="775427"/>
            <a:ext cx="5276878" cy="265357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D77CF16-AEB9-1FD7-9B5A-EE37C69EFB4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648905" y="4002133"/>
            <a:ext cx="7772400" cy="2502073"/>
          </a:xfrm>
          <a:prstGeom prst="rect">
            <a:avLst/>
          </a:prstGeom>
        </p:spPr>
      </p:pic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C0C50F41-8CED-97E9-57D9-3BFB84CBACD3}"/>
              </a:ext>
            </a:extLst>
          </p:cNvPr>
          <p:cNvSpPr/>
          <p:nvPr/>
        </p:nvSpPr>
        <p:spPr>
          <a:xfrm>
            <a:off x="2888853" y="6267510"/>
            <a:ext cx="1189505" cy="206879"/>
          </a:xfrm>
          <a:prstGeom prst="roundRect">
            <a:avLst>
              <a:gd name="adj" fmla="val 580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;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24980F41-8B6F-351D-ED0C-E7EF400970A2}"/>
              </a:ext>
            </a:extLst>
          </p:cNvPr>
          <p:cNvSpPr/>
          <p:nvPr/>
        </p:nvSpPr>
        <p:spPr>
          <a:xfrm>
            <a:off x="662487" y="3037294"/>
            <a:ext cx="1189505" cy="206879"/>
          </a:xfrm>
          <a:prstGeom prst="roundRect">
            <a:avLst>
              <a:gd name="adj" fmla="val 580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8526974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5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2A395D1-E2FA-F968-8C04-ACB5141A66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AB101D-69F9-F320-B2AE-6B7CB85423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32785" y="0"/>
            <a:ext cx="4543245" cy="576982"/>
          </a:xfrm>
        </p:spPr>
        <p:txBody>
          <a:bodyPr>
            <a:noAutofit/>
          </a:bodyPr>
          <a:lstStyle/>
          <a:p>
            <a:r>
              <a:rPr lang="en-US" sz="3200" dirty="0">
                <a:solidFill>
                  <a:srgbClr val="FFC000"/>
                </a:solidFill>
              </a:rPr>
              <a:t>Struct [</a:t>
            </a:r>
            <a:r>
              <a:rPr lang="en-US" sz="32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Constructor</a:t>
            </a:r>
            <a:r>
              <a:rPr lang="en-US" sz="3200" dirty="0">
                <a:solidFill>
                  <a:srgbClr val="FFC000"/>
                </a:solidFill>
              </a:rPr>
              <a:t>]……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0A6EDCAF-43FF-ECD4-1E70-58BD639D2A99}"/>
              </a:ext>
            </a:extLst>
          </p:cNvPr>
          <p:cNvSpPr/>
          <p:nvPr/>
        </p:nvSpPr>
        <p:spPr>
          <a:xfrm>
            <a:off x="6453811" y="909260"/>
            <a:ext cx="4022783" cy="2817913"/>
          </a:xfrm>
          <a:prstGeom prst="roundRect">
            <a:avLst>
              <a:gd name="adj" fmla="val 5801"/>
            </a:avLst>
          </a:prstGeom>
          <a:solidFill>
            <a:schemeClr val="accent1">
              <a:alpha val="26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What is a best way to reference the member?</a:t>
            </a:r>
          </a:p>
          <a:p>
            <a:pPr algn="ctr"/>
            <a:endParaRPr lang="en-US" dirty="0">
              <a:solidFill>
                <a:schemeClr val="bg1"/>
              </a:solidFill>
            </a:endParaRPr>
          </a:p>
          <a:p>
            <a:pPr algn="ctr"/>
            <a:r>
              <a:rPr lang="en-US" dirty="0">
                <a:solidFill>
                  <a:schemeClr val="bg1"/>
                </a:solidFill>
              </a:rPr>
              <a:t>Resolution: do not use same argument twice in constructor, may be do t0, t1</a:t>
            </a:r>
          </a:p>
          <a:p>
            <a:pPr algn="ctr"/>
            <a:endParaRPr lang="en-US" dirty="0">
              <a:solidFill>
                <a:schemeClr val="bg1"/>
              </a:solidFill>
            </a:endParaRPr>
          </a:p>
          <a:p>
            <a:pPr algn="ctr"/>
            <a:r>
              <a:rPr lang="en-US" dirty="0">
                <a:solidFill>
                  <a:schemeClr val="bg1"/>
                </a:solidFill>
              </a:rPr>
              <a:t>BUT THIS IS NOT A GOOD PRACTICE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WHAT IF…we can use actual variable name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7385CAA-CAFE-A01B-1854-FF3F78E3C1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313" y="775427"/>
            <a:ext cx="5276878" cy="265357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28267E3-1858-9D37-6763-A72185726FB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648905" y="4002133"/>
            <a:ext cx="7772400" cy="2502073"/>
          </a:xfrm>
          <a:prstGeom prst="rect">
            <a:avLst/>
          </a:prstGeom>
        </p:spPr>
      </p:pic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9A3D7B8F-F19F-79B7-37EE-94A8E07C005B}"/>
              </a:ext>
            </a:extLst>
          </p:cNvPr>
          <p:cNvSpPr/>
          <p:nvPr/>
        </p:nvSpPr>
        <p:spPr>
          <a:xfrm>
            <a:off x="2829217" y="6257571"/>
            <a:ext cx="1189505" cy="206879"/>
          </a:xfrm>
          <a:prstGeom prst="roundRect">
            <a:avLst>
              <a:gd name="adj" fmla="val 580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;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28DF3382-0345-EBE0-BD79-D004B6EF513B}"/>
              </a:ext>
            </a:extLst>
          </p:cNvPr>
          <p:cNvSpPr/>
          <p:nvPr/>
        </p:nvSpPr>
        <p:spPr>
          <a:xfrm>
            <a:off x="652548" y="3041199"/>
            <a:ext cx="1189505" cy="206879"/>
          </a:xfrm>
          <a:prstGeom prst="roundRect">
            <a:avLst>
              <a:gd name="adj" fmla="val 580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37159867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5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A6D47CE-2271-642E-8B07-688EF71D47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09B0D2-3C34-6F32-C8D2-4DBA722F71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32785" y="0"/>
            <a:ext cx="4543245" cy="576982"/>
          </a:xfrm>
        </p:spPr>
        <p:txBody>
          <a:bodyPr>
            <a:noAutofit/>
          </a:bodyPr>
          <a:lstStyle/>
          <a:p>
            <a:r>
              <a:rPr lang="en-US" sz="3200" dirty="0">
                <a:solidFill>
                  <a:srgbClr val="FFC000"/>
                </a:solidFill>
              </a:rPr>
              <a:t>Struct [</a:t>
            </a:r>
            <a:r>
              <a:rPr lang="en-US" sz="32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Constructor</a:t>
            </a:r>
            <a:r>
              <a:rPr lang="en-US" sz="3200" dirty="0">
                <a:solidFill>
                  <a:srgbClr val="FFC000"/>
                </a:solidFill>
              </a:rPr>
              <a:t>]……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9CDE1E07-6546-13E6-C4C6-5A7534C6A7EB}"/>
              </a:ext>
            </a:extLst>
          </p:cNvPr>
          <p:cNvSpPr/>
          <p:nvPr/>
        </p:nvSpPr>
        <p:spPr>
          <a:xfrm>
            <a:off x="6453811" y="909260"/>
            <a:ext cx="4022783" cy="2817913"/>
          </a:xfrm>
          <a:prstGeom prst="roundRect">
            <a:avLst>
              <a:gd name="adj" fmla="val 5801"/>
            </a:avLst>
          </a:prstGeom>
          <a:solidFill>
            <a:schemeClr val="accent1">
              <a:alpha val="26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What is a best way to reference the member?</a:t>
            </a:r>
          </a:p>
          <a:p>
            <a:pPr algn="ctr"/>
            <a:endParaRPr lang="en-US" dirty="0">
              <a:solidFill>
                <a:schemeClr val="bg1"/>
              </a:solidFill>
            </a:endParaRPr>
          </a:p>
          <a:p>
            <a:pPr algn="ctr"/>
            <a:r>
              <a:rPr lang="en-US" dirty="0">
                <a:solidFill>
                  <a:schemeClr val="bg1"/>
                </a:solidFill>
              </a:rPr>
              <a:t>Resolution: do not use same argument twice in constructor, may be do t0, t1</a:t>
            </a:r>
          </a:p>
          <a:p>
            <a:pPr algn="ctr"/>
            <a:endParaRPr lang="en-US" dirty="0">
              <a:solidFill>
                <a:schemeClr val="bg1"/>
              </a:solidFill>
            </a:endParaRPr>
          </a:p>
          <a:p>
            <a:pPr algn="ctr"/>
            <a:r>
              <a:rPr lang="en-US" dirty="0">
                <a:solidFill>
                  <a:schemeClr val="bg1"/>
                </a:solidFill>
              </a:rPr>
              <a:t>BUT THIS IS NOT A GOOD PRACTICE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WHAT IF…we can use actual variable name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1F33E4B-691D-2559-09E4-CE4B116A58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313" y="775427"/>
            <a:ext cx="5276878" cy="265357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F198B4F-3C0F-5FA0-D4E2-F88A39CF7B7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648905" y="4140572"/>
            <a:ext cx="7772400" cy="2225194"/>
          </a:xfrm>
          <a:prstGeom prst="rect">
            <a:avLst/>
          </a:prstGeom>
        </p:spPr>
      </p:pic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05D16386-B4FA-0DB0-EE0A-836423B057E3}"/>
              </a:ext>
            </a:extLst>
          </p:cNvPr>
          <p:cNvSpPr/>
          <p:nvPr/>
        </p:nvSpPr>
        <p:spPr>
          <a:xfrm>
            <a:off x="2859035" y="6082573"/>
            <a:ext cx="1189505" cy="206879"/>
          </a:xfrm>
          <a:prstGeom prst="roundRect">
            <a:avLst>
              <a:gd name="adj" fmla="val 580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;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20087C3-4ACE-EF45-67D4-C9E3644BF6FA}"/>
              </a:ext>
            </a:extLst>
          </p:cNvPr>
          <p:cNvSpPr/>
          <p:nvPr/>
        </p:nvSpPr>
        <p:spPr>
          <a:xfrm>
            <a:off x="682365" y="3061078"/>
            <a:ext cx="1189505" cy="206879"/>
          </a:xfrm>
          <a:prstGeom prst="roundRect">
            <a:avLst>
              <a:gd name="adj" fmla="val 580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9999734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5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43E1D56-05D2-A1EA-E0A7-DFFDD20DC4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33A2AA-51AD-7875-4094-5533E9809B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32785" y="0"/>
            <a:ext cx="4543245" cy="576982"/>
          </a:xfrm>
        </p:spPr>
        <p:txBody>
          <a:bodyPr>
            <a:noAutofit/>
          </a:bodyPr>
          <a:lstStyle/>
          <a:p>
            <a:r>
              <a:rPr lang="en-US" sz="3200" dirty="0">
                <a:solidFill>
                  <a:srgbClr val="FFC000"/>
                </a:solidFill>
              </a:rPr>
              <a:t>Struct [</a:t>
            </a:r>
            <a:r>
              <a:rPr lang="en-US" sz="32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Constructor</a:t>
            </a:r>
            <a:r>
              <a:rPr lang="en-US" sz="3200" dirty="0">
                <a:solidFill>
                  <a:srgbClr val="FFC000"/>
                </a:solidFill>
              </a:rPr>
              <a:t>]……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2515A45-D0B4-019F-92B1-94A4C56365D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4487" y="3031436"/>
            <a:ext cx="11803601" cy="3379304"/>
          </a:xfrm>
          <a:prstGeom prst="rect">
            <a:avLst/>
          </a:prstGeom>
        </p:spPr>
      </p:pic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F13AC129-97E2-B899-C3E1-784DBAD296DD}"/>
              </a:ext>
            </a:extLst>
          </p:cNvPr>
          <p:cNvSpPr/>
          <p:nvPr/>
        </p:nvSpPr>
        <p:spPr>
          <a:xfrm>
            <a:off x="193939" y="114813"/>
            <a:ext cx="6081997" cy="924338"/>
          </a:xfrm>
          <a:prstGeom prst="roundRect">
            <a:avLst>
              <a:gd name="adj" fmla="val 5801"/>
            </a:avLst>
          </a:prstGeom>
          <a:solidFill>
            <a:schemeClr val="accent1">
              <a:alpha val="26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Following operations are identical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9F9FC44-FE14-E998-0A24-E85CAA2C09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0" y="1333177"/>
            <a:ext cx="7772400" cy="3058583"/>
          </a:xfrm>
          <a:prstGeom prst="rect">
            <a:avLst/>
          </a:prstGeom>
          <a:ln w="57150">
            <a:solidFill>
              <a:srgbClr val="FF0000"/>
            </a:solidFill>
          </a:ln>
        </p:spPr>
      </p:pic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4F612117-F75F-FEE8-B936-4D83741D0966}"/>
              </a:ext>
            </a:extLst>
          </p:cNvPr>
          <p:cNvSpPr/>
          <p:nvPr/>
        </p:nvSpPr>
        <p:spPr>
          <a:xfrm>
            <a:off x="404070" y="6092512"/>
            <a:ext cx="1189505" cy="206879"/>
          </a:xfrm>
          <a:prstGeom prst="roundRect">
            <a:avLst>
              <a:gd name="adj" fmla="val 580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;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22905295-0A7B-1A1C-2528-EEC5C3E4EE32}"/>
              </a:ext>
            </a:extLst>
          </p:cNvPr>
          <p:cNvSpPr/>
          <p:nvPr/>
        </p:nvSpPr>
        <p:spPr>
          <a:xfrm>
            <a:off x="4031853" y="4025173"/>
            <a:ext cx="1189505" cy="206879"/>
          </a:xfrm>
          <a:prstGeom prst="roundRect">
            <a:avLst>
              <a:gd name="adj" fmla="val 580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16186889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5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2200829-CC30-7BBE-3AA2-6EB84676DA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CDC4E4-BA8D-A053-EFE1-B70110BC33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32785" y="0"/>
            <a:ext cx="4543245" cy="576982"/>
          </a:xfrm>
        </p:spPr>
        <p:txBody>
          <a:bodyPr>
            <a:noAutofit/>
          </a:bodyPr>
          <a:lstStyle/>
          <a:p>
            <a:r>
              <a:rPr lang="en-US" sz="3200" dirty="0">
                <a:solidFill>
                  <a:srgbClr val="FFC000"/>
                </a:solidFill>
              </a:rPr>
              <a:t>Struct [</a:t>
            </a:r>
            <a:r>
              <a:rPr lang="en-US" sz="32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Constructor</a:t>
            </a:r>
            <a:r>
              <a:rPr lang="en-US" sz="3200" dirty="0">
                <a:solidFill>
                  <a:srgbClr val="FFC000"/>
                </a:solidFill>
              </a:rPr>
              <a:t>]……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00428A9A-A9EC-8221-6982-7CB911E4B76D}"/>
              </a:ext>
            </a:extLst>
          </p:cNvPr>
          <p:cNvSpPr/>
          <p:nvPr/>
        </p:nvSpPr>
        <p:spPr>
          <a:xfrm>
            <a:off x="4025332" y="4603152"/>
            <a:ext cx="7614905" cy="2036187"/>
          </a:xfrm>
          <a:prstGeom prst="roundRect">
            <a:avLst>
              <a:gd name="adj" fmla="val 5801"/>
            </a:avLst>
          </a:prstGeom>
          <a:solidFill>
            <a:schemeClr val="accent1">
              <a:alpha val="26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00B050"/>
                </a:solidFill>
              </a:rPr>
              <a:t>‘this’</a:t>
            </a:r>
            <a:r>
              <a:rPr lang="en-US" sz="2400" b="1" dirty="0">
                <a:solidFill>
                  <a:schemeClr val="bg1"/>
                </a:solidFill>
              </a:rPr>
              <a:t> is called a pointer, which is a </a:t>
            </a:r>
            <a:r>
              <a:rPr lang="en-US" sz="24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reference</a:t>
            </a:r>
            <a:r>
              <a:rPr lang="en-US" sz="2400" b="1" dirty="0">
                <a:solidFill>
                  <a:schemeClr val="bg1"/>
                </a:solidFill>
              </a:rPr>
              <a:t> to the current instance of the structure </a:t>
            </a:r>
          </a:p>
          <a:p>
            <a:pPr algn="ctr"/>
            <a:r>
              <a:rPr lang="en-US" sz="2400" b="1" dirty="0">
                <a:solidFill>
                  <a:schemeClr val="bg1"/>
                </a:solidFill>
              </a:rPr>
              <a:t>(Good Habit: Use this-&gt; to resolve naming conflicts)</a:t>
            </a:r>
            <a:endParaRPr lang="en-US" sz="24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1CAD709-A652-C58D-CBE4-F33255BF28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7791" y="1115441"/>
            <a:ext cx="7772400" cy="3058583"/>
          </a:xfrm>
          <a:prstGeom prst="rect">
            <a:avLst/>
          </a:prstGeom>
          <a:ln w="57150">
            <a:solidFill>
              <a:srgbClr val="FF0000"/>
            </a:solidFill>
          </a:ln>
        </p:spPr>
      </p:pic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C58FBE44-C719-C51B-914F-2F22D9E3BC4D}"/>
              </a:ext>
            </a:extLst>
          </p:cNvPr>
          <p:cNvSpPr/>
          <p:nvPr/>
        </p:nvSpPr>
        <p:spPr>
          <a:xfrm>
            <a:off x="1447679" y="3816451"/>
            <a:ext cx="1189505" cy="206879"/>
          </a:xfrm>
          <a:prstGeom prst="roundRect">
            <a:avLst>
              <a:gd name="adj" fmla="val 580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32081964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5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F2BE6A4-F6CA-BE46-EB05-733C637ECC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90C917-479E-F19E-9F18-6DB51749FF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32785" y="0"/>
            <a:ext cx="4543245" cy="576982"/>
          </a:xfrm>
        </p:spPr>
        <p:txBody>
          <a:bodyPr>
            <a:noAutofit/>
          </a:bodyPr>
          <a:lstStyle/>
          <a:p>
            <a:r>
              <a:rPr lang="en-US" sz="3200" dirty="0">
                <a:solidFill>
                  <a:srgbClr val="FFC000"/>
                </a:solidFill>
              </a:rPr>
              <a:t>Struct [</a:t>
            </a:r>
            <a:r>
              <a:rPr lang="en-US" sz="32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Constructor</a:t>
            </a:r>
            <a:r>
              <a:rPr lang="en-US" sz="3200" dirty="0">
                <a:solidFill>
                  <a:srgbClr val="FFC000"/>
                </a:solidFill>
              </a:rPr>
              <a:t>]……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950305F4-5D98-6730-2872-DC6DB646919E}"/>
              </a:ext>
            </a:extLst>
          </p:cNvPr>
          <p:cNvSpPr/>
          <p:nvPr/>
        </p:nvSpPr>
        <p:spPr>
          <a:xfrm>
            <a:off x="4025332" y="4603152"/>
            <a:ext cx="7614905" cy="2036187"/>
          </a:xfrm>
          <a:prstGeom prst="roundRect">
            <a:avLst>
              <a:gd name="adj" fmla="val 5801"/>
            </a:avLst>
          </a:prstGeom>
          <a:solidFill>
            <a:schemeClr val="accent1">
              <a:alpha val="26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00B050"/>
                </a:solidFill>
              </a:rPr>
              <a:t>‘this’</a:t>
            </a:r>
            <a:r>
              <a:rPr lang="en-US" sz="2400" b="1" dirty="0">
                <a:solidFill>
                  <a:schemeClr val="bg1"/>
                </a:solidFill>
              </a:rPr>
              <a:t> is a pointer, which is a </a:t>
            </a:r>
            <a:r>
              <a:rPr lang="en-US" sz="24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reference</a:t>
            </a:r>
            <a:r>
              <a:rPr lang="en-US" sz="2400" b="1" dirty="0">
                <a:solidFill>
                  <a:schemeClr val="bg1"/>
                </a:solidFill>
              </a:rPr>
              <a:t> to the current instance of the structure </a:t>
            </a:r>
          </a:p>
          <a:p>
            <a:pPr algn="ctr"/>
            <a:r>
              <a:rPr lang="en-US" sz="2400" b="1" dirty="0">
                <a:solidFill>
                  <a:schemeClr val="bg1"/>
                </a:solidFill>
              </a:rPr>
              <a:t>(Good Habit: Use this-&gt; to resolve naming conflicts)</a:t>
            </a:r>
            <a:endParaRPr lang="en-US" sz="24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9C07219-E95C-F342-72B9-A3BE5CACCB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7791" y="1115441"/>
            <a:ext cx="7772400" cy="3058583"/>
          </a:xfrm>
          <a:prstGeom prst="rect">
            <a:avLst/>
          </a:prstGeom>
          <a:ln w="57150">
            <a:solidFill>
              <a:srgbClr val="FF0000"/>
            </a:solidFill>
          </a:ln>
        </p:spPr>
      </p:pic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0A7E9DF1-6CC9-193F-30F7-9C5BB9076A6C}"/>
              </a:ext>
            </a:extLst>
          </p:cNvPr>
          <p:cNvSpPr/>
          <p:nvPr/>
        </p:nvSpPr>
        <p:spPr>
          <a:xfrm>
            <a:off x="1507313" y="3806512"/>
            <a:ext cx="1189505" cy="206879"/>
          </a:xfrm>
          <a:prstGeom prst="roundRect">
            <a:avLst>
              <a:gd name="adj" fmla="val 580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4347867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5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F9F2D44-E734-D6F5-1AB8-CCD07420D3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4F26ED-BA8B-9201-ACAF-A6790FDC61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32785" y="0"/>
            <a:ext cx="4543245" cy="576982"/>
          </a:xfrm>
        </p:spPr>
        <p:txBody>
          <a:bodyPr>
            <a:noAutofit/>
          </a:bodyPr>
          <a:lstStyle/>
          <a:p>
            <a:r>
              <a:rPr lang="en-US" sz="3200" dirty="0">
                <a:solidFill>
                  <a:srgbClr val="FFC000"/>
                </a:solidFill>
              </a:rPr>
              <a:t>Struct [</a:t>
            </a:r>
            <a:r>
              <a:rPr lang="en-US" sz="32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Constructor</a:t>
            </a:r>
            <a:r>
              <a:rPr lang="en-US" sz="3200" dirty="0">
                <a:solidFill>
                  <a:srgbClr val="FFC000"/>
                </a:solidFill>
              </a:rPr>
              <a:t>]……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A0D1A3FA-5618-46F1-21E8-18E0AA734412}"/>
              </a:ext>
            </a:extLst>
          </p:cNvPr>
          <p:cNvSpPr/>
          <p:nvPr/>
        </p:nvSpPr>
        <p:spPr>
          <a:xfrm>
            <a:off x="4313055" y="4613091"/>
            <a:ext cx="7614905" cy="2036187"/>
          </a:xfrm>
          <a:prstGeom prst="roundRect">
            <a:avLst>
              <a:gd name="adj" fmla="val 5801"/>
            </a:avLst>
          </a:prstGeom>
          <a:solidFill>
            <a:schemeClr val="accent1">
              <a:alpha val="26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00B050"/>
                </a:solidFill>
              </a:rPr>
              <a:t>‘this’</a:t>
            </a:r>
            <a:r>
              <a:rPr lang="en-US" sz="2400" b="1" dirty="0">
                <a:solidFill>
                  <a:schemeClr val="bg1"/>
                </a:solidFill>
              </a:rPr>
              <a:t> is a pointer, which is a </a:t>
            </a:r>
            <a:r>
              <a:rPr lang="en-US" sz="24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reference</a:t>
            </a:r>
            <a:r>
              <a:rPr lang="en-US" sz="2400" b="1" dirty="0">
                <a:solidFill>
                  <a:schemeClr val="bg1"/>
                </a:solidFill>
              </a:rPr>
              <a:t> to the current instance of the structure </a:t>
            </a:r>
          </a:p>
          <a:p>
            <a:pPr algn="ctr"/>
            <a:r>
              <a:rPr lang="en-US" sz="2400" b="1" dirty="0">
                <a:solidFill>
                  <a:schemeClr val="bg1"/>
                </a:solidFill>
              </a:rPr>
              <a:t>(Good Habit: Use this-&gt; to resolve naming conflicts)</a:t>
            </a:r>
            <a:endParaRPr lang="en-US" sz="24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320B5A2-6D7B-43A6-4433-320C5BB220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040" y="663129"/>
            <a:ext cx="11663920" cy="3682241"/>
          </a:xfrm>
          <a:prstGeom prst="rect">
            <a:avLst/>
          </a:prstGeom>
          <a:ln>
            <a:noFill/>
          </a:ln>
          <a:effectLst>
            <a:outerShdw blurRad="1270000" dist="139700" dir="2700000" sx="98000" sy="98000" algn="tl" rotWithShape="0">
              <a:schemeClr val="tx1"/>
            </a:outerShdw>
          </a:effectLst>
        </p:spPr>
      </p:pic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136B14D8-E82B-5A1B-7FCD-65EE29D94FC9}"/>
              </a:ext>
            </a:extLst>
          </p:cNvPr>
          <p:cNvSpPr/>
          <p:nvPr/>
        </p:nvSpPr>
        <p:spPr>
          <a:xfrm>
            <a:off x="483583" y="3945660"/>
            <a:ext cx="1189505" cy="206879"/>
          </a:xfrm>
          <a:prstGeom prst="roundRect">
            <a:avLst>
              <a:gd name="adj" fmla="val 580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331049233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5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6D5CAF3-F96B-3AE2-C5A1-EF7C7847FA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1159D8-E592-1108-72D0-4AAACA3BC6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32785" y="0"/>
            <a:ext cx="4543245" cy="576982"/>
          </a:xfrm>
        </p:spPr>
        <p:txBody>
          <a:bodyPr>
            <a:noAutofit/>
          </a:bodyPr>
          <a:lstStyle/>
          <a:p>
            <a:r>
              <a:rPr lang="en-US" sz="3200" dirty="0">
                <a:solidFill>
                  <a:srgbClr val="FFC000"/>
                </a:solidFill>
              </a:rPr>
              <a:t>Struct ……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0564A69C-FF4D-22DA-8B69-D2E8C65AC75E}"/>
              </a:ext>
            </a:extLst>
          </p:cNvPr>
          <p:cNvSpPr/>
          <p:nvPr/>
        </p:nvSpPr>
        <p:spPr>
          <a:xfrm>
            <a:off x="2288547" y="2824047"/>
            <a:ext cx="7614905" cy="2036187"/>
          </a:xfrm>
          <a:prstGeom prst="roundRect">
            <a:avLst>
              <a:gd name="adj" fmla="val 5801"/>
            </a:avLst>
          </a:prstGeom>
          <a:solidFill>
            <a:schemeClr val="accent1">
              <a:alpha val="26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FFFF00"/>
                </a:solidFill>
              </a:rPr>
              <a:t>CASE STUDY</a:t>
            </a:r>
          </a:p>
        </p:txBody>
      </p:sp>
    </p:spTree>
    <p:extLst>
      <p:ext uri="{BB962C8B-B14F-4D97-AF65-F5344CB8AC3E}">
        <p14:creationId xmlns:p14="http://schemas.microsoft.com/office/powerpoint/2010/main" val="315258834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5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DE4DE5-6A9A-8A8B-6AA6-041FE922F6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CFB3BD-CB7A-5B9B-BE36-D9D9517785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32785" y="0"/>
            <a:ext cx="4543245" cy="576982"/>
          </a:xfrm>
        </p:spPr>
        <p:txBody>
          <a:bodyPr>
            <a:noAutofit/>
          </a:bodyPr>
          <a:lstStyle/>
          <a:p>
            <a:r>
              <a:rPr lang="en-US" sz="3200" dirty="0">
                <a:solidFill>
                  <a:srgbClr val="FFC000"/>
                </a:solidFill>
              </a:rPr>
              <a:t>Struct [</a:t>
            </a:r>
            <a:r>
              <a:rPr lang="en-US" sz="32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….</a:t>
            </a:r>
            <a:r>
              <a:rPr lang="en-US" sz="3200" dirty="0">
                <a:solidFill>
                  <a:srgbClr val="FFC000"/>
                </a:solidFill>
              </a:rPr>
              <a:t>]……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C73BC0C-579A-D19F-914F-9A2E93C7997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514325" y="2064618"/>
            <a:ext cx="7163350" cy="2875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776945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5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9C83925-2219-F20E-DE0C-2C1FFF9BF4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67C344-4744-88C0-A15C-1D1882BC48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32785" y="0"/>
            <a:ext cx="4543245" cy="576982"/>
          </a:xfrm>
        </p:spPr>
        <p:txBody>
          <a:bodyPr>
            <a:noAutofit/>
          </a:bodyPr>
          <a:lstStyle/>
          <a:p>
            <a:r>
              <a:rPr lang="en-US" sz="3200" dirty="0">
                <a:solidFill>
                  <a:srgbClr val="FFC000"/>
                </a:solidFill>
              </a:rPr>
              <a:t>Struct [</a:t>
            </a:r>
            <a:r>
              <a:rPr lang="en-US" sz="32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…</a:t>
            </a:r>
            <a:r>
              <a:rPr lang="en-US" sz="3200" dirty="0">
                <a:solidFill>
                  <a:srgbClr val="FFC000"/>
                </a:solidFill>
              </a:rPr>
              <a:t>]……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4AD6361-2657-3CB9-DF3E-CE96291A1BF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514324" y="896772"/>
            <a:ext cx="7163350" cy="287502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C830546-2CE4-55DD-642E-6F6355337D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8345" y="4091583"/>
            <a:ext cx="9875309" cy="2212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787429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5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0B5124-77B1-0BF5-0152-EF966298AC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F88E6-1691-4032-5439-056E3CADCC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32785" y="0"/>
            <a:ext cx="4543245" cy="576982"/>
          </a:xfrm>
        </p:spPr>
        <p:txBody>
          <a:bodyPr>
            <a:noAutofit/>
          </a:bodyPr>
          <a:lstStyle/>
          <a:p>
            <a:r>
              <a:rPr lang="en-US" sz="3200" dirty="0">
                <a:solidFill>
                  <a:srgbClr val="FFC000"/>
                </a:solidFill>
              </a:rPr>
              <a:t>Struct [</a:t>
            </a:r>
            <a:r>
              <a:rPr lang="en-US" sz="32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…</a:t>
            </a:r>
            <a:r>
              <a:rPr lang="en-US" sz="3200" dirty="0">
                <a:solidFill>
                  <a:srgbClr val="FFC000"/>
                </a:solidFill>
              </a:rPr>
              <a:t>]……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7F5F038-2981-BA38-8B37-61F9F07201F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514324" y="896772"/>
            <a:ext cx="7163350" cy="287502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AB6C257-6626-DA9D-7AF0-A7BC781B6E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8345" y="4091583"/>
            <a:ext cx="9875309" cy="2212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293246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5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3E34772-B16F-EE3A-2186-0F89EC18D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D32CBD-3697-E8A4-FF61-F059656867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32785" y="0"/>
            <a:ext cx="4543245" cy="576982"/>
          </a:xfrm>
        </p:spPr>
        <p:txBody>
          <a:bodyPr>
            <a:noAutofit/>
          </a:bodyPr>
          <a:lstStyle/>
          <a:p>
            <a:r>
              <a:rPr lang="en-US" sz="3200" dirty="0">
                <a:solidFill>
                  <a:srgbClr val="FFC000"/>
                </a:solidFill>
              </a:rPr>
              <a:t>Struct [</a:t>
            </a:r>
            <a:r>
              <a:rPr lang="en-US" sz="32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…</a:t>
            </a:r>
            <a:r>
              <a:rPr lang="en-US" sz="3200" dirty="0">
                <a:solidFill>
                  <a:srgbClr val="FFC000"/>
                </a:solidFill>
              </a:rPr>
              <a:t>]……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5400B77-C879-73B6-81CE-D2AC792974B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3642128" y="288491"/>
            <a:ext cx="4907742" cy="196972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A2DCBCC-1063-4DC3-3D57-4CE117C5C32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209799" y="2423684"/>
            <a:ext cx="7772400" cy="4352192"/>
          </a:xfrm>
          <a:prstGeom prst="rect">
            <a:avLst/>
          </a:prstGeom>
        </p:spPr>
      </p:pic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262E53EC-EA47-5D95-F642-46C9F42EAD48}"/>
              </a:ext>
            </a:extLst>
          </p:cNvPr>
          <p:cNvSpPr/>
          <p:nvPr/>
        </p:nvSpPr>
        <p:spPr>
          <a:xfrm>
            <a:off x="239843" y="433906"/>
            <a:ext cx="2218544" cy="167889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Find the typo!!!</a:t>
            </a:r>
          </a:p>
        </p:txBody>
      </p:sp>
    </p:spTree>
    <p:extLst>
      <p:ext uri="{BB962C8B-B14F-4D97-AF65-F5344CB8AC3E}">
        <p14:creationId xmlns:p14="http://schemas.microsoft.com/office/powerpoint/2010/main" val="241153356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5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D89EF7-434B-0435-4778-A7F5FE648C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334DC-310B-AA1E-BE9E-A19F8F0C3E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32785" y="0"/>
            <a:ext cx="4543245" cy="576982"/>
          </a:xfrm>
        </p:spPr>
        <p:txBody>
          <a:bodyPr>
            <a:noAutofit/>
          </a:bodyPr>
          <a:lstStyle/>
          <a:p>
            <a:r>
              <a:rPr lang="en-US" sz="3200" dirty="0">
                <a:solidFill>
                  <a:srgbClr val="FFC000"/>
                </a:solidFill>
              </a:rPr>
              <a:t>Struct [</a:t>
            </a:r>
            <a:r>
              <a:rPr lang="en-US" sz="32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…</a:t>
            </a:r>
            <a:r>
              <a:rPr lang="en-US" sz="3200" dirty="0">
                <a:solidFill>
                  <a:srgbClr val="FFC000"/>
                </a:solidFill>
              </a:rPr>
              <a:t>]……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5F903A4-F988-BB30-68AA-0490230C87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96000" cy="243426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07E67CD-83F9-DDF4-6929-7D5D341BFBD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55124" y="2154088"/>
            <a:ext cx="7381267" cy="470391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67F3558-203B-4A57-76E7-852195C9E1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72407" y="3855279"/>
            <a:ext cx="4584700" cy="2844800"/>
          </a:xfrm>
          <a:prstGeom prst="rect">
            <a:avLst/>
          </a:prstGeom>
          <a:ln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73051435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5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D19295-2708-B27B-9184-EEE24046B2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0CC39C-73F7-4620-628A-64FCD9B75D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11957" y="0"/>
            <a:ext cx="6164073" cy="576982"/>
          </a:xfrm>
        </p:spPr>
        <p:txBody>
          <a:bodyPr>
            <a:noAutofit/>
          </a:bodyPr>
          <a:lstStyle/>
          <a:p>
            <a:r>
              <a:rPr lang="en-US" sz="3200" dirty="0">
                <a:solidFill>
                  <a:srgbClr val="FFC000"/>
                </a:solidFill>
              </a:rPr>
              <a:t>Struct [</a:t>
            </a:r>
            <a:r>
              <a:rPr lang="en-US" sz="32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ACCESS IDENTIFIER</a:t>
            </a:r>
            <a:r>
              <a:rPr lang="en-US" sz="3200" dirty="0">
                <a:solidFill>
                  <a:srgbClr val="FFC000"/>
                </a:solidFill>
              </a:rPr>
              <a:t>]……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82CD8888-D522-7C41-4BA7-E950A87946BB}"/>
              </a:ext>
            </a:extLst>
          </p:cNvPr>
          <p:cNvSpPr/>
          <p:nvPr/>
        </p:nvSpPr>
        <p:spPr>
          <a:xfrm>
            <a:off x="2288547" y="2824047"/>
            <a:ext cx="7614905" cy="2036187"/>
          </a:xfrm>
          <a:prstGeom prst="roundRect">
            <a:avLst>
              <a:gd name="adj" fmla="val 5801"/>
            </a:avLst>
          </a:prstGeom>
          <a:solidFill>
            <a:schemeClr val="accent1">
              <a:alpha val="26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FFFF00"/>
                </a:solidFill>
              </a:rPr>
              <a:t>LIMITING ACCESS….?</a:t>
            </a:r>
          </a:p>
        </p:txBody>
      </p:sp>
    </p:spTree>
    <p:extLst>
      <p:ext uri="{BB962C8B-B14F-4D97-AF65-F5344CB8AC3E}">
        <p14:creationId xmlns:p14="http://schemas.microsoft.com/office/powerpoint/2010/main" val="410793880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5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730F9B6-B635-95E2-0A0F-ECACA216EF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3B796314-B6D0-F67D-00FE-E36FBB7A3E65}"/>
              </a:ext>
            </a:extLst>
          </p:cNvPr>
          <p:cNvSpPr/>
          <p:nvPr/>
        </p:nvSpPr>
        <p:spPr>
          <a:xfrm>
            <a:off x="2288547" y="2410906"/>
            <a:ext cx="7614905" cy="2036187"/>
          </a:xfrm>
          <a:prstGeom prst="roundRect">
            <a:avLst>
              <a:gd name="adj" fmla="val 5801"/>
            </a:avLst>
          </a:prstGeom>
          <a:solidFill>
            <a:schemeClr val="accent1">
              <a:alpha val="26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00B050"/>
                </a:solidFill>
              </a:rPr>
              <a:t>‘access-specifiers’</a:t>
            </a:r>
            <a:r>
              <a:rPr lang="en-US" sz="2400" b="1" dirty="0">
                <a:solidFill>
                  <a:schemeClr val="bg1"/>
                </a:solidFill>
              </a:rPr>
              <a:t> like, </a:t>
            </a:r>
            <a:r>
              <a:rPr lang="en-US" sz="24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private, protected, public</a:t>
            </a:r>
            <a:r>
              <a:rPr lang="en-US" sz="2400" b="1" dirty="0">
                <a:solidFill>
                  <a:schemeClr val="bg1"/>
                </a:solidFill>
              </a:rPr>
              <a:t> can be used to limit the access of member outside of struct, by default everything is public. As of now lets ignore </a:t>
            </a:r>
            <a:r>
              <a:rPr lang="en-US" sz="24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protected.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3D6FF21-6043-BFAA-5D2B-61AE50F54E57}"/>
              </a:ext>
            </a:extLst>
          </p:cNvPr>
          <p:cNvSpPr txBox="1">
            <a:spLocks/>
          </p:cNvSpPr>
          <p:nvPr/>
        </p:nvSpPr>
        <p:spPr>
          <a:xfrm>
            <a:off x="6211957" y="0"/>
            <a:ext cx="6164073" cy="57698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>
                <a:solidFill>
                  <a:srgbClr val="FFC000"/>
                </a:solidFill>
              </a:rPr>
              <a:t>Struct [</a:t>
            </a:r>
            <a:r>
              <a:rPr lang="en-US" sz="3200">
                <a:solidFill>
                  <a:schemeClr val="accent3">
                    <a:lumMod val="60000"/>
                    <a:lumOff val="40000"/>
                  </a:schemeClr>
                </a:solidFill>
              </a:rPr>
              <a:t>ACCESS IDENTIFIER</a:t>
            </a:r>
            <a:r>
              <a:rPr lang="en-US" sz="3200">
                <a:solidFill>
                  <a:srgbClr val="FFC000"/>
                </a:solidFill>
              </a:rPr>
              <a:t>]……</a:t>
            </a:r>
            <a:endParaRPr lang="en-US" sz="3200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786078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5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6936058-E89D-1A46-DDF1-A6F86004AE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C6EB110D-EBD1-D685-7E4D-6566B41838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037" y="2034884"/>
            <a:ext cx="11865926" cy="3680115"/>
          </a:xfrm>
          <a:prstGeom prst="rect">
            <a:avLst/>
          </a:prstGeom>
        </p:spPr>
      </p:pic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AE51D60A-7329-AE2C-B51F-8AAA4152EFCB}"/>
              </a:ext>
            </a:extLst>
          </p:cNvPr>
          <p:cNvSpPr/>
          <p:nvPr/>
        </p:nvSpPr>
        <p:spPr>
          <a:xfrm>
            <a:off x="1017106" y="2613990"/>
            <a:ext cx="10303563" cy="1242394"/>
          </a:xfrm>
          <a:prstGeom prst="roundRect">
            <a:avLst>
              <a:gd name="adj" fmla="val 2711"/>
            </a:avLst>
          </a:prstGeom>
          <a:solidFill>
            <a:srgbClr val="FF0000">
              <a:alpha val="26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B6615AAC-8BF2-D1CD-C011-EBFA13833247}"/>
              </a:ext>
            </a:extLst>
          </p:cNvPr>
          <p:cNvSpPr/>
          <p:nvPr/>
        </p:nvSpPr>
        <p:spPr>
          <a:xfrm>
            <a:off x="1017105" y="4065104"/>
            <a:ext cx="10303563" cy="1441174"/>
          </a:xfrm>
          <a:prstGeom prst="roundRect">
            <a:avLst>
              <a:gd name="adj" fmla="val 2711"/>
            </a:avLst>
          </a:prstGeom>
          <a:solidFill>
            <a:schemeClr val="accent1">
              <a:alpha val="26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4DDBC63-EDB1-3102-DE5A-CE7234C67419}"/>
              </a:ext>
            </a:extLst>
          </p:cNvPr>
          <p:cNvSpPr txBox="1"/>
          <p:nvPr/>
        </p:nvSpPr>
        <p:spPr>
          <a:xfrm>
            <a:off x="8717443" y="2912021"/>
            <a:ext cx="245745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dirty="0"/>
              <a:t>ACCESS WITHIN STRUCT ONLY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C4E18C0-F117-30F6-3723-E397715E9DE4}"/>
              </a:ext>
            </a:extLst>
          </p:cNvPr>
          <p:cNvSpPr txBox="1"/>
          <p:nvPr/>
        </p:nvSpPr>
        <p:spPr>
          <a:xfrm>
            <a:off x="7921487" y="4188165"/>
            <a:ext cx="325340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dirty="0"/>
              <a:t>ACCESS FROM</a:t>
            </a:r>
          </a:p>
          <a:p>
            <a:pPr algn="r"/>
            <a:r>
              <a:rPr lang="en-US" dirty="0"/>
              <a:t>MOCHAS JAVA..</a:t>
            </a:r>
          </a:p>
          <a:p>
            <a:pPr algn="r"/>
            <a:r>
              <a:rPr lang="en-US" dirty="0"/>
              <a:t>OR ANY COFFEE PLACE YOU LIKE….</a:t>
            </a: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15DA0783-1538-E08D-D012-1746B2745D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11957" y="0"/>
            <a:ext cx="6164073" cy="576982"/>
          </a:xfrm>
        </p:spPr>
        <p:txBody>
          <a:bodyPr>
            <a:noAutofit/>
          </a:bodyPr>
          <a:lstStyle/>
          <a:p>
            <a:r>
              <a:rPr lang="en-US" sz="3200" dirty="0">
                <a:solidFill>
                  <a:srgbClr val="FFC000"/>
                </a:solidFill>
              </a:rPr>
              <a:t>Struct [</a:t>
            </a:r>
            <a:r>
              <a:rPr lang="en-US" sz="32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ACCESS IDENTIFIER</a:t>
            </a:r>
            <a:r>
              <a:rPr lang="en-US" sz="3200" dirty="0">
                <a:solidFill>
                  <a:srgbClr val="FFC000"/>
                </a:solidFill>
              </a:rPr>
              <a:t>]……</a:t>
            </a:r>
          </a:p>
        </p:txBody>
      </p:sp>
    </p:spTree>
    <p:extLst>
      <p:ext uri="{BB962C8B-B14F-4D97-AF65-F5344CB8AC3E}">
        <p14:creationId xmlns:p14="http://schemas.microsoft.com/office/powerpoint/2010/main" val="379703242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5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47B9607-285C-45E3-1838-5234C57F16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>
            <a:extLst>
              <a:ext uri="{FF2B5EF4-FFF2-40B4-BE49-F238E27FC236}">
                <a16:creationId xmlns:a16="http://schemas.microsoft.com/office/drawing/2014/main" id="{641E3069-CBD2-00CC-8977-DC596DABCE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11957" y="0"/>
            <a:ext cx="6164073" cy="576982"/>
          </a:xfrm>
        </p:spPr>
        <p:txBody>
          <a:bodyPr>
            <a:noAutofit/>
          </a:bodyPr>
          <a:lstStyle/>
          <a:p>
            <a:r>
              <a:rPr lang="en-US" sz="3200" dirty="0">
                <a:solidFill>
                  <a:srgbClr val="FFC000"/>
                </a:solidFill>
              </a:rPr>
              <a:t>Struct [</a:t>
            </a:r>
            <a:r>
              <a:rPr lang="en-US" sz="32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ACCESS IDENTIFIER</a:t>
            </a:r>
            <a:r>
              <a:rPr lang="en-US" sz="3200" dirty="0">
                <a:solidFill>
                  <a:srgbClr val="FFC000"/>
                </a:solidFill>
              </a:rPr>
              <a:t>]……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68D307AF-D8A0-C227-33AF-1F1999269673}"/>
              </a:ext>
            </a:extLst>
          </p:cNvPr>
          <p:cNvGrpSpPr/>
          <p:nvPr/>
        </p:nvGrpSpPr>
        <p:grpSpPr>
          <a:xfrm>
            <a:off x="0" y="904009"/>
            <a:ext cx="12192000" cy="5800963"/>
            <a:chOff x="0" y="904009"/>
            <a:chExt cx="12192000" cy="5800963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69A3F85B-2855-21E2-AC1B-1383661B36F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904009"/>
              <a:ext cx="4670267" cy="4810991"/>
            </a:xfrm>
            <a:prstGeom prst="rect">
              <a:avLst/>
            </a:prstGeom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895C7721-ADFB-302E-A0CD-C334ADCDFFE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/>
            <a:stretch/>
          </p:blipFill>
          <p:spPr>
            <a:xfrm>
              <a:off x="4670266" y="1614805"/>
              <a:ext cx="7521734" cy="899766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A5C3084C-285D-0D3C-CA80-37FE6E35290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670264" y="2513685"/>
              <a:ext cx="6167825" cy="2380430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5B9DA0EB-4124-77BC-9D1B-5D46D248A44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665070" y="4824464"/>
              <a:ext cx="6174466" cy="188050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DA420A11-FEF9-6AD5-412D-97FECBF21AB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/>
            <a:srcRect r="36006"/>
            <a:stretch/>
          </p:blipFill>
          <p:spPr>
            <a:xfrm>
              <a:off x="0" y="6107590"/>
              <a:ext cx="4665070" cy="584200"/>
            </a:xfrm>
            <a:prstGeom prst="rect">
              <a:avLst/>
            </a:prstGeom>
          </p:spPr>
        </p:pic>
        <p:sp>
          <p:nvSpPr>
            <p:cNvPr id="13" name="Rounded Rectangle 12">
              <a:extLst>
                <a:ext uri="{FF2B5EF4-FFF2-40B4-BE49-F238E27FC236}">
                  <a16:creationId xmlns:a16="http://schemas.microsoft.com/office/drawing/2014/main" id="{B52C33AC-B7EE-4904-35E5-D7BA53D3A682}"/>
                </a:ext>
              </a:extLst>
            </p:cNvPr>
            <p:cNvSpPr/>
            <p:nvPr/>
          </p:nvSpPr>
          <p:spPr>
            <a:xfrm>
              <a:off x="1" y="5715000"/>
              <a:ext cx="2405574" cy="392590"/>
            </a:xfrm>
            <a:prstGeom prst="roundRect">
              <a:avLst>
                <a:gd name="adj" fmla="val 0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ight Arrow 18">
              <a:extLst>
                <a:ext uri="{FF2B5EF4-FFF2-40B4-BE49-F238E27FC236}">
                  <a16:creationId xmlns:a16="http://schemas.microsoft.com/office/drawing/2014/main" id="{77BC52CA-A61C-252A-7720-7CB5C5399211}"/>
                </a:ext>
              </a:extLst>
            </p:cNvPr>
            <p:cNvSpPr/>
            <p:nvPr/>
          </p:nvSpPr>
          <p:spPr>
            <a:xfrm>
              <a:off x="2405576" y="5674360"/>
              <a:ext cx="2249100" cy="473870"/>
            </a:xfrm>
            <a:prstGeom prst="rightArrow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0000"/>
                </a:solidFill>
              </a:endParaRPr>
            </a:p>
          </p:txBody>
        </p:sp>
        <p:sp>
          <p:nvSpPr>
            <p:cNvPr id="23" name="Rounded Rectangle 22">
              <a:extLst>
                <a:ext uri="{FF2B5EF4-FFF2-40B4-BE49-F238E27FC236}">
                  <a16:creationId xmlns:a16="http://schemas.microsoft.com/office/drawing/2014/main" id="{017D48BA-B0BB-1837-C3B6-A518DDF44FD0}"/>
                </a:ext>
              </a:extLst>
            </p:cNvPr>
            <p:cNvSpPr/>
            <p:nvPr/>
          </p:nvSpPr>
          <p:spPr>
            <a:xfrm>
              <a:off x="10838089" y="2513684"/>
              <a:ext cx="1353910" cy="4178105"/>
            </a:xfrm>
            <a:prstGeom prst="roundRect">
              <a:avLst>
                <a:gd name="adj" fmla="val 2711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1"/>
                </a:solidFill>
              </a:endParaRPr>
            </a:p>
          </p:txBody>
        </p:sp>
        <p:sp>
          <p:nvSpPr>
            <p:cNvPr id="24" name="Rounded Rectangle 23">
              <a:extLst>
                <a:ext uri="{FF2B5EF4-FFF2-40B4-BE49-F238E27FC236}">
                  <a16:creationId xmlns:a16="http://schemas.microsoft.com/office/drawing/2014/main" id="{C81B13F2-655D-CE73-0BA9-7A45B31DD190}"/>
                </a:ext>
              </a:extLst>
            </p:cNvPr>
            <p:cNvSpPr/>
            <p:nvPr/>
          </p:nvSpPr>
          <p:spPr>
            <a:xfrm>
              <a:off x="4675461" y="1614804"/>
              <a:ext cx="7516538" cy="5076985"/>
            </a:xfrm>
            <a:prstGeom prst="roundRect">
              <a:avLst>
                <a:gd name="adj" fmla="val 0"/>
              </a:avLst>
            </a:prstGeom>
            <a:solidFill>
              <a:schemeClr val="accent1">
                <a:alpha val="26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1"/>
                </a:solidFill>
              </a:endParaRPr>
            </a:p>
          </p:txBody>
        </p:sp>
      </p:grp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61DC42E-1D34-93A9-D18B-9051232CBB81}"/>
              </a:ext>
            </a:extLst>
          </p:cNvPr>
          <p:cNvSpPr/>
          <p:nvPr/>
        </p:nvSpPr>
        <p:spPr>
          <a:xfrm>
            <a:off x="4901784" y="576982"/>
            <a:ext cx="5351488" cy="78712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WARNING!!! THIS IS A BAD CODE</a:t>
            </a:r>
          </a:p>
        </p:txBody>
      </p:sp>
    </p:spTree>
    <p:extLst>
      <p:ext uri="{BB962C8B-B14F-4D97-AF65-F5344CB8AC3E}">
        <p14:creationId xmlns:p14="http://schemas.microsoft.com/office/powerpoint/2010/main" val="347016143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5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7712CB2-C7BA-DA94-6E84-1015DFD246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>
            <a:extLst>
              <a:ext uri="{FF2B5EF4-FFF2-40B4-BE49-F238E27FC236}">
                <a16:creationId xmlns:a16="http://schemas.microsoft.com/office/drawing/2014/main" id="{2149088A-42EB-3C4E-48C4-C79EE07EF6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11957" y="0"/>
            <a:ext cx="6164073" cy="576982"/>
          </a:xfrm>
        </p:spPr>
        <p:txBody>
          <a:bodyPr>
            <a:noAutofit/>
          </a:bodyPr>
          <a:lstStyle/>
          <a:p>
            <a:r>
              <a:rPr lang="en-US" sz="3200" dirty="0">
                <a:solidFill>
                  <a:srgbClr val="FFC000"/>
                </a:solidFill>
              </a:rPr>
              <a:t>Struct [</a:t>
            </a:r>
            <a:r>
              <a:rPr lang="en-US" sz="32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…..</a:t>
            </a:r>
            <a:r>
              <a:rPr lang="en-US" sz="3200" dirty="0">
                <a:solidFill>
                  <a:srgbClr val="FFC000"/>
                </a:solidFill>
              </a:rPr>
              <a:t>]……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700F12A-B058-6742-19C0-4607B2C3AC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717" y="818250"/>
            <a:ext cx="9496480" cy="5031717"/>
          </a:xfrm>
          <a:prstGeom prst="roundRect">
            <a:avLst>
              <a:gd name="adj" fmla="val 723"/>
            </a:avLst>
          </a:prstGeom>
          <a:ln>
            <a:noFill/>
          </a:ln>
          <a:effectLst>
            <a:outerShdw blurRad="643417" dist="38100" dir="7800000" sx="103000" sy="103000" algn="tl" rotWithShape="0">
              <a:srgbClr val="000000">
                <a:alpha val="7188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D363EC0-7333-489D-D16B-97CDC9F80811}"/>
              </a:ext>
            </a:extLst>
          </p:cNvPr>
          <p:cNvSpPr txBox="1"/>
          <p:nvPr/>
        </p:nvSpPr>
        <p:spPr>
          <a:xfrm>
            <a:off x="4488348" y="6091235"/>
            <a:ext cx="3215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What will when program ends?</a:t>
            </a:r>
          </a:p>
        </p:txBody>
      </p:sp>
    </p:spTree>
    <p:extLst>
      <p:ext uri="{BB962C8B-B14F-4D97-AF65-F5344CB8AC3E}">
        <p14:creationId xmlns:p14="http://schemas.microsoft.com/office/powerpoint/2010/main" val="91595514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5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8E3D929-5C63-412B-0DA7-96BEA45577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>
            <a:extLst>
              <a:ext uri="{FF2B5EF4-FFF2-40B4-BE49-F238E27FC236}">
                <a16:creationId xmlns:a16="http://schemas.microsoft.com/office/drawing/2014/main" id="{D165CE4A-BE9A-E588-79A9-D2A75B8713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11957" y="0"/>
            <a:ext cx="6164073" cy="576982"/>
          </a:xfrm>
        </p:spPr>
        <p:txBody>
          <a:bodyPr>
            <a:noAutofit/>
          </a:bodyPr>
          <a:lstStyle/>
          <a:p>
            <a:r>
              <a:rPr lang="en-US" sz="3200" dirty="0">
                <a:solidFill>
                  <a:srgbClr val="FFC000"/>
                </a:solidFill>
              </a:rPr>
              <a:t>Struct [</a:t>
            </a:r>
            <a:r>
              <a:rPr lang="en-US" sz="32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Destructor</a:t>
            </a:r>
            <a:r>
              <a:rPr lang="en-US" sz="3200" dirty="0">
                <a:solidFill>
                  <a:srgbClr val="FFC000"/>
                </a:solidFill>
              </a:rPr>
              <a:t>]……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7FD7422-38E5-44FD-DF47-1BFBA253558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1963" b="115"/>
          <a:stretch/>
        </p:blipFill>
        <p:spPr>
          <a:xfrm>
            <a:off x="1463717" y="521268"/>
            <a:ext cx="9496480" cy="5815463"/>
          </a:xfrm>
          <a:prstGeom prst="roundRect">
            <a:avLst>
              <a:gd name="adj" fmla="val 723"/>
            </a:avLst>
          </a:prstGeom>
          <a:ln>
            <a:noFill/>
          </a:ln>
          <a:effectLst>
            <a:outerShdw blurRad="643417" dist="38100" dir="7800000" sx="103000" sy="103000" algn="tl" rotWithShape="0">
              <a:srgbClr val="000000">
                <a:alpha val="7188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53FB53C-0345-C4B2-DBF3-C34DE948C25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1079" b="1"/>
          <a:stretch/>
        </p:blipFill>
        <p:spPr>
          <a:xfrm>
            <a:off x="5858590" y="6254150"/>
            <a:ext cx="6333410" cy="514201"/>
          </a:xfrm>
          <a:prstGeom prst="rect">
            <a:avLst/>
          </a:prstGeom>
          <a:ln>
            <a:solidFill>
              <a:schemeClr val="accent2"/>
            </a:solidFill>
          </a:ln>
        </p:spPr>
      </p:pic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03438259-582C-AFF9-0BFB-B566523F6335}"/>
              </a:ext>
            </a:extLst>
          </p:cNvPr>
          <p:cNvSpPr/>
          <p:nvPr/>
        </p:nvSpPr>
        <p:spPr>
          <a:xfrm>
            <a:off x="2092793" y="2648309"/>
            <a:ext cx="6383547" cy="1190446"/>
          </a:xfrm>
          <a:prstGeom prst="roundRect">
            <a:avLst>
              <a:gd name="adj" fmla="val 2174"/>
            </a:avLst>
          </a:prstGeom>
          <a:solidFill>
            <a:schemeClr val="accent1">
              <a:alpha val="26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239995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5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A8CEAAA-9178-4A32-E69B-9CE94789BB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>
            <a:extLst>
              <a:ext uri="{FF2B5EF4-FFF2-40B4-BE49-F238E27FC236}">
                <a16:creationId xmlns:a16="http://schemas.microsoft.com/office/drawing/2014/main" id="{D012C31A-5A23-5477-5BF5-648653FBC9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11957" y="0"/>
            <a:ext cx="6164073" cy="576982"/>
          </a:xfrm>
        </p:spPr>
        <p:txBody>
          <a:bodyPr>
            <a:noAutofit/>
          </a:bodyPr>
          <a:lstStyle/>
          <a:p>
            <a:r>
              <a:rPr lang="en-US" sz="3200" dirty="0">
                <a:solidFill>
                  <a:srgbClr val="FFC000"/>
                </a:solidFill>
              </a:rPr>
              <a:t>Struct [</a:t>
            </a:r>
            <a:r>
              <a:rPr lang="en-US" sz="32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POINTERS</a:t>
            </a:r>
            <a:r>
              <a:rPr lang="en-US" sz="3200" dirty="0">
                <a:solidFill>
                  <a:srgbClr val="FFC000"/>
                </a:solidFill>
              </a:rPr>
              <a:t>]……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3F46549-40C8-0E84-31A3-E29F2C7A38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6184" y="1247835"/>
            <a:ext cx="7771546" cy="4362330"/>
          </a:xfrm>
          <a:prstGeom prst="roundRect">
            <a:avLst>
              <a:gd name="adj" fmla="val 1243"/>
            </a:avLst>
          </a:prstGeom>
          <a:ln>
            <a:noFill/>
          </a:ln>
          <a:effectLst>
            <a:outerShdw blurRad="914547" dist="38100" dir="7800000" sx="106000" sy="106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5" name="Graphic 14" descr="Question Mark with solid fill">
            <a:extLst>
              <a:ext uri="{FF2B5EF4-FFF2-40B4-BE49-F238E27FC236}">
                <a16:creationId xmlns:a16="http://schemas.microsoft.com/office/drawing/2014/main" id="{52FF7D92-9106-DA59-16C6-12567B3957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24799" y="1910750"/>
            <a:ext cx="2530415" cy="2530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055292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5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649B0D-BC46-A9B3-F0C9-9924CDDFCC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>
            <a:extLst>
              <a:ext uri="{FF2B5EF4-FFF2-40B4-BE49-F238E27FC236}">
                <a16:creationId xmlns:a16="http://schemas.microsoft.com/office/drawing/2014/main" id="{4A72C345-5780-340B-1F40-17EA5737A8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11957" y="0"/>
            <a:ext cx="6164073" cy="576982"/>
          </a:xfrm>
        </p:spPr>
        <p:txBody>
          <a:bodyPr>
            <a:noAutofit/>
          </a:bodyPr>
          <a:lstStyle/>
          <a:p>
            <a:r>
              <a:rPr lang="en-US" sz="3200" dirty="0">
                <a:solidFill>
                  <a:srgbClr val="FFC000"/>
                </a:solidFill>
              </a:rPr>
              <a:t>Struct [</a:t>
            </a:r>
            <a:r>
              <a:rPr lang="en-US" sz="32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POINTERS</a:t>
            </a:r>
            <a:r>
              <a:rPr lang="en-US" sz="3200" dirty="0">
                <a:solidFill>
                  <a:srgbClr val="FFC000"/>
                </a:solidFill>
              </a:rPr>
              <a:t>]……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DF90651-F1F7-B319-9DC8-60629088A5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6184" y="1247835"/>
            <a:ext cx="7771546" cy="4362330"/>
          </a:xfrm>
          <a:prstGeom prst="roundRect">
            <a:avLst>
              <a:gd name="adj" fmla="val 1243"/>
            </a:avLst>
          </a:prstGeom>
          <a:ln>
            <a:noFill/>
          </a:ln>
          <a:effectLst>
            <a:outerShdw blurRad="914547" dist="38100" dir="7800000" sx="106000" sy="106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5" name="Graphic 14" descr="Question Mark with solid fill">
            <a:extLst>
              <a:ext uri="{FF2B5EF4-FFF2-40B4-BE49-F238E27FC236}">
                <a16:creationId xmlns:a16="http://schemas.microsoft.com/office/drawing/2014/main" id="{B253A23F-60D5-9BE0-DC51-9B2B2FED7BF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924799" y="1910750"/>
            <a:ext cx="2530415" cy="2530415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4436D14C-2BF1-8DF6-81E8-39D08ACB79BE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7482336" y="5351073"/>
            <a:ext cx="3413930" cy="696044"/>
          </a:xfrm>
          <a:prstGeom prst="rect">
            <a:avLst/>
          </a:prstGeom>
          <a:ln>
            <a:solidFill>
              <a:schemeClr val="accent2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DE61E02-92D3-0E3E-F902-16D329277A2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37364" y="5054532"/>
            <a:ext cx="2002648" cy="213875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610425B-F3BF-92C0-8038-874B309B3FA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69069" y="5277033"/>
            <a:ext cx="1941905" cy="20738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B01A451-ADB3-FA66-C26A-EA91DE74D9D0}"/>
              </a:ext>
            </a:extLst>
          </p:cNvPr>
          <p:cNvSpPr txBox="1"/>
          <p:nvPr/>
        </p:nvSpPr>
        <p:spPr>
          <a:xfrm>
            <a:off x="3554530" y="6281018"/>
            <a:ext cx="5314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You must de-allocate memory while using pointers.</a:t>
            </a:r>
          </a:p>
        </p:txBody>
      </p:sp>
    </p:spTree>
    <p:extLst>
      <p:ext uri="{BB962C8B-B14F-4D97-AF65-F5344CB8AC3E}">
        <p14:creationId xmlns:p14="http://schemas.microsoft.com/office/powerpoint/2010/main" val="396201106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5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4009A51-25EA-7578-7043-B86970923B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>
            <a:extLst>
              <a:ext uri="{FF2B5EF4-FFF2-40B4-BE49-F238E27FC236}">
                <a16:creationId xmlns:a16="http://schemas.microsoft.com/office/drawing/2014/main" id="{990C0BD6-D3C1-D80B-96CA-50D1ACB007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11957" y="0"/>
            <a:ext cx="6164073" cy="576982"/>
          </a:xfrm>
        </p:spPr>
        <p:txBody>
          <a:bodyPr>
            <a:noAutofit/>
          </a:bodyPr>
          <a:lstStyle/>
          <a:p>
            <a:r>
              <a:rPr lang="en-US" sz="3200" dirty="0">
                <a:solidFill>
                  <a:srgbClr val="FFC000"/>
                </a:solidFill>
              </a:rPr>
              <a:t>… [</a:t>
            </a:r>
            <a:r>
              <a:rPr lang="en-US" sz="32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….</a:t>
            </a:r>
            <a:r>
              <a:rPr lang="en-US" sz="3200" dirty="0">
                <a:solidFill>
                  <a:srgbClr val="FFC000"/>
                </a:solidFill>
              </a:rPr>
              <a:t>]……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8DD5CF8-62E4-5B27-1CBB-B9479CB0F9E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-91" b="421"/>
          <a:stretch/>
        </p:blipFill>
        <p:spPr>
          <a:xfrm>
            <a:off x="2326184" y="897148"/>
            <a:ext cx="7771546" cy="5037826"/>
          </a:xfrm>
          <a:prstGeom prst="roundRect">
            <a:avLst>
              <a:gd name="adj" fmla="val 1243"/>
            </a:avLst>
          </a:prstGeom>
          <a:ln>
            <a:noFill/>
          </a:ln>
          <a:effectLst>
            <a:outerShdw blurRad="914547" dist="38100" dir="7800000" sx="106000" sy="106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C073463-BCDD-26A2-FA3B-AE42618A89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3403" y="5437996"/>
            <a:ext cx="6212219" cy="993955"/>
          </a:xfrm>
          <a:prstGeom prst="rect">
            <a:avLst/>
          </a:prstGeom>
          <a:ln>
            <a:solidFill>
              <a:schemeClr val="accent2"/>
            </a:solidFill>
          </a:ln>
        </p:spPr>
      </p:pic>
    </p:spTree>
    <p:extLst>
      <p:ext uri="{BB962C8B-B14F-4D97-AF65-F5344CB8AC3E}">
        <p14:creationId xmlns:p14="http://schemas.microsoft.com/office/powerpoint/2010/main" val="74181327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5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0D2FD5-F24E-90B5-B196-6DCF72D23B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>
            <a:extLst>
              <a:ext uri="{FF2B5EF4-FFF2-40B4-BE49-F238E27FC236}">
                <a16:creationId xmlns:a16="http://schemas.microsoft.com/office/drawing/2014/main" id="{B89A657A-3E2C-5861-42DC-69AFFB3AD5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11957" y="0"/>
            <a:ext cx="6164073" cy="576982"/>
          </a:xfrm>
        </p:spPr>
        <p:txBody>
          <a:bodyPr>
            <a:noAutofit/>
          </a:bodyPr>
          <a:lstStyle/>
          <a:p>
            <a:r>
              <a:rPr lang="en-US" sz="3200" dirty="0">
                <a:solidFill>
                  <a:srgbClr val="FFC000"/>
                </a:solidFill>
              </a:rPr>
              <a:t>… [</a:t>
            </a:r>
            <a:r>
              <a:rPr lang="en-US" sz="32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….</a:t>
            </a:r>
            <a:r>
              <a:rPr lang="en-US" sz="3200" dirty="0">
                <a:solidFill>
                  <a:srgbClr val="FFC000"/>
                </a:solidFill>
              </a:rPr>
              <a:t>]……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3A6F8AF-216B-6841-48A1-2062FD2F90E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-91" b="421"/>
          <a:stretch/>
        </p:blipFill>
        <p:spPr>
          <a:xfrm>
            <a:off x="2326184" y="897148"/>
            <a:ext cx="7771546" cy="5037826"/>
          </a:xfrm>
          <a:prstGeom prst="roundRect">
            <a:avLst>
              <a:gd name="adj" fmla="val 1243"/>
            </a:avLst>
          </a:prstGeom>
          <a:ln>
            <a:noFill/>
          </a:ln>
          <a:effectLst>
            <a:outerShdw blurRad="914547" dist="38100" dir="7800000" sx="106000" sy="106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81AB4F0-E47A-EE17-0F13-67E2F196C0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3403" y="5437996"/>
            <a:ext cx="6212219" cy="993955"/>
          </a:xfrm>
          <a:prstGeom prst="rect">
            <a:avLst/>
          </a:prstGeom>
          <a:ln>
            <a:solidFill>
              <a:schemeClr val="accent2"/>
            </a:solidFill>
          </a:ln>
        </p:spPr>
      </p:pic>
    </p:spTree>
    <p:extLst>
      <p:ext uri="{BB962C8B-B14F-4D97-AF65-F5344CB8AC3E}">
        <p14:creationId xmlns:p14="http://schemas.microsoft.com/office/powerpoint/2010/main" val="13513735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5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FEF948F-86EC-F160-70CE-3534D9B2CE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>
            <a:extLst>
              <a:ext uri="{FF2B5EF4-FFF2-40B4-BE49-F238E27FC236}">
                <a16:creationId xmlns:a16="http://schemas.microsoft.com/office/drawing/2014/main" id="{87AD5B43-CA4A-723F-C3F8-2B067397C9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11957" y="0"/>
            <a:ext cx="6164073" cy="576982"/>
          </a:xfrm>
        </p:spPr>
        <p:txBody>
          <a:bodyPr>
            <a:noAutofit/>
          </a:bodyPr>
          <a:lstStyle/>
          <a:p>
            <a:r>
              <a:rPr lang="en-US" sz="3200" dirty="0">
                <a:solidFill>
                  <a:srgbClr val="FFC000"/>
                </a:solidFill>
              </a:rPr>
              <a:t>… [</a:t>
            </a:r>
            <a:r>
              <a:rPr lang="en-US" sz="32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….</a:t>
            </a:r>
            <a:r>
              <a:rPr lang="en-US" sz="3200" dirty="0">
                <a:solidFill>
                  <a:srgbClr val="FFC000"/>
                </a:solidFill>
              </a:rPr>
              <a:t>]……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2A8C7F7-54D3-DDF7-1655-190400B3E9E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-91571" b="-91571"/>
          <a:stretch/>
        </p:blipFill>
        <p:spPr>
          <a:xfrm>
            <a:off x="2326184" y="897148"/>
            <a:ext cx="7771546" cy="5037826"/>
          </a:xfrm>
          <a:prstGeom prst="roundRect">
            <a:avLst>
              <a:gd name="adj" fmla="val 1243"/>
            </a:avLst>
          </a:prstGeom>
          <a:ln>
            <a:noFill/>
          </a:ln>
          <a:effectLst>
            <a:outerShdw blurRad="914547" dist="38100" dir="7800000" sx="106000" sy="106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CD9B2A6-B358-C928-4FF8-914B1EF27D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4724" y="5844582"/>
            <a:ext cx="6212219" cy="993955"/>
          </a:xfrm>
          <a:prstGeom prst="rect">
            <a:avLst/>
          </a:prstGeom>
          <a:ln>
            <a:solidFill>
              <a:schemeClr val="accent2"/>
            </a:solidFill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60DCE36-ED20-BA7C-1B79-0835A5F6BAC8}"/>
              </a:ext>
            </a:extLst>
          </p:cNvPr>
          <p:cNvSpPr txBox="1"/>
          <p:nvPr/>
        </p:nvSpPr>
        <p:spPr>
          <a:xfrm>
            <a:off x="4545122" y="4469471"/>
            <a:ext cx="333367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</a:rPr>
              <a:t>Can we do this?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B06A3A-4057-C5C1-555E-245E566109DC}"/>
              </a:ext>
            </a:extLst>
          </p:cNvPr>
          <p:cNvSpPr txBox="1"/>
          <p:nvPr/>
        </p:nvSpPr>
        <p:spPr>
          <a:xfrm>
            <a:off x="8793273" y="5270947"/>
            <a:ext cx="29119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</a:rPr>
              <a:t>Expectation !!</a:t>
            </a:r>
          </a:p>
        </p:txBody>
      </p:sp>
    </p:spTree>
    <p:extLst>
      <p:ext uri="{BB962C8B-B14F-4D97-AF65-F5344CB8AC3E}">
        <p14:creationId xmlns:p14="http://schemas.microsoft.com/office/powerpoint/2010/main" val="195089957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5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E6BE7FD-EA03-EF99-46DF-BB3D36DBCC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>
            <a:extLst>
              <a:ext uri="{FF2B5EF4-FFF2-40B4-BE49-F238E27FC236}">
                <a16:creationId xmlns:a16="http://schemas.microsoft.com/office/drawing/2014/main" id="{4A850524-348C-5C33-0233-84980275E7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11957" y="0"/>
            <a:ext cx="6164073" cy="576982"/>
          </a:xfrm>
        </p:spPr>
        <p:txBody>
          <a:bodyPr>
            <a:noAutofit/>
          </a:bodyPr>
          <a:lstStyle/>
          <a:p>
            <a:r>
              <a:rPr lang="en-US" sz="3200" dirty="0">
                <a:solidFill>
                  <a:srgbClr val="FFC000"/>
                </a:solidFill>
              </a:rPr>
              <a:t>OP.OVERLOADING [</a:t>
            </a:r>
            <a:r>
              <a:rPr lang="en-US" sz="32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….</a:t>
            </a:r>
            <a:r>
              <a:rPr lang="en-US" sz="3200" dirty="0">
                <a:solidFill>
                  <a:srgbClr val="FFC000"/>
                </a:solidFill>
              </a:rPr>
              <a:t>]……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EC9844-7BE3-88EA-6F2E-AC6A7B4848DA}"/>
              </a:ext>
            </a:extLst>
          </p:cNvPr>
          <p:cNvSpPr txBox="1"/>
          <p:nvPr/>
        </p:nvSpPr>
        <p:spPr>
          <a:xfrm>
            <a:off x="3199694" y="3342736"/>
            <a:ext cx="588718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</a:rPr>
              <a:t>YES.. Operator </a:t>
            </a:r>
            <a:r>
              <a:rPr lang="en-US" sz="3600" dirty="0" err="1">
                <a:solidFill>
                  <a:schemeClr val="bg1"/>
                </a:solidFill>
              </a:rPr>
              <a:t>OVerloading</a:t>
            </a:r>
            <a:r>
              <a:rPr lang="en-US" sz="3600" dirty="0">
                <a:solidFill>
                  <a:schemeClr val="bg1"/>
                </a:solidFill>
              </a:rPr>
              <a:t>..</a:t>
            </a:r>
          </a:p>
        </p:txBody>
      </p:sp>
    </p:spTree>
    <p:extLst>
      <p:ext uri="{BB962C8B-B14F-4D97-AF65-F5344CB8AC3E}">
        <p14:creationId xmlns:p14="http://schemas.microsoft.com/office/powerpoint/2010/main" val="233218959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5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13181B-D3B0-78EF-0C30-27E61D60A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>
            <a:extLst>
              <a:ext uri="{FF2B5EF4-FFF2-40B4-BE49-F238E27FC236}">
                <a16:creationId xmlns:a16="http://schemas.microsoft.com/office/drawing/2014/main" id="{8437BC3F-3478-0857-9807-70C838E8B5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04846" y="0"/>
            <a:ext cx="6164073" cy="576982"/>
          </a:xfrm>
        </p:spPr>
        <p:txBody>
          <a:bodyPr>
            <a:noAutofit/>
          </a:bodyPr>
          <a:lstStyle/>
          <a:p>
            <a:pPr algn="r"/>
            <a:r>
              <a:rPr lang="en-US" sz="3200" dirty="0">
                <a:solidFill>
                  <a:srgbClr val="FFC000"/>
                </a:solidFill>
              </a:rPr>
              <a:t>… [</a:t>
            </a:r>
            <a:r>
              <a:rPr lang="en-US" sz="32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….</a:t>
            </a:r>
            <a:r>
              <a:rPr lang="en-US" sz="3200" dirty="0">
                <a:solidFill>
                  <a:srgbClr val="FFC000"/>
                </a:solidFill>
              </a:rPr>
              <a:t>]……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9F1F1AC-6561-4A89-FDAF-65FF81C786FE}"/>
              </a:ext>
            </a:extLst>
          </p:cNvPr>
          <p:cNvSpPr txBox="1"/>
          <p:nvPr/>
        </p:nvSpPr>
        <p:spPr>
          <a:xfrm>
            <a:off x="5620549" y="3105834"/>
            <a:ext cx="9509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</a:rPr>
              <a:t>YES</a:t>
            </a:r>
          </a:p>
        </p:txBody>
      </p:sp>
    </p:spTree>
    <p:extLst>
      <p:ext uri="{BB962C8B-B14F-4D97-AF65-F5344CB8AC3E}">
        <p14:creationId xmlns:p14="http://schemas.microsoft.com/office/powerpoint/2010/main" val="251540101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5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4F5321-C3C5-AB4B-1728-3B91BAC4C6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7998F5-A3CE-EBDB-8EFF-204A8FA20C9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800" dirty="0">
                <a:solidFill>
                  <a:srgbClr val="FFC000"/>
                </a:solidFill>
              </a:rPr>
              <a:t>OPERATOR OVERLOADING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B84FD1-44A5-69C9-4A47-7C0060EF5AB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Unit-04.01</a:t>
            </a:r>
          </a:p>
        </p:txBody>
      </p:sp>
    </p:spTree>
    <p:extLst>
      <p:ext uri="{BB962C8B-B14F-4D97-AF65-F5344CB8AC3E}">
        <p14:creationId xmlns:p14="http://schemas.microsoft.com/office/powerpoint/2010/main" val="362875013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5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A5B414B-8E47-0CB5-A856-468127D28C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>
            <a:extLst>
              <a:ext uri="{FF2B5EF4-FFF2-40B4-BE49-F238E27FC236}">
                <a16:creationId xmlns:a16="http://schemas.microsoft.com/office/drawing/2014/main" id="{4ABDCE12-663B-184A-60B2-EE6332560A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11957" y="0"/>
            <a:ext cx="6164073" cy="576982"/>
          </a:xfrm>
        </p:spPr>
        <p:txBody>
          <a:bodyPr>
            <a:noAutofit/>
          </a:bodyPr>
          <a:lstStyle/>
          <a:p>
            <a:r>
              <a:rPr lang="en-US" sz="3200" dirty="0">
                <a:solidFill>
                  <a:srgbClr val="FFC000"/>
                </a:solidFill>
              </a:rPr>
              <a:t>OP.OVER-LOADING [</a:t>
            </a:r>
            <a:r>
              <a:rPr lang="en-US" sz="32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….</a:t>
            </a:r>
            <a:r>
              <a:rPr lang="en-US" sz="3200" dirty="0">
                <a:solidFill>
                  <a:srgbClr val="FFC000"/>
                </a:solidFill>
              </a:rPr>
              <a:t>]……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DA5E059-77D8-8C6A-B6EE-6998E96F3C3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3522" b="3522"/>
          <a:stretch/>
        </p:blipFill>
        <p:spPr>
          <a:xfrm>
            <a:off x="2326184" y="897148"/>
            <a:ext cx="7771546" cy="5037826"/>
          </a:xfrm>
          <a:prstGeom prst="roundRect">
            <a:avLst>
              <a:gd name="adj" fmla="val 1243"/>
            </a:avLst>
          </a:prstGeom>
          <a:ln>
            <a:noFill/>
          </a:ln>
          <a:effectLst>
            <a:outerShdw blurRad="914547" dist="38100" dir="7800000" sx="106000" sy="106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106B0E9-DA56-9B97-BE28-2E0DDA822E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3403" y="5437996"/>
            <a:ext cx="6212219" cy="993955"/>
          </a:xfrm>
          <a:prstGeom prst="rect">
            <a:avLst/>
          </a:prstGeom>
          <a:ln>
            <a:solidFill>
              <a:schemeClr val="accent2"/>
            </a:solidFill>
          </a:ln>
        </p:spPr>
      </p:pic>
    </p:spTree>
    <p:extLst>
      <p:ext uri="{BB962C8B-B14F-4D97-AF65-F5344CB8AC3E}">
        <p14:creationId xmlns:p14="http://schemas.microsoft.com/office/powerpoint/2010/main" val="214458822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5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0DC1030-40F2-D1C4-9113-BC6875915C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>
            <a:extLst>
              <a:ext uri="{FF2B5EF4-FFF2-40B4-BE49-F238E27FC236}">
                <a16:creationId xmlns:a16="http://schemas.microsoft.com/office/drawing/2014/main" id="{5463253C-1D59-EE3C-D095-6F9212B7C6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11957" y="0"/>
            <a:ext cx="6164073" cy="576982"/>
          </a:xfrm>
        </p:spPr>
        <p:txBody>
          <a:bodyPr>
            <a:noAutofit/>
          </a:bodyPr>
          <a:lstStyle/>
          <a:p>
            <a:r>
              <a:rPr lang="en-US" sz="3200" dirty="0">
                <a:solidFill>
                  <a:srgbClr val="FFC000"/>
                </a:solidFill>
              </a:rPr>
              <a:t>OP.OVER-LOADING [</a:t>
            </a:r>
            <a:r>
              <a:rPr lang="en-US" sz="32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….</a:t>
            </a:r>
            <a:r>
              <a:rPr lang="en-US" sz="3200" dirty="0">
                <a:solidFill>
                  <a:srgbClr val="FFC000"/>
                </a:solidFill>
              </a:rPr>
              <a:t>]……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A5A8AC3-08BD-93B5-4C8E-F451B493674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3522" b="3522"/>
          <a:stretch/>
        </p:blipFill>
        <p:spPr>
          <a:xfrm>
            <a:off x="2326184" y="897148"/>
            <a:ext cx="7771546" cy="5037826"/>
          </a:xfrm>
          <a:prstGeom prst="roundRect">
            <a:avLst>
              <a:gd name="adj" fmla="val 1243"/>
            </a:avLst>
          </a:prstGeom>
          <a:ln>
            <a:noFill/>
          </a:ln>
          <a:effectLst>
            <a:outerShdw blurRad="914547" dist="38100" dir="7800000" sx="106000" sy="106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6297F86-4FCB-84DE-906E-6672C8CFA96B}"/>
              </a:ext>
            </a:extLst>
          </p:cNvPr>
          <p:cNvSpPr txBox="1">
            <a:spLocks/>
          </p:cNvSpPr>
          <p:nvPr/>
        </p:nvSpPr>
        <p:spPr>
          <a:xfrm>
            <a:off x="1524000" y="5564037"/>
            <a:ext cx="9144000" cy="114632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>
                <a:solidFill>
                  <a:srgbClr val="FFC000"/>
                </a:solidFill>
              </a:rPr>
              <a:t>This will fail.. But why?</a:t>
            </a:r>
          </a:p>
        </p:txBody>
      </p:sp>
    </p:spTree>
    <p:extLst>
      <p:ext uri="{BB962C8B-B14F-4D97-AF65-F5344CB8AC3E}">
        <p14:creationId xmlns:p14="http://schemas.microsoft.com/office/powerpoint/2010/main" val="308134977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5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0EAD69B-3215-88ED-84E2-28E02F7B12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>
            <a:extLst>
              <a:ext uri="{FF2B5EF4-FFF2-40B4-BE49-F238E27FC236}">
                <a16:creationId xmlns:a16="http://schemas.microsoft.com/office/drawing/2014/main" id="{BE0677EB-7C51-17BB-48C3-D4D87624FC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11957" y="0"/>
            <a:ext cx="6164073" cy="576982"/>
          </a:xfrm>
        </p:spPr>
        <p:txBody>
          <a:bodyPr>
            <a:noAutofit/>
          </a:bodyPr>
          <a:lstStyle/>
          <a:p>
            <a:r>
              <a:rPr lang="en-US" sz="3200" dirty="0">
                <a:solidFill>
                  <a:srgbClr val="FFC000"/>
                </a:solidFill>
              </a:rPr>
              <a:t>OP.OVER-LOADING [</a:t>
            </a:r>
            <a:r>
              <a:rPr lang="en-US" sz="32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….</a:t>
            </a:r>
            <a:r>
              <a:rPr lang="en-US" sz="3200" dirty="0">
                <a:solidFill>
                  <a:srgbClr val="FFC000"/>
                </a:solidFill>
              </a:rPr>
              <a:t>]……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AC81E88-0577-C786-6BDD-885017B8109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25" b="2936"/>
          <a:stretch/>
        </p:blipFill>
        <p:spPr>
          <a:xfrm>
            <a:off x="2326184" y="490716"/>
            <a:ext cx="7771546" cy="5650302"/>
          </a:xfrm>
          <a:prstGeom prst="roundRect">
            <a:avLst>
              <a:gd name="adj" fmla="val 1243"/>
            </a:avLst>
          </a:prstGeom>
          <a:ln>
            <a:noFill/>
          </a:ln>
          <a:effectLst>
            <a:outerShdw blurRad="914547" dist="38100" dir="7800000" sx="106000" sy="106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AACCDD2-109F-46C0-8A5E-DC20ECFD69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67284"/>
            <a:ext cx="2815208" cy="450433"/>
          </a:xfrm>
          <a:prstGeom prst="rect">
            <a:avLst/>
          </a:prstGeom>
          <a:ln>
            <a:solidFill>
              <a:schemeClr val="accent2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8D2A480-5AC0-3065-6CCE-CAC853F77DF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62966" y="5813746"/>
            <a:ext cx="6212219" cy="919155"/>
          </a:xfrm>
          <a:prstGeom prst="rect">
            <a:avLst/>
          </a:prstGeom>
          <a:ln>
            <a:solidFill>
              <a:schemeClr val="accent2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9142662-F92D-8B10-6311-6F715669DA25}"/>
              </a:ext>
            </a:extLst>
          </p:cNvPr>
          <p:cNvSpPr txBox="1"/>
          <p:nvPr/>
        </p:nvSpPr>
        <p:spPr>
          <a:xfrm>
            <a:off x="-38460" y="6069485"/>
            <a:ext cx="13805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Previously…</a:t>
            </a:r>
          </a:p>
        </p:txBody>
      </p:sp>
    </p:spTree>
    <p:extLst>
      <p:ext uri="{BB962C8B-B14F-4D97-AF65-F5344CB8AC3E}">
        <p14:creationId xmlns:p14="http://schemas.microsoft.com/office/powerpoint/2010/main" val="342662570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5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9BAE2FD-E10B-02AE-EA53-76DB3B91FD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>
            <a:extLst>
              <a:ext uri="{FF2B5EF4-FFF2-40B4-BE49-F238E27FC236}">
                <a16:creationId xmlns:a16="http://schemas.microsoft.com/office/drawing/2014/main" id="{0FD47E45-BF49-9E82-1710-C49CA40ADC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11957" y="0"/>
            <a:ext cx="6164073" cy="576982"/>
          </a:xfrm>
        </p:spPr>
        <p:txBody>
          <a:bodyPr>
            <a:noAutofit/>
          </a:bodyPr>
          <a:lstStyle/>
          <a:p>
            <a:r>
              <a:rPr lang="en-US" sz="3200" dirty="0">
                <a:solidFill>
                  <a:srgbClr val="FFC000"/>
                </a:solidFill>
              </a:rPr>
              <a:t>OP.OVER-LOADING [</a:t>
            </a:r>
            <a:r>
              <a:rPr lang="en-US" sz="32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….</a:t>
            </a:r>
            <a:r>
              <a:rPr lang="en-US" sz="3200" dirty="0">
                <a:solidFill>
                  <a:srgbClr val="FFC000"/>
                </a:solidFill>
              </a:rPr>
              <a:t>]……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C74A72-AB39-DC8C-570D-336F88E61628}"/>
              </a:ext>
            </a:extLst>
          </p:cNvPr>
          <p:cNvSpPr txBox="1">
            <a:spLocks/>
          </p:cNvSpPr>
          <p:nvPr/>
        </p:nvSpPr>
        <p:spPr>
          <a:xfrm>
            <a:off x="1524000" y="3140015"/>
            <a:ext cx="9144000" cy="66324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>
                <a:solidFill>
                  <a:srgbClr val="FFC000"/>
                </a:solidFill>
              </a:rPr>
              <a:t>We can do interesting things like..</a:t>
            </a:r>
          </a:p>
        </p:txBody>
      </p:sp>
    </p:spTree>
    <p:extLst>
      <p:ext uri="{BB962C8B-B14F-4D97-AF65-F5344CB8AC3E}">
        <p14:creationId xmlns:p14="http://schemas.microsoft.com/office/powerpoint/2010/main" val="406266912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5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4904DA-7227-27B2-CD84-70665E905E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>
            <a:extLst>
              <a:ext uri="{FF2B5EF4-FFF2-40B4-BE49-F238E27FC236}">
                <a16:creationId xmlns:a16="http://schemas.microsoft.com/office/drawing/2014/main" id="{EBD56E3D-8570-7E3B-A62B-E9475464E9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11957" y="0"/>
            <a:ext cx="6164073" cy="576982"/>
          </a:xfrm>
        </p:spPr>
        <p:txBody>
          <a:bodyPr>
            <a:noAutofit/>
          </a:bodyPr>
          <a:lstStyle/>
          <a:p>
            <a:r>
              <a:rPr lang="en-US" sz="3200" dirty="0">
                <a:solidFill>
                  <a:srgbClr val="FFC000"/>
                </a:solidFill>
              </a:rPr>
              <a:t>OP.OVER-LOADING [</a:t>
            </a:r>
            <a:r>
              <a:rPr lang="en-US" sz="32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….</a:t>
            </a:r>
            <a:r>
              <a:rPr lang="en-US" sz="3200" dirty="0">
                <a:solidFill>
                  <a:srgbClr val="FFC000"/>
                </a:solidFill>
              </a:rPr>
              <a:t>]……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57480F9-7917-9701-C6A8-0974E13DA4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8" y="72832"/>
            <a:ext cx="5009673" cy="323308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F27E161-6D12-72BF-AD4C-CAD2EE2625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0546" y="2502938"/>
            <a:ext cx="5530036" cy="2791520"/>
          </a:xfrm>
          <a:prstGeom prst="rect">
            <a:avLst/>
          </a:prstGeom>
          <a:ln>
            <a:solidFill>
              <a:schemeClr val="accent2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4EC0BF0-D36B-ACFD-E47F-A9DA003513F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57023" y="3898698"/>
            <a:ext cx="4622992" cy="2791519"/>
          </a:xfrm>
          <a:prstGeom prst="rect">
            <a:avLst/>
          </a:prstGeom>
          <a:ln>
            <a:solidFill>
              <a:schemeClr val="accent2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A1A561E-A0DF-7DAC-F577-7EA6DCD7C2D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39294" y="5435279"/>
            <a:ext cx="4552706" cy="1422721"/>
          </a:xfrm>
          <a:prstGeom prst="rect">
            <a:avLst/>
          </a:prstGeom>
          <a:ln>
            <a:solidFill>
              <a:schemeClr val="accent2"/>
            </a:solidFill>
          </a:ln>
        </p:spPr>
      </p:pic>
    </p:spTree>
    <p:extLst>
      <p:ext uri="{BB962C8B-B14F-4D97-AF65-F5344CB8AC3E}">
        <p14:creationId xmlns:p14="http://schemas.microsoft.com/office/powerpoint/2010/main" val="149222997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5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178AB10-151D-0966-FF83-4B5F1A6911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>
            <a:extLst>
              <a:ext uri="{FF2B5EF4-FFF2-40B4-BE49-F238E27FC236}">
                <a16:creationId xmlns:a16="http://schemas.microsoft.com/office/drawing/2014/main" id="{4FD065AF-FE95-B2F6-42E2-B4BBAFF8D9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11957" y="0"/>
            <a:ext cx="6164073" cy="576982"/>
          </a:xfrm>
        </p:spPr>
        <p:txBody>
          <a:bodyPr>
            <a:noAutofit/>
          </a:bodyPr>
          <a:lstStyle/>
          <a:p>
            <a:r>
              <a:rPr lang="en-US" sz="3200" dirty="0">
                <a:solidFill>
                  <a:srgbClr val="FFC000"/>
                </a:solidFill>
              </a:rPr>
              <a:t>OP.OVER-LOADING [</a:t>
            </a:r>
            <a:r>
              <a:rPr lang="en-US" sz="32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….</a:t>
            </a:r>
            <a:r>
              <a:rPr lang="en-US" sz="3200" dirty="0">
                <a:solidFill>
                  <a:srgbClr val="FFC000"/>
                </a:solidFill>
              </a:rPr>
              <a:t>]……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D5F9B23-BC71-E676-8B50-776FC4B408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352" y="576982"/>
            <a:ext cx="5207575" cy="560815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809C054-4681-8FB2-FAA2-EB43473BB4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7593" y="3359989"/>
            <a:ext cx="5336396" cy="2825151"/>
          </a:xfrm>
          <a:prstGeom prst="rect">
            <a:avLst/>
          </a:prstGeom>
          <a:ln>
            <a:solidFill>
              <a:schemeClr val="accent2"/>
            </a:solidFill>
          </a:ln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C6694F8B-D1D4-3B75-6AA6-C4DA6B5D04A3}"/>
              </a:ext>
            </a:extLst>
          </p:cNvPr>
          <p:cNvSpPr txBox="1">
            <a:spLocks/>
          </p:cNvSpPr>
          <p:nvPr/>
        </p:nvSpPr>
        <p:spPr>
          <a:xfrm>
            <a:off x="3654725" y="1636862"/>
            <a:ext cx="9144000" cy="66324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6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>
                <a:solidFill>
                  <a:srgbClr val="FFC000"/>
                </a:solidFill>
              </a:rPr>
              <a:t>Can you modify</a:t>
            </a:r>
          </a:p>
          <a:p>
            <a:r>
              <a:rPr lang="en-US" sz="4000" dirty="0">
                <a:solidFill>
                  <a:srgbClr val="FFC000"/>
                </a:solidFill>
              </a:rPr>
              <a:t>previous program to achieve this?</a:t>
            </a:r>
          </a:p>
        </p:txBody>
      </p:sp>
    </p:spTree>
    <p:extLst>
      <p:ext uri="{BB962C8B-B14F-4D97-AF65-F5344CB8AC3E}">
        <p14:creationId xmlns:p14="http://schemas.microsoft.com/office/powerpoint/2010/main" val="65421073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5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500BAE-8DDA-314A-39E1-71B37DE95A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>
            <a:extLst>
              <a:ext uri="{FF2B5EF4-FFF2-40B4-BE49-F238E27FC236}">
                <a16:creationId xmlns:a16="http://schemas.microsoft.com/office/drawing/2014/main" id="{69DEE56A-7F10-2734-7BD4-027A50AA30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11957" y="0"/>
            <a:ext cx="6164073" cy="576982"/>
          </a:xfrm>
        </p:spPr>
        <p:txBody>
          <a:bodyPr>
            <a:noAutofit/>
          </a:bodyPr>
          <a:lstStyle/>
          <a:p>
            <a:r>
              <a:rPr lang="en-US" sz="3200" dirty="0">
                <a:solidFill>
                  <a:srgbClr val="FFC000"/>
                </a:solidFill>
              </a:rPr>
              <a:t>OP.OVER-LOADING [</a:t>
            </a:r>
            <a:r>
              <a:rPr lang="en-US" sz="32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….</a:t>
            </a:r>
            <a:r>
              <a:rPr lang="en-US" sz="3200" dirty="0">
                <a:solidFill>
                  <a:srgbClr val="FFC000"/>
                </a:solidFill>
              </a:rPr>
              <a:t>]……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D9360E2-AB5C-3A64-E328-01ED2CE9F5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6484" y="840592"/>
            <a:ext cx="3625516" cy="390440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97A5157-18C9-A365-DB78-78C4A7D173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66484" y="4893274"/>
            <a:ext cx="3625516" cy="1894703"/>
          </a:xfrm>
          <a:prstGeom prst="rect">
            <a:avLst/>
          </a:prstGeom>
          <a:ln>
            <a:solidFill>
              <a:schemeClr val="accent2"/>
            </a:solidFill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AFCCEC9-D226-E82F-CB58-B23614AF444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385" y="1288620"/>
            <a:ext cx="8234498" cy="4560244"/>
          </a:xfrm>
          <a:prstGeom prst="rect">
            <a:avLst/>
          </a:prstGeom>
        </p:spPr>
      </p:pic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41BFDF98-40E1-B40C-DC3F-C09C3558AB53}"/>
              </a:ext>
            </a:extLst>
          </p:cNvPr>
          <p:cNvSpPr/>
          <p:nvPr/>
        </p:nvSpPr>
        <p:spPr>
          <a:xfrm>
            <a:off x="1532237" y="1398718"/>
            <a:ext cx="1388725" cy="362464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?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DA2E4CF1-F49C-C5D2-D29D-B27952E626B4}"/>
              </a:ext>
            </a:extLst>
          </p:cNvPr>
          <p:cNvSpPr/>
          <p:nvPr/>
        </p:nvSpPr>
        <p:spPr>
          <a:xfrm>
            <a:off x="3045490" y="1415211"/>
            <a:ext cx="1388725" cy="362464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?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AE2C0FE7-F84A-1900-2E1E-FBB3ACFC1A04}"/>
              </a:ext>
            </a:extLst>
          </p:cNvPr>
          <p:cNvSpPr/>
          <p:nvPr/>
        </p:nvSpPr>
        <p:spPr>
          <a:xfrm>
            <a:off x="4558743" y="1423846"/>
            <a:ext cx="825733" cy="362464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?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CADDCAF1-A0EB-8D0F-4640-A47C59C29D67}"/>
              </a:ext>
            </a:extLst>
          </p:cNvPr>
          <p:cNvSpPr/>
          <p:nvPr/>
        </p:nvSpPr>
        <p:spPr>
          <a:xfrm>
            <a:off x="7106938" y="1428694"/>
            <a:ext cx="825733" cy="362464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?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7E33398E-D906-D585-398D-5821F0A69066}"/>
              </a:ext>
            </a:extLst>
          </p:cNvPr>
          <p:cNvSpPr/>
          <p:nvPr/>
        </p:nvSpPr>
        <p:spPr>
          <a:xfrm>
            <a:off x="5633531" y="1423846"/>
            <a:ext cx="1452156" cy="362464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?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44F93F82-9782-52ED-25E4-C92606A2843C}"/>
              </a:ext>
            </a:extLst>
          </p:cNvPr>
          <p:cNvSpPr/>
          <p:nvPr/>
        </p:nvSpPr>
        <p:spPr>
          <a:xfrm>
            <a:off x="1367481" y="2199503"/>
            <a:ext cx="3954162" cy="283270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?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CB78C03C-0C67-B961-54D1-D73E76111EED}"/>
              </a:ext>
            </a:extLst>
          </p:cNvPr>
          <p:cNvSpPr/>
          <p:nvPr/>
        </p:nvSpPr>
        <p:spPr>
          <a:xfrm>
            <a:off x="5420496" y="2190941"/>
            <a:ext cx="1878227" cy="283270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?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5D61F3E6-E469-6EAD-056E-743587C7C852}"/>
              </a:ext>
            </a:extLst>
          </p:cNvPr>
          <p:cNvSpPr/>
          <p:nvPr/>
        </p:nvSpPr>
        <p:spPr>
          <a:xfrm>
            <a:off x="1985318" y="2566688"/>
            <a:ext cx="3805882" cy="283270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?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9DFB5C18-73D9-E4C9-E9FC-97D1F6C545B1}"/>
              </a:ext>
            </a:extLst>
          </p:cNvPr>
          <p:cNvSpPr/>
          <p:nvPr/>
        </p:nvSpPr>
        <p:spPr>
          <a:xfrm>
            <a:off x="1985318" y="2966825"/>
            <a:ext cx="3805882" cy="283270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?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199E5B55-9602-51E0-9EE0-6BDE1BB65CC7}"/>
              </a:ext>
            </a:extLst>
          </p:cNvPr>
          <p:cNvSpPr/>
          <p:nvPr/>
        </p:nvSpPr>
        <p:spPr>
          <a:xfrm>
            <a:off x="1367481" y="3644803"/>
            <a:ext cx="3954162" cy="283270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?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854E7CD3-8096-0CAA-78DF-E125C2B41023}"/>
              </a:ext>
            </a:extLst>
          </p:cNvPr>
          <p:cNvSpPr/>
          <p:nvPr/>
        </p:nvSpPr>
        <p:spPr>
          <a:xfrm>
            <a:off x="5420496" y="3636241"/>
            <a:ext cx="1878227" cy="283270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?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E7EE1FB3-1742-F4D6-AA74-E42A79A0B031}"/>
              </a:ext>
            </a:extLst>
          </p:cNvPr>
          <p:cNvSpPr/>
          <p:nvPr/>
        </p:nvSpPr>
        <p:spPr>
          <a:xfrm>
            <a:off x="1985318" y="4011988"/>
            <a:ext cx="3805882" cy="283270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?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F74303FB-BA64-1E21-1C9A-0B7BE23DD412}"/>
              </a:ext>
            </a:extLst>
          </p:cNvPr>
          <p:cNvSpPr/>
          <p:nvPr/>
        </p:nvSpPr>
        <p:spPr>
          <a:xfrm>
            <a:off x="1985318" y="4412125"/>
            <a:ext cx="3805882" cy="283270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?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A4F95087-19EE-4C76-5523-B7DB4BAD2C65}"/>
              </a:ext>
            </a:extLst>
          </p:cNvPr>
          <p:cNvSpPr/>
          <p:nvPr/>
        </p:nvSpPr>
        <p:spPr>
          <a:xfrm>
            <a:off x="740257" y="5117223"/>
            <a:ext cx="1878227" cy="283270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?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99018EA6-691A-0898-18DE-6AAC72A43A8A}"/>
              </a:ext>
            </a:extLst>
          </p:cNvPr>
          <p:cNvSpPr/>
          <p:nvPr/>
        </p:nvSpPr>
        <p:spPr>
          <a:xfrm>
            <a:off x="119449" y="1390472"/>
            <a:ext cx="1388725" cy="362464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?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0C7D391E-EBF0-DDAF-C07D-77A36829A637}"/>
              </a:ext>
            </a:extLst>
          </p:cNvPr>
          <p:cNvSpPr/>
          <p:nvPr/>
        </p:nvSpPr>
        <p:spPr>
          <a:xfrm>
            <a:off x="739029" y="1782396"/>
            <a:ext cx="1388725" cy="362464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?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D37534F3-D079-7AA2-3664-E02341A1E030}"/>
              </a:ext>
            </a:extLst>
          </p:cNvPr>
          <p:cNvSpPr/>
          <p:nvPr/>
        </p:nvSpPr>
        <p:spPr>
          <a:xfrm>
            <a:off x="2149404" y="1778606"/>
            <a:ext cx="982680" cy="362464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?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D2BCCE6F-7644-4A46-3F0C-2215334D108C}"/>
              </a:ext>
            </a:extLst>
          </p:cNvPr>
          <p:cNvSpPr/>
          <p:nvPr/>
        </p:nvSpPr>
        <p:spPr>
          <a:xfrm>
            <a:off x="3170935" y="1799392"/>
            <a:ext cx="1810968" cy="362464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72481734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5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3B5E470-3DEF-CA59-E73C-71447D198F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>
            <a:extLst>
              <a:ext uri="{FF2B5EF4-FFF2-40B4-BE49-F238E27FC236}">
                <a16:creationId xmlns:a16="http://schemas.microsoft.com/office/drawing/2014/main" id="{E757D0F7-F6A6-5BB1-B0E2-342866B7D6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11957" y="0"/>
            <a:ext cx="6164073" cy="576982"/>
          </a:xfrm>
        </p:spPr>
        <p:txBody>
          <a:bodyPr>
            <a:noAutofit/>
          </a:bodyPr>
          <a:lstStyle/>
          <a:p>
            <a:r>
              <a:rPr lang="en-US" sz="3200" dirty="0">
                <a:solidFill>
                  <a:srgbClr val="FFC000"/>
                </a:solidFill>
              </a:rPr>
              <a:t>OP.OVER-LOADING [</a:t>
            </a:r>
            <a:r>
              <a:rPr lang="en-US" sz="32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….</a:t>
            </a:r>
            <a:r>
              <a:rPr lang="en-US" sz="3200" dirty="0">
                <a:solidFill>
                  <a:srgbClr val="FFC000"/>
                </a:solidFill>
              </a:rPr>
              <a:t>]……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2EE5248-B292-0FCE-E1B6-DB532EF586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6484" y="840592"/>
            <a:ext cx="3625516" cy="390440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1F00848-8511-5706-D6FA-F33B622CEB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66484" y="4893274"/>
            <a:ext cx="3625516" cy="1894703"/>
          </a:xfrm>
          <a:prstGeom prst="rect">
            <a:avLst/>
          </a:prstGeom>
          <a:ln>
            <a:solidFill>
              <a:schemeClr val="accent2"/>
            </a:solidFill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18B415D-B0C1-D5E8-217D-D14EB6CE22F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385" y="1288620"/>
            <a:ext cx="8234498" cy="4560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327739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5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66D8EF4-0792-A467-C076-9AE41C6E21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>
            <a:extLst>
              <a:ext uri="{FF2B5EF4-FFF2-40B4-BE49-F238E27FC236}">
                <a16:creationId xmlns:a16="http://schemas.microsoft.com/office/drawing/2014/main" id="{8BCF0867-E195-9D56-01BF-D78E45BA3C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74422" y="-140043"/>
            <a:ext cx="6164073" cy="576982"/>
          </a:xfrm>
        </p:spPr>
        <p:txBody>
          <a:bodyPr>
            <a:noAutofit/>
          </a:bodyPr>
          <a:lstStyle/>
          <a:p>
            <a:r>
              <a:rPr lang="en-US" sz="2400" dirty="0">
                <a:solidFill>
                  <a:srgbClr val="FFC000"/>
                </a:solidFill>
              </a:rPr>
              <a:t>OP.OVER-LOADING [</a:t>
            </a:r>
            <a:r>
              <a:rPr lang="en-US" sz="24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TRY THESE ??</a:t>
            </a:r>
            <a:r>
              <a:rPr lang="en-US" sz="2400" dirty="0">
                <a:solidFill>
                  <a:srgbClr val="FFC000"/>
                </a:solidFill>
              </a:rPr>
              <a:t>]……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3B4FC1E-702B-9088-E233-5AA4349338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878" y="247134"/>
            <a:ext cx="3680061" cy="2891477"/>
          </a:xfrm>
          <a:prstGeom prst="roundRect">
            <a:avLst>
              <a:gd name="adj" fmla="val 4545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6CCABAB-664E-B085-A4DF-3BA473C9D4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3675" y="576312"/>
            <a:ext cx="3632502" cy="5808012"/>
          </a:xfrm>
          <a:prstGeom prst="roundRect">
            <a:avLst>
              <a:gd name="adj" fmla="val 1699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2276FDE-664F-8753-6E23-E48D776EACA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49701" y="2892686"/>
            <a:ext cx="3694640" cy="3491638"/>
          </a:xfrm>
          <a:prstGeom prst="roundRect">
            <a:avLst>
              <a:gd name="adj" fmla="val 1205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89418CF-4715-2F17-09C5-76586162551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0730" y="4209196"/>
            <a:ext cx="3665493" cy="2175128"/>
          </a:xfrm>
          <a:prstGeom prst="roundRect">
            <a:avLst>
              <a:gd name="adj" fmla="val 2561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C10BAC3B-F37A-B08C-760F-049781F51657}"/>
              </a:ext>
            </a:extLst>
          </p:cNvPr>
          <p:cNvSpPr txBox="1">
            <a:spLocks/>
          </p:cNvSpPr>
          <p:nvPr/>
        </p:nvSpPr>
        <p:spPr>
          <a:xfrm>
            <a:off x="2791639" y="1243944"/>
            <a:ext cx="6608721" cy="111344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0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>
                <a:solidFill>
                  <a:srgbClr val="FFC000"/>
                </a:solidFill>
              </a:rPr>
              <a:t> I GAVE YOU THE RECIEPE</a:t>
            </a:r>
          </a:p>
          <a:p>
            <a:r>
              <a:rPr lang="en-US" sz="2400" dirty="0">
                <a:solidFill>
                  <a:srgbClr val="FFC000"/>
                </a:solidFill>
              </a:rPr>
              <a:t>NOW BE THE CHEF…</a:t>
            </a:r>
          </a:p>
          <a:p>
            <a:r>
              <a:rPr lang="en-US" sz="2400" dirty="0">
                <a:solidFill>
                  <a:srgbClr val="FFC000"/>
                </a:solidFill>
              </a:rPr>
              <a:t>…check if all of these are valid?</a:t>
            </a:r>
          </a:p>
          <a:p>
            <a:endParaRPr lang="en-US" sz="2400" dirty="0">
              <a:solidFill>
                <a:srgbClr val="FFC000"/>
              </a:solidFill>
            </a:endParaRPr>
          </a:p>
          <a:p>
            <a:r>
              <a:rPr lang="en-US" sz="2400" dirty="0">
                <a:solidFill>
                  <a:srgbClr val="FFC000"/>
                </a:solidFill>
              </a:rPr>
              <a:t>FIGURE OUT WHAT IS NOT POSSIBLE</a:t>
            </a:r>
          </a:p>
        </p:txBody>
      </p:sp>
    </p:spTree>
    <p:extLst>
      <p:ext uri="{BB962C8B-B14F-4D97-AF65-F5344CB8AC3E}">
        <p14:creationId xmlns:p14="http://schemas.microsoft.com/office/powerpoint/2010/main" val="287453262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5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278C46-13FC-7F67-79A1-F73CDDC267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>
            <a:extLst>
              <a:ext uri="{FF2B5EF4-FFF2-40B4-BE49-F238E27FC236}">
                <a16:creationId xmlns:a16="http://schemas.microsoft.com/office/drawing/2014/main" id="{129CB083-C5DF-3B9C-5F42-0DE086135F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74422" y="-140043"/>
            <a:ext cx="6164073" cy="576982"/>
          </a:xfrm>
        </p:spPr>
        <p:txBody>
          <a:bodyPr>
            <a:noAutofit/>
          </a:bodyPr>
          <a:lstStyle/>
          <a:p>
            <a:r>
              <a:rPr lang="en-US" sz="2400" dirty="0">
                <a:solidFill>
                  <a:srgbClr val="FFC000"/>
                </a:solidFill>
              </a:rPr>
              <a:t>OP.OVER-LOADING [</a:t>
            </a:r>
            <a:r>
              <a:rPr lang="en-US" sz="24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TRY THESE ??</a:t>
            </a:r>
            <a:r>
              <a:rPr lang="en-US" sz="2400" dirty="0">
                <a:solidFill>
                  <a:srgbClr val="FFC000"/>
                </a:solidFill>
              </a:rPr>
              <a:t>]……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7A5E8675-1AF3-1F0F-BCB6-A006F3F254F3}"/>
              </a:ext>
            </a:extLst>
          </p:cNvPr>
          <p:cNvSpPr txBox="1">
            <a:spLocks/>
          </p:cNvSpPr>
          <p:nvPr/>
        </p:nvSpPr>
        <p:spPr>
          <a:xfrm>
            <a:off x="2791639" y="6088800"/>
            <a:ext cx="6608721" cy="57698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>
                <a:solidFill>
                  <a:srgbClr val="FFC000"/>
                </a:solidFill>
              </a:rPr>
              <a:t>Can you extend our program?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794E132-CD68-23A7-D303-B682E058E21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3953" b="80057"/>
          <a:stretch/>
        </p:blipFill>
        <p:spPr>
          <a:xfrm>
            <a:off x="1069349" y="1125247"/>
            <a:ext cx="3484943" cy="174900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C12FAB3-020A-A7D3-C88C-ED0A0BF736C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9944" b="67083"/>
          <a:stretch/>
        </p:blipFill>
        <p:spPr>
          <a:xfrm>
            <a:off x="1069348" y="3057974"/>
            <a:ext cx="3484943" cy="141900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60850C5-47E0-EDF2-A8C8-ED7D3F6ADFE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32759" b="55469"/>
          <a:stretch/>
        </p:blipFill>
        <p:spPr>
          <a:xfrm>
            <a:off x="1069348" y="4617879"/>
            <a:ext cx="3484942" cy="128766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A9DF4AC-62E1-0875-74A5-93AC5DE7D48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44532" b="36159"/>
          <a:stretch/>
        </p:blipFill>
        <p:spPr>
          <a:xfrm>
            <a:off x="4706858" y="1240662"/>
            <a:ext cx="3484942" cy="211200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3381DEC-C694-1574-566E-693648AC131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85110"/>
          <a:stretch/>
        </p:blipFill>
        <p:spPr>
          <a:xfrm>
            <a:off x="8344370" y="2677081"/>
            <a:ext cx="3484942" cy="162868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EF8B1F7-D356-5F5B-DBDD-15054FF8A87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63777" b="14953"/>
          <a:stretch/>
        </p:blipFill>
        <p:spPr>
          <a:xfrm>
            <a:off x="4706858" y="3491425"/>
            <a:ext cx="3484942" cy="2326505"/>
          </a:xfrm>
          <a:prstGeom prst="rect">
            <a:avLst/>
          </a:prstGeom>
        </p:spPr>
      </p:pic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68C2D4F5-B2DE-D979-1B30-54B2E5EFC8AE}"/>
              </a:ext>
            </a:extLst>
          </p:cNvPr>
          <p:cNvSpPr/>
          <p:nvPr/>
        </p:nvSpPr>
        <p:spPr>
          <a:xfrm>
            <a:off x="4706857" y="2932670"/>
            <a:ext cx="458267" cy="419996"/>
          </a:xfrm>
          <a:prstGeom prst="roundRect">
            <a:avLst>
              <a:gd name="adj" fmla="val 0"/>
            </a:avLst>
          </a:prstGeom>
          <a:solidFill>
            <a:schemeClr val="accent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/>
              <a:t>+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1622D853-DC59-1708-3887-EF32758B98C9}"/>
              </a:ext>
            </a:extLst>
          </p:cNvPr>
          <p:cNvSpPr/>
          <p:nvPr/>
        </p:nvSpPr>
        <p:spPr>
          <a:xfrm>
            <a:off x="4706856" y="5407340"/>
            <a:ext cx="878398" cy="419996"/>
          </a:xfrm>
          <a:prstGeom prst="roundRect">
            <a:avLst>
              <a:gd name="adj" fmla="val 0"/>
            </a:avLst>
          </a:prstGeom>
          <a:solidFill>
            <a:schemeClr val="accent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/>
              <a:t>+=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CE407723-1CBE-A9EA-9F47-2CF484F55511}"/>
              </a:ext>
            </a:extLst>
          </p:cNvPr>
          <p:cNvSpPr/>
          <p:nvPr/>
        </p:nvSpPr>
        <p:spPr>
          <a:xfrm>
            <a:off x="8340248" y="3885774"/>
            <a:ext cx="878398" cy="419996"/>
          </a:xfrm>
          <a:prstGeom prst="roundRect">
            <a:avLst>
              <a:gd name="adj" fmla="val 0"/>
            </a:avLst>
          </a:prstGeom>
          <a:solidFill>
            <a:schemeClr val="accent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/>
              <a:t>-=</a:t>
            </a:r>
          </a:p>
        </p:txBody>
      </p:sp>
    </p:spTree>
    <p:extLst>
      <p:ext uri="{BB962C8B-B14F-4D97-AF65-F5344CB8AC3E}">
        <p14:creationId xmlns:p14="http://schemas.microsoft.com/office/powerpoint/2010/main" val="12286597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15818</TotalTime>
  <Words>751</Words>
  <Application>Microsoft Macintosh PowerPoint</Application>
  <PresentationFormat>Widescreen</PresentationFormat>
  <Paragraphs>164</Paragraphs>
  <Slides>50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5" baseType="lpstr">
      <vt:lpstr>Aptos</vt:lpstr>
      <vt:lpstr>Aptos Display</vt:lpstr>
      <vt:lpstr>Arial</vt:lpstr>
      <vt:lpstr>Söhne</vt:lpstr>
      <vt:lpstr>Office Theme</vt:lpstr>
      <vt:lpstr>Struct, Operator Overloading &amp; Classes</vt:lpstr>
      <vt:lpstr>Struct</vt:lpstr>
      <vt:lpstr>Struct……</vt:lpstr>
      <vt:lpstr>Struct……</vt:lpstr>
      <vt:lpstr>Struct [Constructor]……</vt:lpstr>
      <vt:lpstr>Struct [Constructor]……</vt:lpstr>
      <vt:lpstr>Struct [Constructor]……</vt:lpstr>
      <vt:lpstr>Struct [Constructor]……</vt:lpstr>
      <vt:lpstr>Struct [Constructor]……</vt:lpstr>
      <vt:lpstr>Struct [Constructor]……</vt:lpstr>
      <vt:lpstr>Struct [Constructor]……</vt:lpstr>
      <vt:lpstr>Struct [Constructor]……</vt:lpstr>
      <vt:lpstr>Struct [Constructor]……</vt:lpstr>
      <vt:lpstr>Struct [Constructor]……</vt:lpstr>
      <vt:lpstr>Struct [Constructor]……</vt:lpstr>
      <vt:lpstr>Struct [Constructor]……</vt:lpstr>
      <vt:lpstr>Struct [Constructor]……</vt:lpstr>
      <vt:lpstr>Struct [Constructor]……</vt:lpstr>
      <vt:lpstr>Struct [Constructor]……</vt:lpstr>
      <vt:lpstr>Struct [Constructor]……</vt:lpstr>
      <vt:lpstr>Struct ……</vt:lpstr>
      <vt:lpstr>Struct [….]……</vt:lpstr>
      <vt:lpstr>Struct […]……</vt:lpstr>
      <vt:lpstr>Struct […]……</vt:lpstr>
      <vt:lpstr>Struct […]……</vt:lpstr>
      <vt:lpstr>Struct […]……</vt:lpstr>
      <vt:lpstr>Struct [ACCESS IDENTIFIER]……</vt:lpstr>
      <vt:lpstr>PowerPoint Presentation</vt:lpstr>
      <vt:lpstr>Struct [ACCESS IDENTIFIER]……</vt:lpstr>
      <vt:lpstr>Struct [ACCESS IDENTIFIER]……</vt:lpstr>
      <vt:lpstr>Struct […..]……</vt:lpstr>
      <vt:lpstr>Struct [Destructor]……</vt:lpstr>
      <vt:lpstr>Struct [POINTERS]……</vt:lpstr>
      <vt:lpstr>Struct [POINTERS]……</vt:lpstr>
      <vt:lpstr>… [….]……</vt:lpstr>
      <vt:lpstr>… [….]……</vt:lpstr>
      <vt:lpstr>… [….]……</vt:lpstr>
      <vt:lpstr>OP.OVERLOADING [….]……</vt:lpstr>
      <vt:lpstr>… [….]……</vt:lpstr>
      <vt:lpstr>OPERATOR OVERLOADING</vt:lpstr>
      <vt:lpstr>OP.OVER-LOADING [….]……</vt:lpstr>
      <vt:lpstr>OP.OVER-LOADING [….]……</vt:lpstr>
      <vt:lpstr>OP.OVER-LOADING [….]……</vt:lpstr>
      <vt:lpstr>OP.OVER-LOADING [….]……</vt:lpstr>
      <vt:lpstr>OP.OVER-LOADING [….]……</vt:lpstr>
      <vt:lpstr>OP.OVER-LOADING [….]……</vt:lpstr>
      <vt:lpstr>OP.OVER-LOADING [….]……</vt:lpstr>
      <vt:lpstr>OP.OVER-LOADING [….]……</vt:lpstr>
      <vt:lpstr>OP.OVER-LOADING [TRY THESE ??]……</vt:lpstr>
      <vt:lpstr>OP.OVER-LOADING [TRY THESE ??]……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Functions, Arrays, Vectors, Lists and for-loops</dc:title>
  <dc:creator>Bhandari, Keshav</dc:creator>
  <cp:lastModifiedBy>Bhandari, Keshav</cp:lastModifiedBy>
  <cp:revision>69</cp:revision>
  <dcterms:created xsi:type="dcterms:W3CDTF">2024-01-18T13:32:16Z</dcterms:created>
  <dcterms:modified xsi:type="dcterms:W3CDTF">2024-06-13T15:58:10Z</dcterms:modified>
</cp:coreProperties>
</file>
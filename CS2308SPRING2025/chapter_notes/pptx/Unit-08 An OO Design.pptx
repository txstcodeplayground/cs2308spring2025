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7" r:id="rId2"/>
    <p:sldId id="256" r:id="rId3"/>
    <p:sldId id="258" r:id="rId4"/>
    <p:sldId id="259" r:id="rId5"/>
    <p:sldId id="275" r:id="rId6"/>
    <p:sldId id="277" r:id="rId7"/>
    <p:sldId id="276" r:id="rId8"/>
    <p:sldId id="278" r:id="rId9"/>
    <p:sldId id="282" r:id="rId10"/>
    <p:sldId id="260" r:id="rId11"/>
    <p:sldId id="261" r:id="rId12"/>
    <p:sldId id="263" r:id="rId13"/>
    <p:sldId id="265" r:id="rId14"/>
    <p:sldId id="266" r:id="rId15"/>
    <p:sldId id="267" r:id="rId16"/>
    <p:sldId id="268" r:id="rId17"/>
    <p:sldId id="269" r:id="rId18"/>
    <p:sldId id="270" r:id="rId19"/>
    <p:sldId id="271" r:id="rId20"/>
    <p:sldId id="272" r:id="rId21"/>
    <p:sldId id="273" r:id="rId22"/>
    <p:sldId id="274"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89C4"/>
    <a:srgbClr val="3435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51"/>
    <p:restoredTop sz="94354"/>
  </p:normalViewPr>
  <p:slideViewPr>
    <p:cSldViewPr snapToGrid="0">
      <p:cViewPr varScale="1">
        <p:scale>
          <a:sx n="120" d="100"/>
          <a:sy n="120" d="100"/>
        </p:scale>
        <p:origin x="8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35D1C-2DAE-A844-AB28-6D356E73EE8D}" type="datetimeFigureOut">
              <a:rPr lang="en-US" smtClean="0"/>
              <a:t>6/21/24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AF8E0-C54F-AA4C-9564-2FD33EE1C5D9}" type="slidenum">
              <a:rPr lang="en-US" smtClean="0"/>
              <a:t>‹#›</a:t>
            </a:fld>
            <a:endParaRPr lang="en-US"/>
          </a:p>
        </p:txBody>
      </p:sp>
    </p:spTree>
    <p:extLst>
      <p:ext uri="{BB962C8B-B14F-4D97-AF65-F5344CB8AC3E}">
        <p14:creationId xmlns:p14="http://schemas.microsoft.com/office/powerpoint/2010/main" val="26213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24</a:t>
            </a:fld>
            <a:endParaRPr lang="en-US"/>
          </a:p>
        </p:txBody>
      </p:sp>
    </p:spTree>
    <p:extLst>
      <p:ext uri="{BB962C8B-B14F-4D97-AF65-F5344CB8AC3E}">
        <p14:creationId xmlns:p14="http://schemas.microsoft.com/office/powerpoint/2010/main" val="3370249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8AF8E0-C54F-AA4C-9564-2FD33EE1C5D9}" type="slidenum">
              <a:rPr lang="en-US" smtClean="0"/>
              <a:t>25</a:t>
            </a:fld>
            <a:endParaRPr lang="en-US"/>
          </a:p>
        </p:txBody>
      </p:sp>
    </p:spTree>
    <p:extLst>
      <p:ext uri="{BB962C8B-B14F-4D97-AF65-F5344CB8AC3E}">
        <p14:creationId xmlns:p14="http://schemas.microsoft.com/office/powerpoint/2010/main" val="663040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6257-958B-09D6-92F7-5B0310B8E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CB69D8-EB61-F9A8-5D1A-1F94741B9E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9E573C1-CC5F-0B20-19D7-E42F24682F61}"/>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2945A4A3-6948-F153-3318-377D94D70E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17D5C-E654-81BE-EC72-D4253B501030}"/>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7293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21C2A-904F-BFB4-AF47-8225BDBC14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645F5-62D0-0F7C-7C71-CE30089549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ED2AA-D3CB-6A87-F6F4-742C557D4621}"/>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8EBBA9E1-EAA3-B453-5B8B-652839EAC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FC1C9-53BA-938B-7D77-CAB8D9688DE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500447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B4A2-72E8-94B2-0D40-76DCD8C5A4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EA2FA4D-2759-214F-7B15-F7D3CECC42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F4A3E-16E9-9B32-F980-9BEE83C98C08}"/>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7F6C2826-3EB8-8571-8075-773114DBC7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CEE87-4B22-4F89-0EED-CB2BFB2B6F9B}"/>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409597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A06D-3A94-9587-31F9-927848D5A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FD2124-1628-6087-F974-BFC7A6A9C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4D2039-E8F0-87D2-C366-1116E08EC9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A380AFC-7D20-8F02-3AA6-BA3103765FCB}"/>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6" name="Footer Placeholder 5">
            <a:extLst>
              <a:ext uri="{FF2B5EF4-FFF2-40B4-BE49-F238E27FC236}">
                <a16:creationId xmlns:a16="http://schemas.microsoft.com/office/drawing/2014/main" id="{F6D5B6E6-EE80-CD45-575B-FC3411EB4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71D726-870A-E31F-7BE9-68A6B559EF47}"/>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454704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88248-201E-1071-490C-E2B0F0343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A88978-DF11-33E9-1476-F9EA8A0F8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D38A99-0E1F-72D2-C53C-B460A7A2F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DEB125-AAAB-196F-2350-8919EFFE0F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9DBE02-FA8F-0337-80CA-1B3A3BA26D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E06BCB-093A-41AE-D8AE-FB27B505FB62}"/>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8" name="Footer Placeholder 7">
            <a:extLst>
              <a:ext uri="{FF2B5EF4-FFF2-40B4-BE49-F238E27FC236}">
                <a16:creationId xmlns:a16="http://schemas.microsoft.com/office/drawing/2014/main" id="{4E4B73D1-5555-1D92-5FD0-BC4AD4F8F9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F417B4-3D69-508D-BF7B-2ECFF6F8F34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1915879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F3093-AC16-170B-1304-22A6DAB64B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99E668-1077-D884-04D6-9966E1589BAC}"/>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4" name="Footer Placeholder 3">
            <a:extLst>
              <a:ext uri="{FF2B5EF4-FFF2-40B4-BE49-F238E27FC236}">
                <a16:creationId xmlns:a16="http://schemas.microsoft.com/office/drawing/2014/main" id="{61E0396F-41FD-2200-1696-26C4E6AC018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B8B63-BC1B-A7AE-B6CC-F5772ACA91BE}"/>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935466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A44726-2BA3-55F8-0AC6-9D30DBE7F582}"/>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3" name="Footer Placeholder 2">
            <a:extLst>
              <a:ext uri="{FF2B5EF4-FFF2-40B4-BE49-F238E27FC236}">
                <a16:creationId xmlns:a16="http://schemas.microsoft.com/office/drawing/2014/main" id="{F2D660CA-9103-B6B8-F1D1-3B6BF891352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16655-419F-7504-3B29-E35A841B92CA}"/>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2185992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5877F-AC36-8E35-4BE0-FD9F07582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B48E8E-19CC-FE91-8EB8-5C6522CFE3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48FD99-AC54-EF58-38DC-685D17EE54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7FE06-565E-0B54-17B9-C2347ABBDC81}"/>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6" name="Footer Placeholder 5">
            <a:extLst>
              <a:ext uri="{FF2B5EF4-FFF2-40B4-BE49-F238E27FC236}">
                <a16:creationId xmlns:a16="http://schemas.microsoft.com/office/drawing/2014/main" id="{30E50E3F-AD08-9417-121D-D3416D6A5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0ACD8C-7008-0A11-6165-AED7670492CF}"/>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161304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0780B-49AA-3089-8278-C4E57A9F1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109CF7-752F-4095-BE92-E00EEA8FA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428BCA-DB5F-6B57-92BA-4981C4D1FE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84446-CE70-3231-1445-DB3A29FCF22D}"/>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6" name="Footer Placeholder 5">
            <a:extLst>
              <a:ext uri="{FF2B5EF4-FFF2-40B4-BE49-F238E27FC236}">
                <a16:creationId xmlns:a16="http://schemas.microsoft.com/office/drawing/2014/main" id="{12DD26CD-E88D-0741-149E-334963476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B4273E-225F-8B5C-0845-68E63BC32676}"/>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708806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FCF-812F-3892-08F6-D30690D39D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2774-DB26-BAE7-8990-1713463290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40DB4A-BD60-EC40-DE4F-66B96A97D82D}"/>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51271122-CEF0-6CE1-D304-347F6FC9C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1BFB4-DF8B-2FF4-59E7-DA7875D50502}"/>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426077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A505B1-2185-FE8C-6683-8010CE9CA4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CDFD91-1410-7EAE-CD08-F36286AAE4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B78F-B99D-2CAE-DE86-4A87A3C44CC8}"/>
              </a:ext>
            </a:extLst>
          </p:cNvPr>
          <p:cNvSpPr>
            <a:spLocks noGrp="1"/>
          </p:cNvSpPr>
          <p:nvPr>
            <p:ph type="dt" sz="half" idx="10"/>
          </p:nvPr>
        </p:nvSpPr>
        <p:spPr/>
        <p:txBody>
          <a:body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ED420540-874A-9F7F-A083-57DC2D85D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70CACF-7BAD-4BE5-E54B-C0344BED898D}"/>
              </a:ext>
            </a:extLst>
          </p:cNvPr>
          <p:cNvSpPr>
            <a:spLocks noGrp="1"/>
          </p:cNvSpPr>
          <p:nvPr>
            <p:ph type="sldNum" sz="quarter" idx="12"/>
          </p:nvPr>
        </p:nvSpPr>
        <p:spPr/>
        <p:txBody>
          <a:bodyPr/>
          <a:lstStyle/>
          <a:p>
            <a:fld id="{407B0DCE-EB0D-B345-B55B-5E162699D54F}" type="slidenum">
              <a:rPr lang="en-US" smtClean="0"/>
              <a:t>‹#›</a:t>
            </a:fld>
            <a:endParaRPr lang="en-US"/>
          </a:p>
        </p:txBody>
      </p:sp>
    </p:spTree>
    <p:extLst>
      <p:ext uri="{BB962C8B-B14F-4D97-AF65-F5344CB8AC3E}">
        <p14:creationId xmlns:p14="http://schemas.microsoft.com/office/powerpoint/2010/main" val="3613851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D04D-E994-0BCB-BE4C-C4CC95F508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DE37-3E3C-A2A2-66FC-5D147A979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EBDE9-86C6-6702-4539-53AD87CF29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ABD409-7894-914B-8B56-CBEFCA3FA783}" type="datetimeFigureOut">
              <a:rPr lang="en-US" smtClean="0"/>
              <a:t>6/21/24</a:t>
            </a:fld>
            <a:endParaRPr lang="en-US"/>
          </a:p>
        </p:txBody>
      </p:sp>
      <p:sp>
        <p:nvSpPr>
          <p:cNvPr id="5" name="Footer Placeholder 4">
            <a:extLst>
              <a:ext uri="{FF2B5EF4-FFF2-40B4-BE49-F238E27FC236}">
                <a16:creationId xmlns:a16="http://schemas.microsoft.com/office/drawing/2014/main" id="{980A18CB-38A8-D83F-9344-AAEEE77D9F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0B643C-D221-1074-2881-456D09D9C5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7B0DCE-EB0D-B345-B55B-5E162699D54F}" type="slidenum">
              <a:rPr lang="en-US" smtClean="0"/>
              <a:t>‹#›</a:t>
            </a:fld>
            <a:endParaRPr lang="en-US"/>
          </a:p>
        </p:txBody>
      </p:sp>
    </p:spTree>
    <p:extLst>
      <p:ext uri="{BB962C8B-B14F-4D97-AF65-F5344CB8AC3E}">
        <p14:creationId xmlns:p14="http://schemas.microsoft.com/office/powerpoint/2010/main" val="4074474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90E4-F9DC-82AF-75ED-0A354BC07D39}"/>
              </a:ext>
            </a:extLst>
          </p:cNvPr>
          <p:cNvSpPr>
            <a:spLocks noGrp="1"/>
          </p:cNvSpPr>
          <p:nvPr>
            <p:ph type="ctrTitle"/>
          </p:nvPr>
        </p:nvSpPr>
        <p:spPr/>
        <p:txBody>
          <a:bodyPr>
            <a:normAutofit/>
          </a:bodyPr>
          <a:lstStyle/>
          <a:p>
            <a:r>
              <a:rPr lang="en-US" sz="4800" dirty="0">
                <a:solidFill>
                  <a:srgbClr val="FFC000"/>
                </a:solidFill>
              </a:rPr>
              <a:t>Classes: An OO Design</a:t>
            </a:r>
          </a:p>
        </p:txBody>
      </p:sp>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p:txBody>
          <a:bodyPr/>
          <a:lstStyle/>
          <a:p>
            <a:r>
              <a:rPr lang="en-US" dirty="0">
                <a:solidFill>
                  <a:schemeClr val="bg1"/>
                </a:solidFill>
              </a:rPr>
              <a:t>Unit-08</a:t>
            </a:r>
          </a:p>
        </p:txBody>
      </p:sp>
    </p:spTree>
    <p:extLst>
      <p:ext uri="{BB962C8B-B14F-4D97-AF65-F5344CB8AC3E}">
        <p14:creationId xmlns:p14="http://schemas.microsoft.com/office/powerpoint/2010/main" val="843703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6DC56E5-B860-CE21-CA7A-DA4228912DE3}"/>
              </a:ext>
            </a:extLst>
          </p:cNvPr>
          <p:cNvSpPr>
            <a:spLocks noGrp="1"/>
          </p:cNvSpPr>
          <p:nvPr>
            <p:ph type="subTitle" idx="1"/>
          </p:nvPr>
        </p:nvSpPr>
        <p:spPr>
          <a:xfrm>
            <a:off x="1019735" y="2528047"/>
            <a:ext cx="10152530" cy="2097741"/>
          </a:xfrm>
        </p:spPr>
        <p:txBody>
          <a:bodyPr>
            <a:normAutofit/>
          </a:bodyPr>
          <a:lstStyle/>
          <a:p>
            <a:r>
              <a:rPr lang="en-US" sz="3600" dirty="0">
                <a:solidFill>
                  <a:schemeClr val="bg1"/>
                </a:solidFill>
              </a:rPr>
              <a:t>Understanding </a:t>
            </a:r>
            <a:r>
              <a:rPr lang="en-US" sz="3600" dirty="0">
                <a:solidFill>
                  <a:srgbClr val="FFC000"/>
                </a:solidFill>
              </a:rPr>
              <a:t>Object-Oriented Programming (OOP)</a:t>
            </a:r>
            <a:r>
              <a:rPr lang="en-US" sz="3600" dirty="0">
                <a:solidFill>
                  <a:schemeClr val="bg1"/>
                </a:solidFill>
              </a:rPr>
              <a:t> in C++17 involves diving into four fundamental concepts: </a:t>
            </a:r>
            <a:r>
              <a:rPr lang="en-US" sz="3600" dirty="0">
                <a:solidFill>
                  <a:srgbClr val="FFC000"/>
                </a:solidFill>
              </a:rPr>
              <a:t>Encapsulation, Inheritance, Polymorphism, and Abstraction</a:t>
            </a:r>
            <a:endParaRPr lang="en-US" sz="3600" dirty="0">
              <a:solidFill>
                <a:schemeClr val="bg1"/>
              </a:solidFill>
            </a:endParaRPr>
          </a:p>
        </p:txBody>
      </p:sp>
    </p:spTree>
    <p:extLst>
      <p:ext uri="{BB962C8B-B14F-4D97-AF65-F5344CB8AC3E}">
        <p14:creationId xmlns:p14="http://schemas.microsoft.com/office/powerpoint/2010/main" val="452291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AE7EBB-1807-F268-31D2-7B09435CF446}"/>
              </a:ext>
            </a:extLst>
          </p:cNvPr>
          <p:cNvPicPr>
            <a:picLocks noChangeAspect="1"/>
          </p:cNvPicPr>
          <p:nvPr/>
        </p:nvPicPr>
        <p:blipFill>
          <a:blip r:embed="rId2"/>
          <a:stretch>
            <a:fillRect/>
          </a:stretch>
        </p:blipFill>
        <p:spPr>
          <a:xfrm>
            <a:off x="1068697" y="1619374"/>
            <a:ext cx="10054605" cy="5238626"/>
          </a:xfrm>
          <a:prstGeom prst="rect">
            <a:avLst/>
          </a:prstGeom>
        </p:spPr>
      </p:pic>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1323439"/>
          </a:xfrm>
          <a:prstGeom prst="rect">
            <a:avLst/>
          </a:prstGeom>
          <a:noFill/>
        </p:spPr>
        <p:txBody>
          <a:bodyPr wrap="square">
            <a:spAutoFit/>
          </a:bodyPr>
          <a:lstStyle/>
          <a:p>
            <a:pPr algn="ctr"/>
            <a:r>
              <a:rPr lang="en-US" sz="3200" b="1" dirty="0">
                <a:solidFill>
                  <a:schemeClr val="accent1">
                    <a:lumMod val="40000"/>
                    <a:lumOff val="60000"/>
                  </a:schemeClr>
                </a:solidFill>
              </a:rPr>
              <a:t>Encapsulation</a:t>
            </a:r>
            <a:r>
              <a:rPr lang="en-US" sz="2400" dirty="0">
                <a:solidFill>
                  <a:schemeClr val="bg1"/>
                </a:solidFill>
              </a:rPr>
              <a:t> is about bundling the data (attributes) and methods (functions) that operate on the data into a single unit or class and restricting access to some of the object's components. This is achieved using access specifiers (</a:t>
            </a:r>
            <a:r>
              <a:rPr lang="en-US" sz="2400" dirty="0">
                <a:solidFill>
                  <a:srgbClr val="FFC000"/>
                </a:solidFill>
              </a:rPr>
              <a:t>private, protected, and public</a:t>
            </a:r>
            <a:r>
              <a:rPr lang="en-US" sz="2400" dirty="0">
                <a:solidFill>
                  <a:schemeClr val="bg1"/>
                </a:solidFill>
              </a:rPr>
              <a:t>).</a:t>
            </a:r>
          </a:p>
        </p:txBody>
      </p:sp>
    </p:spTree>
    <p:extLst>
      <p:ext uri="{BB962C8B-B14F-4D97-AF65-F5344CB8AC3E}">
        <p14:creationId xmlns:p14="http://schemas.microsoft.com/office/powerpoint/2010/main" val="2568699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AE7EBB-1807-F268-31D2-7B09435CF446}"/>
              </a:ext>
            </a:extLst>
          </p:cNvPr>
          <p:cNvPicPr>
            <a:picLocks noChangeAspect="1"/>
          </p:cNvPicPr>
          <p:nvPr/>
        </p:nvPicPr>
        <p:blipFill>
          <a:blip r:embed="rId2"/>
          <a:srcRect/>
          <a:stretch/>
        </p:blipFill>
        <p:spPr>
          <a:xfrm>
            <a:off x="-22236" y="1169735"/>
            <a:ext cx="12214235" cy="5688266"/>
          </a:xfrm>
          <a:prstGeom prst="rect">
            <a:avLst/>
          </a:prstGeom>
        </p:spPr>
      </p:pic>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954107"/>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allows you to create a </a:t>
            </a:r>
            <a:r>
              <a:rPr lang="en-US" sz="2400" b="0" i="0" dirty="0">
                <a:solidFill>
                  <a:srgbClr val="FFC000"/>
                </a:solidFill>
                <a:effectLst/>
                <a:highlight>
                  <a:srgbClr val="212121"/>
                </a:highlight>
                <a:latin typeface="Söhne"/>
              </a:rPr>
              <a:t>new class (derived class)</a:t>
            </a:r>
            <a:r>
              <a:rPr lang="en-US" sz="2400" b="0" i="0" dirty="0">
                <a:solidFill>
                  <a:srgbClr val="ECECEC"/>
                </a:solidFill>
                <a:effectLst/>
                <a:highlight>
                  <a:srgbClr val="212121"/>
                </a:highlight>
                <a:latin typeface="Söhne"/>
              </a:rPr>
              <a:t> that reuses, extends, and modifies the behavior of another </a:t>
            </a:r>
            <a:r>
              <a:rPr lang="en-US" sz="2400" b="0" i="0" dirty="0">
                <a:solidFill>
                  <a:srgbClr val="FFC000"/>
                </a:solidFill>
                <a:effectLst/>
                <a:highlight>
                  <a:srgbClr val="212121"/>
                </a:highlight>
                <a:latin typeface="Söhne"/>
              </a:rPr>
              <a:t>class (base class)</a:t>
            </a:r>
            <a:r>
              <a:rPr lang="en-US" sz="2400" b="0" i="0" dirty="0">
                <a:solidFill>
                  <a:srgbClr val="ECECEC"/>
                </a:solidFill>
                <a:effectLst/>
                <a:highlight>
                  <a:srgbClr val="212121"/>
                </a:highlight>
                <a:latin typeface="Söhne"/>
              </a:rPr>
              <a:t>. This is a way to form a hierarchy of classes.</a:t>
            </a:r>
            <a:endParaRPr lang="en-US" sz="2400" dirty="0">
              <a:solidFill>
                <a:schemeClr val="bg1"/>
              </a:solidFill>
            </a:endParaRPr>
          </a:p>
        </p:txBody>
      </p:sp>
      <p:pic>
        <p:nvPicPr>
          <p:cNvPr id="2" name="Picture 1">
            <a:extLst>
              <a:ext uri="{FF2B5EF4-FFF2-40B4-BE49-F238E27FC236}">
                <a16:creationId xmlns:a16="http://schemas.microsoft.com/office/drawing/2014/main" id="{2AE4F6F0-062B-D7D0-A050-27E4F4B76685}"/>
              </a:ext>
            </a:extLst>
          </p:cNvPr>
          <p:cNvPicPr>
            <a:picLocks noChangeAspect="1"/>
          </p:cNvPicPr>
          <p:nvPr/>
        </p:nvPicPr>
        <p:blipFill>
          <a:blip r:embed="rId3"/>
          <a:stretch>
            <a:fillRect/>
          </a:stretch>
        </p:blipFill>
        <p:spPr>
          <a:xfrm>
            <a:off x="8258979" y="1909121"/>
            <a:ext cx="3933020" cy="1519879"/>
          </a:xfrm>
          <a:prstGeom prst="rect">
            <a:avLst/>
          </a:prstGeom>
        </p:spPr>
      </p:pic>
    </p:spTree>
    <p:extLst>
      <p:ext uri="{BB962C8B-B14F-4D97-AF65-F5344CB8AC3E}">
        <p14:creationId xmlns:p14="http://schemas.microsoft.com/office/powerpoint/2010/main" val="233235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954107"/>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allows you to create a </a:t>
            </a:r>
            <a:r>
              <a:rPr lang="en-US" sz="2400" b="0" i="0" dirty="0">
                <a:solidFill>
                  <a:srgbClr val="FFC000"/>
                </a:solidFill>
                <a:effectLst/>
                <a:highlight>
                  <a:srgbClr val="212121"/>
                </a:highlight>
                <a:latin typeface="Söhne"/>
              </a:rPr>
              <a:t>new class (derived class)</a:t>
            </a:r>
            <a:r>
              <a:rPr lang="en-US" sz="2400" b="0" i="0" dirty="0">
                <a:solidFill>
                  <a:srgbClr val="ECECEC"/>
                </a:solidFill>
                <a:effectLst/>
                <a:highlight>
                  <a:srgbClr val="212121"/>
                </a:highlight>
                <a:latin typeface="Söhne"/>
              </a:rPr>
              <a:t> that reuses, extends, and modifies the behavior of another </a:t>
            </a:r>
            <a:r>
              <a:rPr lang="en-US" sz="2400" b="0" i="0" dirty="0">
                <a:solidFill>
                  <a:srgbClr val="FFC000"/>
                </a:solidFill>
                <a:effectLst/>
                <a:highlight>
                  <a:srgbClr val="212121"/>
                </a:highlight>
                <a:latin typeface="Söhne"/>
              </a:rPr>
              <a:t>class (base class)</a:t>
            </a:r>
            <a:r>
              <a:rPr lang="en-US" sz="2400" b="0" i="0" dirty="0">
                <a:solidFill>
                  <a:srgbClr val="ECECEC"/>
                </a:solidFill>
                <a:effectLst/>
                <a:highlight>
                  <a:srgbClr val="212121"/>
                </a:highlight>
                <a:latin typeface="Söhne"/>
              </a:rPr>
              <a:t>. This is a way to form a hierarchy of classes.</a:t>
            </a:r>
            <a:endParaRPr lang="en-US" sz="2400" dirty="0">
              <a:solidFill>
                <a:schemeClr val="bg1"/>
              </a:solidFill>
            </a:endParaRPr>
          </a:p>
        </p:txBody>
      </p:sp>
      <p:pic>
        <p:nvPicPr>
          <p:cNvPr id="3" name="Picture 2">
            <a:extLst>
              <a:ext uri="{FF2B5EF4-FFF2-40B4-BE49-F238E27FC236}">
                <a16:creationId xmlns:a16="http://schemas.microsoft.com/office/drawing/2014/main" id="{4D4AF599-5EA8-78FE-94F8-708F14ECA864}"/>
              </a:ext>
            </a:extLst>
          </p:cNvPr>
          <p:cNvPicPr>
            <a:picLocks noChangeAspect="1"/>
          </p:cNvPicPr>
          <p:nvPr/>
        </p:nvPicPr>
        <p:blipFill>
          <a:blip r:embed="rId2"/>
          <a:stretch>
            <a:fillRect/>
          </a:stretch>
        </p:blipFill>
        <p:spPr>
          <a:xfrm>
            <a:off x="1349423" y="1363444"/>
            <a:ext cx="9493153" cy="5082325"/>
          </a:xfrm>
          <a:prstGeom prst="rect">
            <a:avLst/>
          </a:prstGeom>
        </p:spPr>
      </p:pic>
    </p:spTree>
    <p:extLst>
      <p:ext uri="{BB962C8B-B14F-4D97-AF65-F5344CB8AC3E}">
        <p14:creationId xmlns:p14="http://schemas.microsoft.com/office/powerpoint/2010/main" val="2400087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954107"/>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allows you to create a </a:t>
            </a:r>
            <a:r>
              <a:rPr lang="en-US" sz="2400" b="0" i="0" dirty="0">
                <a:solidFill>
                  <a:srgbClr val="FFC000"/>
                </a:solidFill>
                <a:effectLst/>
                <a:highlight>
                  <a:srgbClr val="212121"/>
                </a:highlight>
                <a:latin typeface="Söhne"/>
              </a:rPr>
              <a:t>new class (derived class)</a:t>
            </a:r>
            <a:r>
              <a:rPr lang="en-US" sz="2400" b="0" i="0" dirty="0">
                <a:solidFill>
                  <a:srgbClr val="ECECEC"/>
                </a:solidFill>
                <a:effectLst/>
                <a:highlight>
                  <a:srgbClr val="212121"/>
                </a:highlight>
                <a:latin typeface="Söhne"/>
              </a:rPr>
              <a:t> that reuses, extends, and modifies the behavior of another </a:t>
            </a:r>
            <a:r>
              <a:rPr lang="en-US" sz="2400" b="0" i="0" dirty="0">
                <a:solidFill>
                  <a:srgbClr val="FFC000"/>
                </a:solidFill>
                <a:effectLst/>
                <a:highlight>
                  <a:srgbClr val="212121"/>
                </a:highlight>
                <a:latin typeface="Söhne"/>
              </a:rPr>
              <a:t>class (base class)</a:t>
            </a:r>
            <a:r>
              <a:rPr lang="en-US" sz="2400" b="0" i="0" dirty="0">
                <a:solidFill>
                  <a:srgbClr val="ECECEC"/>
                </a:solidFill>
                <a:effectLst/>
                <a:highlight>
                  <a:srgbClr val="212121"/>
                </a:highlight>
                <a:latin typeface="Söhne"/>
              </a:rPr>
              <a:t>. This is a way to form a hierarchy of classes.</a:t>
            </a:r>
            <a:endParaRPr lang="en-US" sz="2400" dirty="0">
              <a:solidFill>
                <a:schemeClr val="bg1"/>
              </a:solidFill>
            </a:endParaRPr>
          </a:p>
        </p:txBody>
      </p:sp>
      <p:pic>
        <p:nvPicPr>
          <p:cNvPr id="3" name="Picture 2">
            <a:extLst>
              <a:ext uri="{FF2B5EF4-FFF2-40B4-BE49-F238E27FC236}">
                <a16:creationId xmlns:a16="http://schemas.microsoft.com/office/drawing/2014/main" id="{3E81B866-CD93-E5A8-0293-13FA7234CA93}"/>
              </a:ext>
            </a:extLst>
          </p:cNvPr>
          <p:cNvPicPr>
            <a:picLocks noChangeAspect="1"/>
          </p:cNvPicPr>
          <p:nvPr/>
        </p:nvPicPr>
        <p:blipFill>
          <a:blip r:embed="rId2"/>
          <a:stretch>
            <a:fillRect/>
          </a:stretch>
        </p:blipFill>
        <p:spPr>
          <a:xfrm>
            <a:off x="1657419" y="1423404"/>
            <a:ext cx="8877161" cy="4752543"/>
          </a:xfrm>
          <a:prstGeom prst="rect">
            <a:avLst/>
          </a:prstGeom>
        </p:spPr>
      </p:pic>
    </p:spTree>
    <p:extLst>
      <p:ext uri="{BB962C8B-B14F-4D97-AF65-F5344CB8AC3E}">
        <p14:creationId xmlns:p14="http://schemas.microsoft.com/office/powerpoint/2010/main" val="3585225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954107"/>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allows you to create a </a:t>
            </a:r>
            <a:r>
              <a:rPr lang="en-US" sz="2400" b="0" i="0" dirty="0">
                <a:solidFill>
                  <a:srgbClr val="FFC000"/>
                </a:solidFill>
                <a:effectLst/>
                <a:highlight>
                  <a:srgbClr val="212121"/>
                </a:highlight>
                <a:latin typeface="Söhne"/>
              </a:rPr>
              <a:t>new class (derived class)</a:t>
            </a:r>
            <a:r>
              <a:rPr lang="en-US" sz="2400" b="0" i="0" dirty="0">
                <a:solidFill>
                  <a:srgbClr val="ECECEC"/>
                </a:solidFill>
                <a:effectLst/>
                <a:highlight>
                  <a:srgbClr val="212121"/>
                </a:highlight>
                <a:latin typeface="Söhne"/>
              </a:rPr>
              <a:t> that reuses, extends, and modifies the behavior of another </a:t>
            </a:r>
            <a:r>
              <a:rPr lang="en-US" sz="2400" b="0" i="0" dirty="0">
                <a:solidFill>
                  <a:srgbClr val="FFC000"/>
                </a:solidFill>
                <a:effectLst/>
                <a:highlight>
                  <a:srgbClr val="212121"/>
                </a:highlight>
                <a:latin typeface="Söhne"/>
              </a:rPr>
              <a:t>class (base class)</a:t>
            </a:r>
            <a:r>
              <a:rPr lang="en-US" sz="2400" b="0" i="0" dirty="0">
                <a:solidFill>
                  <a:srgbClr val="ECECEC"/>
                </a:solidFill>
                <a:effectLst/>
                <a:highlight>
                  <a:srgbClr val="212121"/>
                </a:highlight>
                <a:latin typeface="Söhne"/>
              </a:rPr>
              <a:t>. This is a way to form a hierarchy of classes.</a:t>
            </a:r>
            <a:endParaRPr lang="en-US" sz="2400" dirty="0">
              <a:solidFill>
                <a:schemeClr val="bg1"/>
              </a:solidFill>
            </a:endParaRPr>
          </a:p>
        </p:txBody>
      </p:sp>
      <p:pic>
        <p:nvPicPr>
          <p:cNvPr id="2" name="Picture 1">
            <a:extLst>
              <a:ext uri="{FF2B5EF4-FFF2-40B4-BE49-F238E27FC236}">
                <a16:creationId xmlns:a16="http://schemas.microsoft.com/office/drawing/2014/main" id="{DA0845B4-DFEA-D60F-AC2E-BEF7775B8603}"/>
              </a:ext>
            </a:extLst>
          </p:cNvPr>
          <p:cNvPicPr>
            <a:picLocks noChangeAspect="1"/>
          </p:cNvPicPr>
          <p:nvPr/>
        </p:nvPicPr>
        <p:blipFill>
          <a:blip r:embed="rId2"/>
          <a:stretch>
            <a:fillRect/>
          </a:stretch>
        </p:blipFill>
        <p:spPr>
          <a:xfrm>
            <a:off x="1577352" y="1473096"/>
            <a:ext cx="9037296" cy="4687862"/>
          </a:xfrm>
          <a:prstGeom prst="rect">
            <a:avLst/>
          </a:prstGeom>
        </p:spPr>
      </p:pic>
    </p:spTree>
    <p:extLst>
      <p:ext uri="{BB962C8B-B14F-4D97-AF65-F5344CB8AC3E}">
        <p14:creationId xmlns:p14="http://schemas.microsoft.com/office/powerpoint/2010/main" val="3132517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584775"/>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method resolution.</a:t>
            </a:r>
            <a:endParaRPr lang="en-US" sz="2400" dirty="0">
              <a:solidFill>
                <a:schemeClr val="bg1"/>
              </a:solidFill>
            </a:endParaRPr>
          </a:p>
        </p:txBody>
      </p:sp>
      <p:pic>
        <p:nvPicPr>
          <p:cNvPr id="2" name="Picture 1">
            <a:extLst>
              <a:ext uri="{FF2B5EF4-FFF2-40B4-BE49-F238E27FC236}">
                <a16:creationId xmlns:a16="http://schemas.microsoft.com/office/drawing/2014/main" id="{2577F185-C2FD-D168-DAA0-3968529739BF}"/>
              </a:ext>
            </a:extLst>
          </p:cNvPr>
          <p:cNvPicPr>
            <a:picLocks noChangeAspect="1"/>
          </p:cNvPicPr>
          <p:nvPr/>
        </p:nvPicPr>
        <p:blipFill>
          <a:blip r:embed="rId2"/>
          <a:stretch>
            <a:fillRect/>
          </a:stretch>
        </p:blipFill>
        <p:spPr>
          <a:xfrm>
            <a:off x="5884955" y="742066"/>
            <a:ext cx="5965388" cy="6115934"/>
          </a:xfrm>
          <a:prstGeom prst="rect">
            <a:avLst/>
          </a:prstGeom>
        </p:spPr>
      </p:pic>
      <p:sp>
        <p:nvSpPr>
          <p:cNvPr id="3" name="TextBox 2">
            <a:extLst>
              <a:ext uri="{FF2B5EF4-FFF2-40B4-BE49-F238E27FC236}">
                <a16:creationId xmlns:a16="http://schemas.microsoft.com/office/drawing/2014/main" id="{C9117432-87F7-D940-D51D-8C12047A3136}"/>
              </a:ext>
            </a:extLst>
          </p:cNvPr>
          <p:cNvSpPr txBox="1"/>
          <p:nvPr/>
        </p:nvSpPr>
        <p:spPr>
          <a:xfrm>
            <a:off x="341657" y="1537875"/>
            <a:ext cx="5340595" cy="4524315"/>
          </a:xfrm>
          <a:prstGeom prst="rect">
            <a:avLst/>
          </a:prstGeom>
          <a:noFill/>
        </p:spPr>
        <p:txBody>
          <a:bodyPr wrap="square" rtlCol="0">
            <a:spAutoFit/>
          </a:bodyPr>
          <a:lstStyle/>
          <a:p>
            <a:pPr algn="ctr"/>
            <a:r>
              <a:rPr lang="en-US" sz="2400" dirty="0">
                <a:solidFill>
                  <a:schemeClr val="bg1"/>
                </a:solidFill>
              </a:rPr>
              <a:t>In C++, if you want to call a function of a parent class instead of an overridden function in the current class, you can do so by explicitly specifying the parent class's name followed by the scope resolution operator (::) before the function name. This is useful in cases where you have a function in a base class that has been overridden in a derived class, but you still need to access the original version of the function from the derived class.</a:t>
            </a:r>
          </a:p>
        </p:txBody>
      </p:sp>
    </p:spTree>
    <p:extLst>
      <p:ext uri="{BB962C8B-B14F-4D97-AF65-F5344CB8AC3E}">
        <p14:creationId xmlns:p14="http://schemas.microsoft.com/office/powerpoint/2010/main" val="4072473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57291"/>
            <a:ext cx="12053046" cy="584775"/>
          </a:xfrm>
          <a:prstGeom prst="rect">
            <a:avLst/>
          </a:prstGeom>
          <a:noFill/>
        </p:spPr>
        <p:txBody>
          <a:bodyPr wrap="square">
            <a:spAutoFit/>
          </a:bodyPr>
          <a:lstStyle/>
          <a:p>
            <a:pPr algn="ctr"/>
            <a:r>
              <a:rPr lang="en-US" sz="3200" b="1" dirty="0">
                <a:solidFill>
                  <a:schemeClr val="accent1">
                    <a:lumMod val="40000"/>
                    <a:lumOff val="60000"/>
                  </a:schemeClr>
                </a:solidFill>
              </a:rPr>
              <a:t>Inheritance</a:t>
            </a:r>
            <a:r>
              <a:rPr lang="en-US" sz="2400" dirty="0">
                <a:solidFill>
                  <a:schemeClr val="bg1"/>
                </a:solidFill>
              </a:rPr>
              <a:t> </a:t>
            </a:r>
            <a:r>
              <a:rPr lang="en-US" sz="2400" b="0" i="0" dirty="0">
                <a:solidFill>
                  <a:srgbClr val="ECECEC"/>
                </a:solidFill>
                <a:effectLst/>
                <a:highlight>
                  <a:srgbClr val="212121"/>
                </a:highlight>
                <a:latin typeface="Söhne"/>
              </a:rPr>
              <a:t>method resolution.</a:t>
            </a:r>
            <a:endParaRPr lang="en-US" sz="2400" dirty="0">
              <a:solidFill>
                <a:schemeClr val="bg1"/>
              </a:solidFill>
            </a:endParaRPr>
          </a:p>
        </p:txBody>
      </p:sp>
      <p:pic>
        <p:nvPicPr>
          <p:cNvPr id="4" name="Picture 3">
            <a:extLst>
              <a:ext uri="{FF2B5EF4-FFF2-40B4-BE49-F238E27FC236}">
                <a16:creationId xmlns:a16="http://schemas.microsoft.com/office/drawing/2014/main" id="{D3914374-96EA-02FB-40F3-745F4D9F36FD}"/>
              </a:ext>
            </a:extLst>
          </p:cNvPr>
          <p:cNvPicPr>
            <a:picLocks noChangeAspect="1"/>
          </p:cNvPicPr>
          <p:nvPr/>
        </p:nvPicPr>
        <p:blipFill>
          <a:blip r:embed="rId2"/>
          <a:stretch>
            <a:fillRect/>
          </a:stretch>
        </p:blipFill>
        <p:spPr>
          <a:xfrm>
            <a:off x="169208" y="1300630"/>
            <a:ext cx="8611721" cy="2404412"/>
          </a:xfrm>
          <a:prstGeom prst="rect">
            <a:avLst/>
          </a:prstGeom>
        </p:spPr>
      </p:pic>
      <p:pic>
        <p:nvPicPr>
          <p:cNvPr id="5" name="Picture 4">
            <a:extLst>
              <a:ext uri="{FF2B5EF4-FFF2-40B4-BE49-F238E27FC236}">
                <a16:creationId xmlns:a16="http://schemas.microsoft.com/office/drawing/2014/main" id="{A4CC3DEC-4216-51A3-B76F-32B49508F843}"/>
              </a:ext>
            </a:extLst>
          </p:cNvPr>
          <p:cNvPicPr>
            <a:picLocks noChangeAspect="1"/>
          </p:cNvPicPr>
          <p:nvPr/>
        </p:nvPicPr>
        <p:blipFill>
          <a:blip r:embed="rId3"/>
          <a:stretch>
            <a:fillRect/>
          </a:stretch>
        </p:blipFill>
        <p:spPr>
          <a:xfrm>
            <a:off x="3580283" y="4453589"/>
            <a:ext cx="8611717" cy="2404411"/>
          </a:xfrm>
          <a:prstGeom prst="rect">
            <a:avLst/>
          </a:prstGeom>
        </p:spPr>
      </p:pic>
      <p:pic>
        <p:nvPicPr>
          <p:cNvPr id="6" name="Picture 5">
            <a:extLst>
              <a:ext uri="{FF2B5EF4-FFF2-40B4-BE49-F238E27FC236}">
                <a16:creationId xmlns:a16="http://schemas.microsoft.com/office/drawing/2014/main" id="{8F507262-E746-9F6A-9C72-3E9DD31C480F}"/>
              </a:ext>
            </a:extLst>
          </p:cNvPr>
          <p:cNvPicPr>
            <a:picLocks noChangeAspect="1"/>
          </p:cNvPicPr>
          <p:nvPr/>
        </p:nvPicPr>
        <p:blipFill>
          <a:blip r:embed="rId4"/>
          <a:stretch>
            <a:fillRect/>
          </a:stretch>
        </p:blipFill>
        <p:spPr>
          <a:xfrm>
            <a:off x="3895164" y="3297895"/>
            <a:ext cx="4885765" cy="407147"/>
          </a:xfrm>
          <a:prstGeom prst="rect">
            <a:avLst/>
          </a:prstGeom>
        </p:spPr>
      </p:pic>
      <p:pic>
        <p:nvPicPr>
          <p:cNvPr id="7" name="Picture 6">
            <a:extLst>
              <a:ext uri="{FF2B5EF4-FFF2-40B4-BE49-F238E27FC236}">
                <a16:creationId xmlns:a16="http://schemas.microsoft.com/office/drawing/2014/main" id="{6EA60DF7-A2B7-A2AA-0017-7BDEDCF25974}"/>
              </a:ext>
            </a:extLst>
          </p:cNvPr>
          <p:cNvPicPr>
            <a:picLocks noChangeAspect="1"/>
          </p:cNvPicPr>
          <p:nvPr/>
        </p:nvPicPr>
        <p:blipFill>
          <a:blip r:embed="rId5"/>
          <a:srcRect/>
          <a:stretch/>
        </p:blipFill>
        <p:spPr>
          <a:xfrm>
            <a:off x="7306235" y="6431060"/>
            <a:ext cx="4885764" cy="407147"/>
          </a:xfrm>
          <a:prstGeom prst="rect">
            <a:avLst/>
          </a:prstGeom>
        </p:spPr>
      </p:pic>
    </p:spTree>
    <p:extLst>
      <p:ext uri="{BB962C8B-B14F-4D97-AF65-F5344CB8AC3E}">
        <p14:creationId xmlns:p14="http://schemas.microsoft.com/office/powerpoint/2010/main" val="4212205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F756D58-FFF2-DD16-15E5-FBA9B79DBF39}"/>
              </a:ext>
            </a:extLst>
          </p:cNvPr>
          <p:cNvSpPr txBox="1"/>
          <p:nvPr/>
        </p:nvSpPr>
        <p:spPr>
          <a:xfrm>
            <a:off x="0" y="103502"/>
            <a:ext cx="12214235" cy="954107"/>
          </a:xfrm>
          <a:prstGeom prst="rect">
            <a:avLst/>
          </a:prstGeom>
          <a:noFill/>
        </p:spPr>
        <p:txBody>
          <a:bodyPr wrap="square">
            <a:spAutoFit/>
          </a:bodyPr>
          <a:lstStyle/>
          <a:p>
            <a:pPr algn="ctr"/>
            <a:r>
              <a:rPr lang="en-US" sz="3200" b="1" dirty="0">
                <a:solidFill>
                  <a:schemeClr val="accent1">
                    <a:lumMod val="40000"/>
                    <a:lumOff val="60000"/>
                  </a:schemeClr>
                </a:solidFill>
              </a:rPr>
              <a:t>Polymorphism</a:t>
            </a:r>
            <a:r>
              <a:rPr lang="en-US" sz="2400" dirty="0">
                <a:solidFill>
                  <a:schemeClr val="bg1"/>
                </a:solidFill>
              </a:rPr>
              <a:t> </a:t>
            </a:r>
            <a:r>
              <a:rPr lang="en-US" sz="2400" b="0" i="0" dirty="0">
                <a:solidFill>
                  <a:srgbClr val="ECECEC"/>
                </a:solidFill>
                <a:effectLst/>
                <a:highlight>
                  <a:srgbClr val="212121"/>
                </a:highlight>
                <a:latin typeface="Söhne"/>
              </a:rPr>
              <a:t>allows methods to do different things based on the object it is acting upon. This is mainly achieved through virtual functions and function overriding in derived classes.</a:t>
            </a:r>
            <a:endParaRPr lang="en-US" sz="2400" dirty="0">
              <a:solidFill>
                <a:schemeClr val="bg1"/>
              </a:solidFill>
            </a:endParaRPr>
          </a:p>
        </p:txBody>
      </p:sp>
      <p:pic>
        <p:nvPicPr>
          <p:cNvPr id="2" name="Picture 1">
            <a:extLst>
              <a:ext uri="{FF2B5EF4-FFF2-40B4-BE49-F238E27FC236}">
                <a16:creationId xmlns:a16="http://schemas.microsoft.com/office/drawing/2014/main" id="{F64DB84C-E761-8F77-ABDF-4A37A1A8B28A}"/>
              </a:ext>
            </a:extLst>
          </p:cNvPr>
          <p:cNvPicPr>
            <a:picLocks noChangeAspect="1"/>
          </p:cNvPicPr>
          <p:nvPr/>
        </p:nvPicPr>
        <p:blipFill>
          <a:blip r:embed="rId2"/>
          <a:stretch>
            <a:fillRect/>
          </a:stretch>
        </p:blipFill>
        <p:spPr>
          <a:xfrm>
            <a:off x="1104900" y="1215407"/>
            <a:ext cx="9982200" cy="5642593"/>
          </a:xfrm>
          <a:prstGeom prst="rect">
            <a:avLst/>
          </a:prstGeom>
        </p:spPr>
      </p:pic>
    </p:spTree>
    <p:extLst>
      <p:ext uri="{BB962C8B-B14F-4D97-AF65-F5344CB8AC3E}">
        <p14:creationId xmlns:p14="http://schemas.microsoft.com/office/powerpoint/2010/main" val="165231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0844D-A93F-1717-974B-EEABE26FE54B}"/>
              </a:ext>
            </a:extLst>
          </p:cNvPr>
          <p:cNvSpPr txBox="1"/>
          <p:nvPr/>
        </p:nvSpPr>
        <p:spPr>
          <a:xfrm>
            <a:off x="0" y="157291"/>
            <a:ext cx="12053046" cy="1323439"/>
          </a:xfrm>
          <a:prstGeom prst="rect">
            <a:avLst/>
          </a:prstGeom>
          <a:noFill/>
        </p:spPr>
        <p:txBody>
          <a:bodyPr wrap="square">
            <a:spAutoFit/>
          </a:bodyPr>
          <a:lstStyle/>
          <a:p>
            <a:pPr algn="ctr"/>
            <a:r>
              <a:rPr lang="en-US" sz="3200" b="1" dirty="0">
                <a:solidFill>
                  <a:schemeClr val="accent1">
                    <a:lumMod val="40000"/>
                    <a:lumOff val="60000"/>
                  </a:schemeClr>
                </a:solidFill>
              </a:rPr>
              <a:t>Abstractions</a:t>
            </a:r>
            <a:r>
              <a:rPr lang="en-US" sz="2400" dirty="0">
                <a:solidFill>
                  <a:schemeClr val="bg1"/>
                </a:solidFill>
              </a:rPr>
              <a:t> </a:t>
            </a:r>
            <a:r>
              <a:rPr lang="en-US" sz="2400" b="0" i="0" dirty="0">
                <a:solidFill>
                  <a:srgbClr val="ECECEC"/>
                </a:solidFill>
                <a:effectLst/>
                <a:highlight>
                  <a:srgbClr val="212121"/>
                </a:highlight>
                <a:latin typeface="Söhne"/>
              </a:rPr>
              <a:t>is the concept of hiding the complex reality while exposing only the necessary parts. It’s more of a design principle that affects how you structure your classes and interfaces (abstract classes in C++).</a:t>
            </a:r>
            <a:endParaRPr lang="en-US" sz="2400" dirty="0">
              <a:solidFill>
                <a:schemeClr val="bg1"/>
              </a:solidFill>
            </a:endParaRPr>
          </a:p>
        </p:txBody>
      </p:sp>
      <p:pic>
        <p:nvPicPr>
          <p:cNvPr id="4" name="Picture 3">
            <a:extLst>
              <a:ext uri="{FF2B5EF4-FFF2-40B4-BE49-F238E27FC236}">
                <a16:creationId xmlns:a16="http://schemas.microsoft.com/office/drawing/2014/main" id="{26DC9C07-62DE-D51E-01E8-8A2906D9B0F5}"/>
              </a:ext>
            </a:extLst>
          </p:cNvPr>
          <p:cNvPicPr>
            <a:picLocks noChangeAspect="1"/>
          </p:cNvPicPr>
          <p:nvPr/>
        </p:nvPicPr>
        <p:blipFill>
          <a:blip r:embed="rId2"/>
          <a:stretch>
            <a:fillRect/>
          </a:stretch>
        </p:blipFill>
        <p:spPr>
          <a:xfrm>
            <a:off x="102106" y="2811406"/>
            <a:ext cx="11987787" cy="2029535"/>
          </a:xfrm>
          <a:prstGeom prst="rect">
            <a:avLst/>
          </a:prstGeom>
        </p:spPr>
      </p:pic>
      <p:sp>
        <p:nvSpPr>
          <p:cNvPr id="5" name="TextBox 4">
            <a:extLst>
              <a:ext uri="{FF2B5EF4-FFF2-40B4-BE49-F238E27FC236}">
                <a16:creationId xmlns:a16="http://schemas.microsoft.com/office/drawing/2014/main" id="{C5CFE849-888D-73C2-EB35-F27EEA57E249}"/>
              </a:ext>
            </a:extLst>
          </p:cNvPr>
          <p:cNvSpPr txBox="1"/>
          <p:nvPr/>
        </p:nvSpPr>
        <p:spPr>
          <a:xfrm>
            <a:off x="5955677" y="5910007"/>
            <a:ext cx="6236323" cy="523220"/>
          </a:xfrm>
          <a:prstGeom prst="rect">
            <a:avLst/>
          </a:prstGeom>
          <a:noFill/>
        </p:spPr>
        <p:txBody>
          <a:bodyPr wrap="none" rtlCol="0">
            <a:spAutoFit/>
          </a:bodyPr>
          <a:lstStyle/>
          <a:p>
            <a:r>
              <a:rPr lang="en-US" sz="2800" dirty="0">
                <a:solidFill>
                  <a:srgbClr val="FFC000"/>
                </a:solidFill>
              </a:rPr>
              <a:t>What is pure/non-pure virtual function?</a:t>
            </a:r>
          </a:p>
        </p:txBody>
      </p:sp>
    </p:spTree>
    <p:extLst>
      <p:ext uri="{BB962C8B-B14F-4D97-AF65-F5344CB8AC3E}">
        <p14:creationId xmlns:p14="http://schemas.microsoft.com/office/powerpoint/2010/main" val="2968868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CFE849-888D-73C2-EB35-F27EEA57E249}"/>
              </a:ext>
            </a:extLst>
          </p:cNvPr>
          <p:cNvSpPr txBox="1"/>
          <p:nvPr/>
        </p:nvSpPr>
        <p:spPr>
          <a:xfrm>
            <a:off x="5955677" y="6177489"/>
            <a:ext cx="6236323" cy="523220"/>
          </a:xfrm>
          <a:prstGeom prst="rect">
            <a:avLst/>
          </a:prstGeom>
          <a:noFill/>
        </p:spPr>
        <p:txBody>
          <a:bodyPr wrap="none" rtlCol="0">
            <a:spAutoFit/>
          </a:bodyPr>
          <a:lstStyle/>
          <a:p>
            <a:r>
              <a:rPr lang="en-US" sz="2800" dirty="0">
                <a:solidFill>
                  <a:srgbClr val="FFC000"/>
                </a:solidFill>
              </a:rPr>
              <a:t>What is pure/non-pure virtual function?</a:t>
            </a:r>
          </a:p>
        </p:txBody>
      </p:sp>
      <p:pic>
        <p:nvPicPr>
          <p:cNvPr id="6" name="Picture 5">
            <a:extLst>
              <a:ext uri="{FF2B5EF4-FFF2-40B4-BE49-F238E27FC236}">
                <a16:creationId xmlns:a16="http://schemas.microsoft.com/office/drawing/2014/main" id="{55EAD0AD-E231-F669-74C0-9AA3D8325723}"/>
              </a:ext>
            </a:extLst>
          </p:cNvPr>
          <p:cNvPicPr>
            <a:picLocks noChangeAspect="1"/>
          </p:cNvPicPr>
          <p:nvPr/>
        </p:nvPicPr>
        <p:blipFill>
          <a:blip r:embed="rId2"/>
          <a:stretch>
            <a:fillRect/>
          </a:stretch>
        </p:blipFill>
        <p:spPr>
          <a:xfrm>
            <a:off x="4775200" y="3579208"/>
            <a:ext cx="7416800" cy="2108200"/>
          </a:xfrm>
          <a:prstGeom prst="rect">
            <a:avLst/>
          </a:prstGeom>
        </p:spPr>
      </p:pic>
      <p:pic>
        <p:nvPicPr>
          <p:cNvPr id="7" name="Picture 6">
            <a:extLst>
              <a:ext uri="{FF2B5EF4-FFF2-40B4-BE49-F238E27FC236}">
                <a16:creationId xmlns:a16="http://schemas.microsoft.com/office/drawing/2014/main" id="{E751DC79-73F6-40F8-AE80-48DB60441550}"/>
              </a:ext>
            </a:extLst>
          </p:cNvPr>
          <p:cNvPicPr>
            <a:picLocks noChangeAspect="1"/>
          </p:cNvPicPr>
          <p:nvPr/>
        </p:nvPicPr>
        <p:blipFill>
          <a:blip r:embed="rId3"/>
          <a:stretch>
            <a:fillRect/>
          </a:stretch>
        </p:blipFill>
        <p:spPr>
          <a:xfrm>
            <a:off x="0" y="534175"/>
            <a:ext cx="7416800" cy="2336800"/>
          </a:xfrm>
          <a:prstGeom prst="rect">
            <a:avLst/>
          </a:prstGeom>
        </p:spPr>
      </p:pic>
      <p:sp>
        <p:nvSpPr>
          <p:cNvPr id="9" name="TextBox 8">
            <a:extLst>
              <a:ext uri="{FF2B5EF4-FFF2-40B4-BE49-F238E27FC236}">
                <a16:creationId xmlns:a16="http://schemas.microsoft.com/office/drawing/2014/main" id="{F97FAAD7-D3E1-6B30-257D-EE173DAC2726}"/>
              </a:ext>
            </a:extLst>
          </p:cNvPr>
          <p:cNvSpPr txBox="1"/>
          <p:nvPr/>
        </p:nvSpPr>
        <p:spPr>
          <a:xfrm>
            <a:off x="7449671" y="480387"/>
            <a:ext cx="4742329" cy="2308324"/>
          </a:xfrm>
          <a:prstGeom prst="rect">
            <a:avLst/>
          </a:prstGeom>
          <a:noFill/>
        </p:spPr>
        <p:txBody>
          <a:bodyPr wrap="square">
            <a:spAutoFit/>
          </a:bodyPr>
          <a:lstStyle/>
          <a:p>
            <a:pPr algn="ctr"/>
            <a:r>
              <a:rPr lang="en-US" sz="2400" dirty="0">
                <a:solidFill>
                  <a:schemeClr val="bg1"/>
                </a:solidFill>
              </a:rPr>
              <a:t>show</a:t>
            </a:r>
            <a:r>
              <a:rPr lang="en-US" sz="2400" b="0" i="0" dirty="0">
                <a:solidFill>
                  <a:schemeClr val="bg1"/>
                </a:solidFill>
                <a:effectLst/>
                <a:highlight>
                  <a:srgbClr val="212121"/>
                </a:highlight>
                <a:latin typeface="Söhne"/>
              </a:rPr>
              <a:t> is a non-pure virtual function because it has its implementation. Derived classes can override </a:t>
            </a:r>
            <a:r>
              <a:rPr lang="en-US" sz="2400" dirty="0">
                <a:solidFill>
                  <a:schemeClr val="bg1"/>
                </a:solidFill>
              </a:rPr>
              <a:t>show</a:t>
            </a:r>
            <a:r>
              <a:rPr lang="en-US" sz="2400" b="0" i="0" dirty="0">
                <a:solidFill>
                  <a:schemeClr val="bg1"/>
                </a:solidFill>
                <a:effectLst/>
                <a:highlight>
                  <a:srgbClr val="212121"/>
                </a:highlight>
                <a:latin typeface="Söhne"/>
              </a:rPr>
              <a:t>, but if they don't, calling </a:t>
            </a:r>
            <a:r>
              <a:rPr lang="en-US" sz="2400" dirty="0">
                <a:solidFill>
                  <a:schemeClr val="bg1"/>
                </a:solidFill>
              </a:rPr>
              <a:t>show</a:t>
            </a:r>
            <a:r>
              <a:rPr lang="en-US" sz="2400" b="0" i="0" dirty="0">
                <a:solidFill>
                  <a:schemeClr val="bg1"/>
                </a:solidFill>
                <a:effectLst/>
                <a:highlight>
                  <a:srgbClr val="212121"/>
                </a:highlight>
                <a:latin typeface="Söhne"/>
              </a:rPr>
              <a:t> on a derived class object will execute the </a:t>
            </a:r>
            <a:r>
              <a:rPr lang="en-US" sz="2400" dirty="0">
                <a:solidFill>
                  <a:schemeClr val="bg1"/>
                </a:solidFill>
              </a:rPr>
              <a:t>Base</a:t>
            </a:r>
            <a:r>
              <a:rPr lang="en-US" sz="2400" b="0" i="0" dirty="0">
                <a:solidFill>
                  <a:schemeClr val="bg1"/>
                </a:solidFill>
                <a:effectLst/>
                <a:highlight>
                  <a:srgbClr val="212121"/>
                </a:highlight>
                <a:latin typeface="Söhne"/>
              </a:rPr>
              <a:t> class version.</a:t>
            </a:r>
            <a:endParaRPr lang="en-US" sz="2400" dirty="0">
              <a:solidFill>
                <a:schemeClr val="bg1"/>
              </a:solidFill>
            </a:endParaRPr>
          </a:p>
        </p:txBody>
      </p:sp>
      <p:sp>
        <p:nvSpPr>
          <p:cNvPr id="12" name="TextBox 11">
            <a:extLst>
              <a:ext uri="{FF2B5EF4-FFF2-40B4-BE49-F238E27FC236}">
                <a16:creationId xmlns:a16="http://schemas.microsoft.com/office/drawing/2014/main" id="{9F66882C-6E4E-71C3-0417-470790CBDD24}"/>
              </a:ext>
            </a:extLst>
          </p:cNvPr>
          <p:cNvSpPr txBox="1"/>
          <p:nvPr/>
        </p:nvSpPr>
        <p:spPr>
          <a:xfrm>
            <a:off x="0" y="3579208"/>
            <a:ext cx="4679576" cy="2308324"/>
          </a:xfrm>
          <a:prstGeom prst="rect">
            <a:avLst/>
          </a:prstGeom>
          <a:noFill/>
        </p:spPr>
        <p:txBody>
          <a:bodyPr wrap="square">
            <a:spAutoFit/>
          </a:bodyPr>
          <a:lstStyle/>
          <a:p>
            <a:pPr algn="ctr"/>
            <a:r>
              <a:rPr lang="en-US" sz="2400" dirty="0">
                <a:solidFill>
                  <a:schemeClr val="bg1"/>
                </a:solidFill>
              </a:rPr>
              <a:t>show</a:t>
            </a:r>
            <a:r>
              <a:rPr lang="en-US" sz="2400" b="0" i="0" dirty="0">
                <a:solidFill>
                  <a:schemeClr val="bg1"/>
                </a:solidFill>
                <a:effectLst/>
                <a:highlight>
                  <a:srgbClr val="212121"/>
                </a:highlight>
                <a:latin typeface="Söhne"/>
              </a:rPr>
              <a:t> is a pure virtual function (denoted by </a:t>
            </a:r>
            <a:r>
              <a:rPr lang="en-US" sz="2400" dirty="0">
                <a:solidFill>
                  <a:schemeClr val="bg1"/>
                </a:solidFill>
              </a:rPr>
              <a:t>= 0</a:t>
            </a:r>
            <a:r>
              <a:rPr lang="en-US" sz="2400" b="0" i="0" dirty="0">
                <a:solidFill>
                  <a:schemeClr val="bg1"/>
                </a:solidFill>
                <a:effectLst/>
                <a:highlight>
                  <a:srgbClr val="212121"/>
                </a:highlight>
                <a:latin typeface="Söhne"/>
              </a:rPr>
              <a:t>), and </a:t>
            </a:r>
            <a:r>
              <a:rPr lang="en-US" sz="2400" dirty="0">
                <a:solidFill>
                  <a:schemeClr val="bg1"/>
                </a:solidFill>
              </a:rPr>
              <a:t>Base</a:t>
            </a:r>
            <a:r>
              <a:rPr lang="en-US" sz="2400" b="0" i="0" dirty="0">
                <a:solidFill>
                  <a:schemeClr val="bg1"/>
                </a:solidFill>
                <a:effectLst/>
                <a:highlight>
                  <a:srgbClr val="212121"/>
                </a:highlight>
                <a:latin typeface="Söhne"/>
              </a:rPr>
              <a:t> becomes an abstract class. Any class that derives from </a:t>
            </a:r>
            <a:r>
              <a:rPr lang="en-US" sz="2400" dirty="0">
                <a:solidFill>
                  <a:schemeClr val="bg1"/>
                </a:solidFill>
              </a:rPr>
              <a:t>Base</a:t>
            </a:r>
            <a:r>
              <a:rPr lang="en-US" sz="2400" b="0" i="0" dirty="0">
                <a:solidFill>
                  <a:schemeClr val="bg1"/>
                </a:solidFill>
                <a:effectLst/>
                <a:highlight>
                  <a:srgbClr val="212121"/>
                </a:highlight>
                <a:latin typeface="Söhne"/>
              </a:rPr>
              <a:t> must provide an implementation for </a:t>
            </a:r>
            <a:r>
              <a:rPr lang="en-US" sz="2400" dirty="0">
                <a:solidFill>
                  <a:schemeClr val="bg1"/>
                </a:solidFill>
              </a:rPr>
              <a:t>show</a:t>
            </a:r>
            <a:r>
              <a:rPr lang="en-US" sz="2400" b="0" i="0" dirty="0">
                <a:solidFill>
                  <a:schemeClr val="bg1"/>
                </a:solidFill>
                <a:effectLst/>
                <a:highlight>
                  <a:srgbClr val="212121"/>
                </a:highlight>
                <a:latin typeface="Söhne"/>
              </a:rPr>
              <a:t> to be instantiable.</a:t>
            </a:r>
            <a:endParaRPr lang="en-US" sz="2400" dirty="0">
              <a:solidFill>
                <a:schemeClr val="bg1"/>
              </a:solidFill>
            </a:endParaRPr>
          </a:p>
        </p:txBody>
      </p:sp>
    </p:spTree>
    <p:extLst>
      <p:ext uri="{BB962C8B-B14F-4D97-AF65-F5344CB8AC3E}">
        <p14:creationId xmlns:p14="http://schemas.microsoft.com/office/powerpoint/2010/main" val="1883176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0844D-A93F-1717-974B-EEABE26FE54B}"/>
              </a:ext>
            </a:extLst>
          </p:cNvPr>
          <p:cNvSpPr txBox="1"/>
          <p:nvPr/>
        </p:nvSpPr>
        <p:spPr>
          <a:xfrm>
            <a:off x="0" y="157291"/>
            <a:ext cx="12053046" cy="1323439"/>
          </a:xfrm>
          <a:prstGeom prst="rect">
            <a:avLst/>
          </a:prstGeom>
          <a:noFill/>
        </p:spPr>
        <p:txBody>
          <a:bodyPr wrap="square">
            <a:spAutoFit/>
          </a:bodyPr>
          <a:lstStyle/>
          <a:p>
            <a:pPr algn="ctr"/>
            <a:r>
              <a:rPr lang="en-US" sz="3200" b="1" dirty="0">
                <a:solidFill>
                  <a:schemeClr val="accent1">
                    <a:lumMod val="40000"/>
                    <a:lumOff val="60000"/>
                  </a:schemeClr>
                </a:solidFill>
              </a:rPr>
              <a:t>Abstractions</a:t>
            </a:r>
            <a:r>
              <a:rPr lang="en-US" sz="2400" dirty="0">
                <a:solidFill>
                  <a:schemeClr val="bg1"/>
                </a:solidFill>
              </a:rPr>
              <a:t> </a:t>
            </a:r>
            <a:r>
              <a:rPr lang="en-US" sz="2400" b="0" i="0" dirty="0">
                <a:solidFill>
                  <a:srgbClr val="ECECEC"/>
                </a:solidFill>
                <a:effectLst/>
                <a:highlight>
                  <a:srgbClr val="212121"/>
                </a:highlight>
                <a:latin typeface="Söhne"/>
              </a:rPr>
              <a:t>is the concept of hiding the complex reality while exposing only the necessary parts. It’s more of a design principle that affects how you structure your classes and interfaces (abstract classes in C++).</a:t>
            </a:r>
            <a:endParaRPr lang="en-US" sz="2400" dirty="0">
              <a:solidFill>
                <a:schemeClr val="bg1"/>
              </a:solidFill>
            </a:endParaRPr>
          </a:p>
        </p:txBody>
      </p:sp>
      <p:pic>
        <p:nvPicPr>
          <p:cNvPr id="2" name="Picture 1">
            <a:extLst>
              <a:ext uri="{FF2B5EF4-FFF2-40B4-BE49-F238E27FC236}">
                <a16:creationId xmlns:a16="http://schemas.microsoft.com/office/drawing/2014/main" id="{D3F0A81D-672B-428D-7F20-70D2DF4042E8}"/>
              </a:ext>
            </a:extLst>
          </p:cNvPr>
          <p:cNvPicPr>
            <a:picLocks noChangeAspect="1"/>
          </p:cNvPicPr>
          <p:nvPr/>
        </p:nvPicPr>
        <p:blipFill>
          <a:blip r:embed="rId2"/>
          <a:stretch>
            <a:fillRect/>
          </a:stretch>
        </p:blipFill>
        <p:spPr>
          <a:xfrm>
            <a:off x="1138517" y="1652705"/>
            <a:ext cx="9776012" cy="3552590"/>
          </a:xfrm>
          <a:prstGeom prst="rect">
            <a:avLst/>
          </a:prstGeom>
        </p:spPr>
      </p:pic>
      <p:sp>
        <p:nvSpPr>
          <p:cNvPr id="7" name="TextBox 6">
            <a:extLst>
              <a:ext uri="{FF2B5EF4-FFF2-40B4-BE49-F238E27FC236}">
                <a16:creationId xmlns:a16="http://schemas.microsoft.com/office/drawing/2014/main" id="{ABBDB615-FBAC-BE55-DA6F-EFDBAEC8A641}"/>
              </a:ext>
            </a:extLst>
          </p:cNvPr>
          <p:cNvSpPr txBox="1"/>
          <p:nvPr/>
        </p:nvSpPr>
        <p:spPr>
          <a:xfrm>
            <a:off x="916640" y="5288340"/>
            <a:ext cx="10219765" cy="1569660"/>
          </a:xfrm>
          <a:prstGeom prst="rect">
            <a:avLst/>
          </a:prstGeom>
          <a:noFill/>
        </p:spPr>
        <p:txBody>
          <a:bodyPr wrap="square">
            <a:spAutoFit/>
          </a:bodyPr>
          <a:lstStyle/>
          <a:p>
            <a:pPr algn="ctr"/>
            <a:r>
              <a:rPr lang="en-US" sz="2400" b="0" i="0" dirty="0">
                <a:solidFill>
                  <a:srgbClr val="ECECEC"/>
                </a:solidFill>
                <a:effectLst/>
                <a:highlight>
                  <a:srgbClr val="212121"/>
                </a:highlight>
                <a:latin typeface="Söhne"/>
              </a:rPr>
              <a:t>An interface, in the context of object-oriented programming (OOP), is a concept that defines a contract within a system; it specifies a set of methods that a class must implement. Interfaces are about "what" actions can be performed, but they do not dictate "how" these actions are performed. </a:t>
            </a:r>
            <a:endParaRPr lang="en-US" sz="2400" dirty="0"/>
          </a:p>
        </p:txBody>
      </p:sp>
    </p:spTree>
    <p:extLst>
      <p:ext uri="{BB962C8B-B14F-4D97-AF65-F5344CB8AC3E}">
        <p14:creationId xmlns:p14="http://schemas.microsoft.com/office/powerpoint/2010/main" val="2301631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0844D-A93F-1717-974B-EEABE26FE54B}"/>
              </a:ext>
            </a:extLst>
          </p:cNvPr>
          <p:cNvSpPr txBox="1"/>
          <p:nvPr/>
        </p:nvSpPr>
        <p:spPr>
          <a:xfrm>
            <a:off x="0" y="157291"/>
            <a:ext cx="12053046" cy="1323439"/>
          </a:xfrm>
          <a:prstGeom prst="rect">
            <a:avLst/>
          </a:prstGeom>
          <a:noFill/>
        </p:spPr>
        <p:txBody>
          <a:bodyPr wrap="square">
            <a:spAutoFit/>
          </a:bodyPr>
          <a:lstStyle/>
          <a:p>
            <a:pPr algn="ctr"/>
            <a:r>
              <a:rPr lang="en-US" sz="3200" b="1" dirty="0">
                <a:solidFill>
                  <a:schemeClr val="accent1">
                    <a:lumMod val="40000"/>
                    <a:lumOff val="60000"/>
                  </a:schemeClr>
                </a:solidFill>
              </a:rPr>
              <a:t>Abstractions</a:t>
            </a:r>
            <a:r>
              <a:rPr lang="en-US" sz="2400" dirty="0">
                <a:solidFill>
                  <a:schemeClr val="bg1"/>
                </a:solidFill>
              </a:rPr>
              <a:t> </a:t>
            </a:r>
            <a:r>
              <a:rPr lang="en-US" sz="2400" b="0" i="0" dirty="0">
                <a:solidFill>
                  <a:srgbClr val="ECECEC"/>
                </a:solidFill>
                <a:effectLst/>
                <a:highlight>
                  <a:srgbClr val="212121"/>
                </a:highlight>
                <a:latin typeface="Söhne"/>
              </a:rPr>
              <a:t>is the concept of hiding the complex reality while exposing only the necessary parts. It’s more of a design principle that affects how you structure your classes and interfaces (abstract classes in C++).</a:t>
            </a:r>
            <a:endParaRPr lang="en-US" sz="2400" dirty="0">
              <a:solidFill>
                <a:schemeClr val="bg1"/>
              </a:solidFill>
            </a:endParaRPr>
          </a:p>
        </p:txBody>
      </p:sp>
      <p:pic>
        <p:nvPicPr>
          <p:cNvPr id="2" name="Picture 1">
            <a:extLst>
              <a:ext uri="{FF2B5EF4-FFF2-40B4-BE49-F238E27FC236}">
                <a16:creationId xmlns:a16="http://schemas.microsoft.com/office/drawing/2014/main" id="{D3F0A81D-672B-428D-7F20-70D2DF4042E8}"/>
              </a:ext>
            </a:extLst>
          </p:cNvPr>
          <p:cNvPicPr>
            <a:picLocks noChangeAspect="1"/>
          </p:cNvPicPr>
          <p:nvPr/>
        </p:nvPicPr>
        <p:blipFill>
          <a:blip r:embed="rId2"/>
          <a:stretch>
            <a:fillRect/>
          </a:stretch>
        </p:blipFill>
        <p:spPr>
          <a:xfrm>
            <a:off x="2353234" y="1480730"/>
            <a:ext cx="7346577" cy="2669736"/>
          </a:xfrm>
          <a:prstGeom prst="rect">
            <a:avLst/>
          </a:prstGeom>
        </p:spPr>
      </p:pic>
      <p:pic>
        <p:nvPicPr>
          <p:cNvPr id="4" name="Picture 3">
            <a:extLst>
              <a:ext uri="{FF2B5EF4-FFF2-40B4-BE49-F238E27FC236}">
                <a16:creationId xmlns:a16="http://schemas.microsoft.com/office/drawing/2014/main" id="{DC283B56-34F7-EEDD-9366-F0F0DFBCBEAD}"/>
              </a:ext>
            </a:extLst>
          </p:cNvPr>
          <p:cNvPicPr>
            <a:picLocks noChangeAspect="1"/>
          </p:cNvPicPr>
          <p:nvPr/>
        </p:nvPicPr>
        <p:blipFill>
          <a:blip r:embed="rId3"/>
          <a:stretch>
            <a:fillRect/>
          </a:stretch>
        </p:blipFill>
        <p:spPr>
          <a:xfrm>
            <a:off x="1054488" y="4199693"/>
            <a:ext cx="10083023" cy="2669736"/>
          </a:xfrm>
          <a:prstGeom prst="rect">
            <a:avLst/>
          </a:prstGeom>
        </p:spPr>
      </p:pic>
    </p:spTree>
    <p:extLst>
      <p:ext uri="{BB962C8B-B14F-4D97-AF65-F5344CB8AC3E}">
        <p14:creationId xmlns:p14="http://schemas.microsoft.com/office/powerpoint/2010/main" val="6999060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0844D-A93F-1717-974B-EEABE26FE54B}"/>
              </a:ext>
            </a:extLst>
          </p:cNvPr>
          <p:cNvSpPr txBox="1"/>
          <p:nvPr/>
        </p:nvSpPr>
        <p:spPr>
          <a:xfrm>
            <a:off x="0" y="157291"/>
            <a:ext cx="12053046" cy="1323439"/>
          </a:xfrm>
          <a:prstGeom prst="rect">
            <a:avLst/>
          </a:prstGeom>
          <a:noFill/>
        </p:spPr>
        <p:txBody>
          <a:bodyPr wrap="square">
            <a:spAutoFit/>
          </a:bodyPr>
          <a:lstStyle/>
          <a:p>
            <a:pPr algn="ctr"/>
            <a:r>
              <a:rPr lang="en-US" sz="3200" b="1" dirty="0">
                <a:solidFill>
                  <a:schemeClr val="accent1">
                    <a:lumMod val="40000"/>
                    <a:lumOff val="60000"/>
                  </a:schemeClr>
                </a:solidFill>
              </a:rPr>
              <a:t>Abstractions</a:t>
            </a:r>
            <a:r>
              <a:rPr lang="en-US" sz="2400" dirty="0">
                <a:solidFill>
                  <a:schemeClr val="bg1"/>
                </a:solidFill>
              </a:rPr>
              <a:t> </a:t>
            </a:r>
            <a:r>
              <a:rPr lang="en-US" sz="2400" b="0" i="0" dirty="0">
                <a:solidFill>
                  <a:srgbClr val="ECECEC"/>
                </a:solidFill>
                <a:effectLst/>
                <a:highlight>
                  <a:srgbClr val="212121"/>
                </a:highlight>
                <a:latin typeface="Söhne"/>
              </a:rPr>
              <a:t>is the concept of hiding the complex reality while exposing only the necessary parts. It’s more of a design principle that affects how you structure your classes and interfaces (abstract classes in C++).</a:t>
            </a:r>
            <a:endParaRPr lang="en-US" sz="2400" dirty="0">
              <a:solidFill>
                <a:schemeClr val="bg1"/>
              </a:solidFill>
            </a:endParaRPr>
          </a:p>
        </p:txBody>
      </p:sp>
      <p:pic>
        <p:nvPicPr>
          <p:cNvPr id="5" name="Picture 4">
            <a:extLst>
              <a:ext uri="{FF2B5EF4-FFF2-40B4-BE49-F238E27FC236}">
                <a16:creationId xmlns:a16="http://schemas.microsoft.com/office/drawing/2014/main" id="{410D456F-BC29-4364-91AA-A45C17EB6EDE}"/>
              </a:ext>
            </a:extLst>
          </p:cNvPr>
          <p:cNvPicPr>
            <a:picLocks noChangeAspect="1"/>
          </p:cNvPicPr>
          <p:nvPr/>
        </p:nvPicPr>
        <p:blipFill>
          <a:blip r:embed="rId2"/>
          <a:stretch>
            <a:fillRect/>
          </a:stretch>
        </p:blipFill>
        <p:spPr>
          <a:xfrm>
            <a:off x="1609164" y="1544287"/>
            <a:ext cx="8973671" cy="5313713"/>
          </a:xfrm>
          <a:prstGeom prst="rect">
            <a:avLst/>
          </a:prstGeom>
        </p:spPr>
      </p:pic>
    </p:spTree>
    <p:extLst>
      <p:ext uri="{BB962C8B-B14F-4D97-AF65-F5344CB8AC3E}">
        <p14:creationId xmlns:p14="http://schemas.microsoft.com/office/powerpoint/2010/main" val="3849888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00844D-A93F-1717-974B-EEABE26FE54B}"/>
              </a:ext>
            </a:extLst>
          </p:cNvPr>
          <p:cNvSpPr txBox="1"/>
          <p:nvPr/>
        </p:nvSpPr>
        <p:spPr>
          <a:xfrm>
            <a:off x="69477" y="3250114"/>
            <a:ext cx="12053046" cy="769441"/>
          </a:xfrm>
          <a:prstGeom prst="rect">
            <a:avLst/>
          </a:prstGeom>
          <a:noFill/>
        </p:spPr>
        <p:txBody>
          <a:bodyPr wrap="square">
            <a:spAutoFit/>
          </a:bodyPr>
          <a:lstStyle/>
          <a:p>
            <a:pPr algn="ctr"/>
            <a:r>
              <a:rPr lang="en-US" sz="4400" b="1" dirty="0">
                <a:solidFill>
                  <a:schemeClr val="accent1">
                    <a:lumMod val="40000"/>
                    <a:lumOff val="60000"/>
                  </a:schemeClr>
                </a:solidFill>
              </a:rPr>
              <a:t>Lets Test Our Skills</a:t>
            </a:r>
            <a:endParaRPr lang="en-US" sz="3600" dirty="0">
              <a:solidFill>
                <a:schemeClr val="bg1"/>
              </a:solidFill>
            </a:endParaRPr>
          </a:p>
        </p:txBody>
      </p:sp>
    </p:spTree>
    <p:extLst>
      <p:ext uri="{BB962C8B-B14F-4D97-AF65-F5344CB8AC3E}">
        <p14:creationId xmlns:p14="http://schemas.microsoft.com/office/powerpoint/2010/main" val="1490622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tretch>
            <a:fillRect/>
          </a:stretch>
        </p:blipFill>
        <p:spPr>
          <a:xfrm>
            <a:off x="0" y="1403888"/>
            <a:ext cx="12192000" cy="4050223"/>
          </a:xfrm>
          <a:prstGeom prst="rect">
            <a:avLst/>
          </a:prstGeom>
        </p:spPr>
      </p:pic>
    </p:spTree>
    <p:extLst>
      <p:ext uri="{BB962C8B-B14F-4D97-AF65-F5344CB8AC3E}">
        <p14:creationId xmlns:p14="http://schemas.microsoft.com/office/powerpoint/2010/main" val="3411515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rcRect/>
          <a:stretch/>
        </p:blipFill>
        <p:spPr>
          <a:xfrm>
            <a:off x="-908" y="1245298"/>
            <a:ext cx="12192908" cy="4367404"/>
          </a:xfrm>
          <a:prstGeom prst="rect">
            <a:avLst/>
          </a:prstGeom>
        </p:spPr>
      </p:pic>
    </p:spTree>
    <p:extLst>
      <p:ext uri="{BB962C8B-B14F-4D97-AF65-F5344CB8AC3E}">
        <p14:creationId xmlns:p14="http://schemas.microsoft.com/office/powerpoint/2010/main" val="1846593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rcRect/>
          <a:stretch/>
        </p:blipFill>
        <p:spPr>
          <a:xfrm>
            <a:off x="0" y="1031928"/>
            <a:ext cx="12192000" cy="4794143"/>
          </a:xfrm>
          <a:prstGeom prst="rect">
            <a:avLst/>
          </a:prstGeom>
        </p:spPr>
      </p:pic>
    </p:spTree>
    <p:extLst>
      <p:ext uri="{BB962C8B-B14F-4D97-AF65-F5344CB8AC3E}">
        <p14:creationId xmlns:p14="http://schemas.microsoft.com/office/powerpoint/2010/main" val="1535686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rcRect/>
          <a:stretch/>
        </p:blipFill>
        <p:spPr>
          <a:xfrm>
            <a:off x="0" y="1410776"/>
            <a:ext cx="12192000" cy="4036447"/>
          </a:xfrm>
          <a:prstGeom prst="rect">
            <a:avLst/>
          </a:prstGeom>
        </p:spPr>
      </p:pic>
    </p:spTree>
    <p:extLst>
      <p:ext uri="{BB962C8B-B14F-4D97-AF65-F5344CB8AC3E}">
        <p14:creationId xmlns:p14="http://schemas.microsoft.com/office/powerpoint/2010/main" val="2894323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rcRect/>
          <a:stretch/>
        </p:blipFill>
        <p:spPr>
          <a:xfrm>
            <a:off x="0" y="1410775"/>
            <a:ext cx="12192000" cy="4683933"/>
          </a:xfrm>
          <a:prstGeom prst="rect">
            <a:avLst/>
          </a:prstGeom>
        </p:spPr>
      </p:pic>
    </p:spTree>
    <p:extLst>
      <p:ext uri="{BB962C8B-B14F-4D97-AF65-F5344CB8AC3E}">
        <p14:creationId xmlns:p14="http://schemas.microsoft.com/office/powerpoint/2010/main" val="40800976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A11BC9E-B4B3-3B3E-5232-E939E9D219E3}"/>
              </a:ext>
            </a:extLst>
          </p:cNvPr>
          <p:cNvPicPr>
            <a:picLocks noChangeAspect="1"/>
          </p:cNvPicPr>
          <p:nvPr/>
        </p:nvPicPr>
        <p:blipFill>
          <a:blip r:embed="rId2"/>
          <a:srcRect/>
          <a:stretch/>
        </p:blipFill>
        <p:spPr>
          <a:xfrm>
            <a:off x="0" y="1410775"/>
            <a:ext cx="12192000" cy="4683933"/>
          </a:xfrm>
          <a:prstGeom prst="rect">
            <a:avLst/>
          </a:prstGeom>
        </p:spPr>
      </p:pic>
    </p:spTree>
    <p:extLst>
      <p:ext uri="{BB962C8B-B14F-4D97-AF65-F5344CB8AC3E}">
        <p14:creationId xmlns:p14="http://schemas.microsoft.com/office/powerpoint/2010/main" val="3627118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13BA76-0D2B-9098-086C-8475286165FC}"/>
              </a:ext>
            </a:extLst>
          </p:cNvPr>
          <p:cNvSpPr txBox="1"/>
          <p:nvPr/>
        </p:nvSpPr>
        <p:spPr>
          <a:xfrm>
            <a:off x="3663154" y="2660749"/>
            <a:ext cx="4865691" cy="892552"/>
          </a:xfrm>
          <a:prstGeom prst="rect">
            <a:avLst/>
          </a:prstGeom>
          <a:noFill/>
        </p:spPr>
        <p:txBody>
          <a:bodyPr wrap="none" rtlCol="0">
            <a:spAutoFit/>
          </a:bodyPr>
          <a:lstStyle/>
          <a:p>
            <a:pPr algn="ctr"/>
            <a:r>
              <a:rPr lang="en-US" sz="1600" dirty="0">
                <a:solidFill>
                  <a:schemeClr val="bg1"/>
                </a:solidFill>
              </a:rPr>
              <a:t>SELF STUDY</a:t>
            </a:r>
          </a:p>
          <a:p>
            <a:pPr algn="ctr"/>
            <a:r>
              <a:rPr lang="en-US" sz="3600" dirty="0">
                <a:solidFill>
                  <a:schemeClr val="bg1"/>
                </a:solidFill>
              </a:rPr>
              <a:t>EXCEPTION HANDLING</a:t>
            </a:r>
          </a:p>
        </p:txBody>
      </p:sp>
    </p:spTree>
    <p:extLst>
      <p:ext uri="{BB962C8B-B14F-4D97-AF65-F5344CB8AC3E}">
        <p14:creationId xmlns:p14="http://schemas.microsoft.com/office/powerpoint/2010/main" val="3522778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13BA76-0D2B-9098-086C-8475286165FC}"/>
              </a:ext>
            </a:extLst>
          </p:cNvPr>
          <p:cNvSpPr txBox="1"/>
          <p:nvPr/>
        </p:nvSpPr>
        <p:spPr>
          <a:xfrm>
            <a:off x="0" y="1351508"/>
            <a:ext cx="12192000" cy="4154984"/>
          </a:xfrm>
          <a:prstGeom prst="rect">
            <a:avLst/>
          </a:prstGeom>
          <a:noFill/>
        </p:spPr>
        <p:txBody>
          <a:bodyPr wrap="square" rtlCol="0">
            <a:spAutoFit/>
          </a:bodyPr>
          <a:lstStyle/>
          <a:p>
            <a:pPr algn="ctr"/>
            <a:r>
              <a:rPr lang="en-US" sz="1200" dirty="0">
                <a:solidFill>
                  <a:schemeClr val="bg1"/>
                </a:solidFill>
              </a:rPr>
              <a:t>SELF STUDY</a:t>
            </a:r>
          </a:p>
          <a:p>
            <a:pPr algn="ctr"/>
            <a:r>
              <a:rPr lang="en-US" sz="2800" dirty="0">
                <a:solidFill>
                  <a:srgbClr val="FFC000"/>
                </a:solidFill>
              </a:rPr>
              <a:t>EXCEPTION HANDLING</a:t>
            </a:r>
          </a:p>
          <a:p>
            <a:pPr algn="ctr"/>
            <a:r>
              <a:rPr lang="en-US" sz="2800" dirty="0">
                <a:solidFill>
                  <a:schemeClr val="bg1"/>
                </a:solidFill>
              </a:rPr>
              <a:t>Exception handling in C++ is an essential feature that allows a program to deal with unexpected problems that might arise during its execution. By using exception handling, you can catch errors as they occur and handle them gracefully, potentially allowing the program to continue running instead of crashing.</a:t>
            </a:r>
          </a:p>
          <a:p>
            <a:pPr algn="ctr"/>
            <a:endParaRPr lang="en-US" sz="2800" dirty="0">
              <a:solidFill>
                <a:schemeClr val="bg1"/>
              </a:solidFill>
            </a:endParaRPr>
          </a:p>
          <a:p>
            <a:pPr algn="ctr"/>
            <a:r>
              <a:rPr lang="en-US" sz="2800" dirty="0">
                <a:solidFill>
                  <a:schemeClr val="bg1"/>
                </a:solidFill>
              </a:rPr>
              <a:t>In C++, exceptions are typically handled using a combination of three keywords: try, catch, and throw.</a:t>
            </a:r>
          </a:p>
        </p:txBody>
      </p:sp>
    </p:spTree>
    <p:extLst>
      <p:ext uri="{BB962C8B-B14F-4D97-AF65-F5344CB8AC3E}">
        <p14:creationId xmlns:p14="http://schemas.microsoft.com/office/powerpoint/2010/main" val="3855012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4354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59A5AE-407F-48AA-C1E9-15B2BB41DADA}"/>
              </a:ext>
            </a:extLst>
          </p:cNvPr>
          <p:cNvPicPr>
            <a:picLocks noChangeAspect="1"/>
          </p:cNvPicPr>
          <p:nvPr/>
        </p:nvPicPr>
        <p:blipFill>
          <a:blip r:embed="rId3"/>
          <a:stretch>
            <a:fillRect/>
          </a:stretch>
        </p:blipFill>
        <p:spPr>
          <a:xfrm>
            <a:off x="1712335" y="0"/>
            <a:ext cx="8767330" cy="6858000"/>
          </a:xfrm>
          <a:prstGeom prst="rect">
            <a:avLst/>
          </a:prstGeom>
        </p:spPr>
      </p:pic>
    </p:spTree>
    <p:extLst>
      <p:ext uri="{BB962C8B-B14F-4D97-AF65-F5344CB8AC3E}">
        <p14:creationId xmlns:p14="http://schemas.microsoft.com/office/powerpoint/2010/main" val="2529482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29810</TotalTime>
  <Words>744</Words>
  <Application>Microsoft Macintosh PowerPoint</Application>
  <PresentationFormat>Widescreen</PresentationFormat>
  <Paragraphs>31</Paragraphs>
  <Slides>25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Söhne</vt:lpstr>
      <vt:lpstr>Office Theme</vt:lpstr>
      <vt:lpstr>Classes: An OO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 Arrays, Vectors, Lists and for-loops</dc:title>
  <dc:creator>Bhandari, Keshav</dc:creator>
  <cp:lastModifiedBy>Bhandari, Keshav</cp:lastModifiedBy>
  <cp:revision>82</cp:revision>
  <dcterms:created xsi:type="dcterms:W3CDTF">2024-01-18T13:32:16Z</dcterms:created>
  <dcterms:modified xsi:type="dcterms:W3CDTF">2024-06-21T16:44:38Z</dcterms:modified>
</cp:coreProperties>
</file>
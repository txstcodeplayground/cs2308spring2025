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3" r:id="rId14"/>
    <p:sldId id="274" r:id="rId15"/>
    <p:sldId id="278" r:id="rId16"/>
    <p:sldId id="268" r:id="rId17"/>
    <p:sldId id="275" r:id="rId18"/>
    <p:sldId id="276" r:id="rId19"/>
    <p:sldId id="270" r:id="rId20"/>
    <p:sldId id="272" r:id="rId21"/>
    <p:sldId id="277"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3" r:id="rId44"/>
    <p:sldId id="301" r:id="rId45"/>
    <p:sldId id="302" r:id="rId46"/>
    <p:sldId id="304" r:id="rId47"/>
    <p:sldId id="300" r:id="rId48"/>
    <p:sldId id="305" r:id="rId49"/>
    <p:sldId id="306"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B89C4"/>
    <a:srgbClr val="3435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236"/>
    <p:restoredTop sz="94365"/>
  </p:normalViewPr>
  <p:slideViewPr>
    <p:cSldViewPr snapToGrid="0">
      <p:cViewPr varScale="1">
        <p:scale>
          <a:sx n="149" d="100"/>
          <a:sy n="149" d="100"/>
        </p:scale>
        <p:origin x="208" y="2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735D1C-2DAE-A844-AB28-6D356E73EE8D}" type="datetimeFigureOut">
              <a:rPr lang="en-US" smtClean="0"/>
              <a:t>3/19/24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8AF8E0-C54F-AA4C-9564-2FD33EE1C5D9}" type="slidenum">
              <a:rPr lang="en-US" smtClean="0"/>
              <a:t>‹#›</a:t>
            </a:fld>
            <a:endParaRPr lang="en-US"/>
          </a:p>
        </p:txBody>
      </p:sp>
    </p:spTree>
    <p:extLst>
      <p:ext uri="{BB962C8B-B14F-4D97-AF65-F5344CB8AC3E}">
        <p14:creationId xmlns:p14="http://schemas.microsoft.com/office/powerpoint/2010/main" val="26213317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76257-958B-09D6-92F7-5B0310B8E47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0CB69D8-EB61-F9A8-5D1A-1F94741B9E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9E573C1-CC5F-0B20-19D7-E42F24682F61}"/>
              </a:ext>
            </a:extLst>
          </p:cNvPr>
          <p:cNvSpPr>
            <a:spLocks noGrp="1"/>
          </p:cNvSpPr>
          <p:nvPr>
            <p:ph type="dt" sz="half" idx="10"/>
          </p:nvPr>
        </p:nvSpPr>
        <p:spPr/>
        <p:txBody>
          <a:bodyPr/>
          <a:lstStyle/>
          <a:p>
            <a:fld id="{5FABD409-7894-914B-8B56-CBEFCA3FA783}" type="datetimeFigureOut">
              <a:rPr lang="en-US" smtClean="0"/>
              <a:t>3/19/24</a:t>
            </a:fld>
            <a:endParaRPr lang="en-US"/>
          </a:p>
        </p:txBody>
      </p:sp>
      <p:sp>
        <p:nvSpPr>
          <p:cNvPr id="5" name="Footer Placeholder 4">
            <a:extLst>
              <a:ext uri="{FF2B5EF4-FFF2-40B4-BE49-F238E27FC236}">
                <a16:creationId xmlns:a16="http://schemas.microsoft.com/office/drawing/2014/main" id="{2945A4A3-6948-F153-3318-377D94D70E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B17D5C-E654-81BE-EC72-D4253B501030}"/>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34729335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21C2A-904F-BFB4-AF47-8225BDBC14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A7645F5-62D0-0F7C-7C71-CE300895496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1ED2AA-D3CB-6A87-F6F4-742C557D4621}"/>
              </a:ext>
            </a:extLst>
          </p:cNvPr>
          <p:cNvSpPr>
            <a:spLocks noGrp="1"/>
          </p:cNvSpPr>
          <p:nvPr>
            <p:ph type="dt" sz="half" idx="10"/>
          </p:nvPr>
        </p:nvSpPr>
        <p:spPr/>
        <p:txBody>
          <a:bodyPr/>
          <a:lstStyle/>
          <a:p>
            <a:fld id="{5FABD409-7894-914B-8B56-CBEFCA3FA783}" type="datetimeFigureOut">
              <a:rPr lang="en-US" smtClean="0"/>
              <a:t>3/19/24</a:t>
            </a:fld>
            <a:endParaRPr lang="en-US"/>
          </a:p>
        </p:txBody>
      </p:sp>
      <p:sp>
        <p:nvSpPr>
          <p:cNvPr id="5" name="Footer Placeholder 4">
            <a:extLst>
              <a:ext uri="{FF2B5EF4-FFF2-40B4-BE49-F238E27FC236}">
                <a16:creationId xmlns:a16="http://schemas.microsoft.com/office/drawing/2014/main" id="{8EBBA9E1-EAA3-B453-5B8B-652839EACC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7FC1C9-53BA-938B-7D77-CAB8D9688DEB}"/>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25004473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BB4A2-72E8-94B2-0D40-76DCD8C5A45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EA2FA4D-2759-214F-7B15-F7D3CECC422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33F4A3E-16E9-9B32-F980-9BEE83C98C08}"/>
              </a:ext>
            </a:extLst>
          </p:cNvPr>
          <p:cNvSpPr>
            <a:spLocks noGrp="1"/>
          </p:cNvSpPr>
          <p:nvPr>
            <p:ph type="dt" sz="half" idx="10"/>
          </p:nvPr>
        </p:nvSpPr>
        <p:spPr/>
        <p:txBody>
          <a:bodyPr/>
          <a:lstStyle/>
          <a:p>
            <a:fld id="{5FABD409-7894-914B-8B56-CBEFCA3FA783}" type="datetimeFigureOut">
              <a:rPr lang="en-US" smtClean="0"/>
              <a:t>3/19/24</a:t>
            </a:fld>
            <a:endParaRPr lang="en-US"/>
          </a:p>
        </p:txBody>
      </p:sp>
      <p:sp>
        <p:nvSpPr>
          <p:cNvPr id="5" name="Footer Placeholder 4">
            <a:extLst>
              <a:ext uri="{FF2B5EF4-FFF2-40B4-BE49-F238E27FC236}">
                <a16:creationId xmlns:a16="http://schemas.microsoft.com/office/drawing/2014/main" id="{7F6C2826-3EB8-8571-8075-773114DBC7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ACEE87-4B22-4F89-0EED-CB2BFB2B6F9B}"/>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14095977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2A06D-3A94-9587-31F9-927848D5AA9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8FD2124-1628-6087-F974-BFC7A6A9CCF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84D2039-E8F0-87D2-C366-1116E08EC99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A380AFC-7D20-8F02-3AA6-BA3103765FCB}"/>
              </a:ext>
            </a:extLst>
          </p:cNvPr>
          <p:cNvSpPr>
            <a:spLocks noGrp="1"/>
          </p:cNvSpPr>
          <p:nvPr>
            <p:ph type="dt" sz="half" idx="10"/>
          </p:nvPr>
        </p:nvSpPr>
        <p:spPr/>
        <p:txBody>
          <a:bodyPr/>
          <a:lstStyle/>
          <a:p>
            <a:fld id="{5FABD409-7894-914B-8B56-CBEFCA3FA783}" type="datetimeFigureOut">
              <a:rPr lang="en-US" smtClean="0"/>
              <a:t>3/19/24</a:t>
            </a:fld>
            <a:endParaRPr lang="en-US"/>
          </a:p>
        </p:txBody>
      </p:sp>
      <p:sp>
        <p:nvSpPr>
          <p:cNvPr id="6" name="Footer Placeholder 5">
            <a:extLst>
              <a:ext uri="{FF2B5EF4-FFF2-40B4-BE49-F238E27FC236}">
                <a16:creationId xmlns:a16="http://schemas.microsoft.com/office/drawing/2014/main" id="{F6D5B6E6-EE80-CD45-575B-FC3411EB4B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71D726-870A-E31F-7BE9-68A6B559EF47}"/>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34547044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88248-201E-1071-490C-E2B0F03432E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AA88978-DF11-33E9-1476-F9EA8A0F87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DD38A99-0E1F-72D2-C53C-B460A7A2FD4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BDEB125-AAAB-196F-2350-8919EFFE0FF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E9DBE02-FA8F-0337-80CA-1B3A3BA26DD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7E06BCB-093A-41AE-D8AE-FB27B505FB62}"/>
              </a:ext>
            </a:extLst>
          </p:cNvPr>
          <p:cNvSpPr>
            <a:spLocks noGrp="1"/>
          </p:cNvSpPr>
          <p:nvPr>
            <p:ph type="dt" sz="half" idx="10"/>
          </p:nvPr>
        </p:nvSpPr>
        <p:spPr/>
        <p:txBody>
          <a:bodyPr/>
          <a:lstStyle/>
          <a:p>
            <a:fld id="{5FABD409-7894-914B-8B56-CBEFCA3FA783}" type="datetimeFigureOut">
              <a:rPr lang="en-US" smtClean="0"/>
              <a:t>3/19/24</a:t>
            </a:fld>
            <a:endParaRPr lang="en-US"/>
          </a:p>
        </p:txBody>
      </p:sp>
      <p:sp>
        <p:nvSpPr>
          <p:cNvPr id="8" name="Footer Placeholder 7">
            <a:extLst>
              <a:ext uri="{FF2B5EF4-FFF2-40B4-BE49-F238E27FC236}">
                <a16:creationId xmlns:a16="http://schemas.microsoft.com/office/drawing/2014/main" id="{4E4B73D1-5555-1D92-5FD0-BC4AD4F8F91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DF417B4-3D69-508D-BF7B-2ECFF6F8F34A}"/>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19158793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F3093-AC16-170B-1304-22A6DAB64BF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A99E668-1077-D884-04D6-9966E1589BAC}"/>
              </a:ext>
            </a:extLst>
          </p:cNvPr>
          <p:cNvSpPr>
            <a:spLocks noGrp="1"/>
          </p:cNvSpPr>
          <p:nvPr>
            <p:ph type="dt" sz="half" idx="10"/>
          </p:nvPr>
        </p:nvSpPr>
        <p:spPr/>
        <p:txBody>
          <a:bodyPr/>
          <a:lstStyle/>
          <a:p>
            <a:fld id="{5FABD409-7894-914B-8B56-CBEFCA3FA783}" type="datetimeFigureOut">
              <a:rPr lang="en-US" smtClean="0"/>
              <a:t>3/19/24</a:t>
            </a:fld>
            <a:endParaRPr lang="en-US"/>
          </a:p>
        </p:txBody>
      </p:sp>
      <p:sp>
        <p:nvSpPr>
          <p:cNvPr id="4" name="Footer Placeholder 3">
            <a:extLst>
              <a:ext uri="{FF2B5EF4-FFF2-40B4-BE49-F238E27FC236}">
                <a16:creationId xmlns:a16="http://schemas.microsoft.com/office/drawing/2014/main" id="{61E0396F-41FD-2200-1696-26C4E6AC018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E5B8B63-BC1B-A7AE-B6CC-F5772ACA91BE}"/>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9354660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0A44726-2BA3-55F8-0AC6-9D30DBE7F582}"/>
              </a:ext>
            </a:extLst>
          </p:cNvPr>
          <p:cNvSpPr>
            <a:spLocks noGrp="1"/>
          </p:cNvSpPr>
          <p:nvPr>
            <p:ph type="dt" sz="half" idx="10"/>
          </p:nvPr>
        </p:nvSpPr>
        <p:spPr/>
        <p:txBody>
          <a:bodyPr/>
          <a:lstStyle/>
          <a:p>
            <a:fld id="{5FABD409-7894-914B-8B56-CBEFCA3FA783}" type="datetimeFigureOut">
              <a:rPr lang="en-US" smtClean="0"/>
              <a:t>3/19/24</a:t>
            </a:fld>
            <a:endParaRPr lang="en-US"/>
          </a:p>
        </p:txBody>
      </p:sp>
      <p:sp>
        <p:nvSpPr>
          <p:cNvPr id="3" name="Footer Placeholder 2">
            <a:extLst>
              <a:ext uri="{FF2B5EF4-FFF2-40B4-BE49-F238E27FC236}">
                <a16:creationId xmlns:a16="http://schemas.microsoft.com/office/drawing/2014/main" id="{F2D660CA-9103-B6B8-F1D1-3B6BF891352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5816655-419F-7504-3B29-E35A841B92CA}"/>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2185992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5877F-AC36-8E35-4BE0-FD9F07582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8B48E8E-19CC-FE91-8EB8-5C6522CFE37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148FD99-AC54-EF58-38DC-685D17EE54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77FE06-565E-0B54-17B9-C2347ABBDC81}"/>
              </a:ext>
            </a:extLst>
          </p:cNvPr>
          <p:cNvSpPr>
            <a:spLocks noGrp="1"/>
          </p:cNvSpPr>
          <p:nvPr>
            <p:ph type="dt" sz="half" idx="10"/>
          </p:nvPr>
        </p:nvSpPr>
        <p:spPr/>
        <p:txBody>
          <a:bodyPr/>
          <a:lstStyle/>
          <a:p>
            <a:fld id="{5FABD409-7894-914B-8B56-CBEFCA3FA783}" type="datetimeFigureOut">
              <a:rPr lang="en-US" smtClean="0"/>
              <a:t>3/19/24</a:t>
            </a:fld>
            <a:endParaRPr lang="en-US"/>
          </a:p>
        </p:txBody>
      </p:sp>
      <p:sp>
        <p:nvSpPr>
          <p:cNvPr id="6" name="Footer Placeholder 5">
            <a:extLst>
              <a:ext uri="{FF2B5EF4-FFF2-40B4-BE49-F238E27FC236}">
                <a16:creationId xmlns:a16="http://schemas.microsoft.com/office/drawing/2014/main" id="{30E50E3F-AD08-9417-121D-D3416D6A50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0ACD8C-7008-0A11-6165-AED7670492CF}"/>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31613049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0780B-49AA-3089-8278-C4E57A9F18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B109CF7-752F-4095-BE92-E00EEA8FABF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0428BCA-DB5F-6B57-92BA-4981C4D1FE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D84446-CE70-3231-1445-DB3A29FCF22D}"/>
              </a:ext>
            </a:extLst>
          </p:cNvPr>
          <p:cNvSpPr>
            <a:spLocks noGrp="1"/>
          </p:cNvSpPr>
          <p:nvPr>
            <p:ph type="dt" sz="half" idx="10"/>
          </p:nvPr>
        </p:nvSpPr>
        <p:spPr/>
        <p:txBody>
          <a:bodyPr/>
          <a:lstStyle/>
          <a:p>
            <a:fld id="{5FABD409-7894-914B-8B56-CBEFCA3FA783}" type="datetimeFigureOut">
              <a:rPr lang="en-US" smtClean="0"/>
              <a:t>3/19/24</a:t>
            </a:fld>
            <a:endParaRPr lang="en-US"/>
          </a:p>
        </p:txBody>
      </p:sp>
      <p:sp>
        <p:nvSpPr>
          <p:cNvPr id="6" name="Footer Placeholder 5">
            <a:extLst>
              <a:ext uri="{FF2B5EF4-FFF2-40B4-BE49-F238E27FC236}">
                <a16:creationId xmlns:a16="http://schemas.microsoft.com/office/drawing/2014/main" id="{12DD26CD-E88D-0741-149E-3349634769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B4273E-225F-8B5C-0845-68E63BC32676}"/>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7088069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DDFCF-812F-3892-08F6-D30690D39D7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F312774-DB26-BAE7-8990-17134632905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40DB4A-BD60-EC40-DE4F-66B96A97D82D}"/>
              </a:ext>
            </a:extLst>
          </p:cNvPr>
          <p:cNvSpPr>
            <a:spLocks noGrp="1"/>
          </p:cNvSpPr>
          <p:nvPr>
            <p:ph type="dt" sz="half" idx="10"/>
          </p:nvPr>
        </p:nvSpPr>
        <p:spPr/>
        <p:txBody>
          <a:bodyPr/>
          <a:lstStyle/>
          <a:p>
            <a:fld id="{5FABD409-7894-914B-8B56-CBEFCA3FA783}" type="datetimeFigureOut">
              <a:rPr lang="en-US" smtClean="0"/>
              <a:t>3/19/24</a:t>
            </a:fld>
            <a:endParaRPr lang="en-US"/>
          </a:p>
        </p:txBody>
      </p:sp>
      <p:sp>
        <p:nvSpPr>
          <p:cNvPr id="5" name="Footer Placeholder 4">
            <a:extLst>
              <a:ext uri="{FF2B5EF4-FFF2-40B4-BE49-F238E27FC236}">
                <a16:creationId xmlns:a16="http://schemas.microsoft.com/office/drawing/2014/main" id="{51271122-CEF0-6CE1-D304-347F6FC9CD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71BFB4-DF8B-2FF4-59E7-DA7875D50502}"/>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42607731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CA505B1-2185-FE8C-6683-8010CE9CA4F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6CDFD91-1410-7EAE-CD08-F36286AAE4F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F0B78F-B99D-2CAE-DE86-4A87A3C44CC8}"/>
              </a:ext>
            </a:extLst>
          </p:cNvPr>
          <p:cNvSpPr>
            <a:spLocks noGrp="1"/>
          </p:cNvSpPr>
          <p:nvPr>
            <p:ph type="dt" sz="half" idx="10"/>
          </p:nvPr>
        </p:nvSpPr>
        <p:spPr/>
        <p:txBody>
          <a:bodyPr/>
          <a:lstStyle/>
          <a:p>
            <a:fld id="{5FABD409-7894-914B-8B56-CBEFCA3FA783}" type="datetimeFigureOut">
              <a:rPr lang="en-US" smtClean="0"/>
              <a:t>3/19/24</a:t>
            </a:fld>
            <a:endParaRPr lang="en-US"/>
          </a:p>
        </p:txBody>
      </p:sp>
      <p:sp>
        <p:nvSpPr>
          <p:cNvPr id="5" name="Footer Placeholder 4">
            <a:extLst>
              <a:ext uri="{FF2B5EF4-FFF2-40B4-BE49-F238E27FC236}">
                <a16:creationId xmlns:a16="http://schemas.microsoft.com/office/drawing/2014/main" id="{ED420540-874A-9F7F-A083-57DC2D85D8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70CACF-7BAD-4BE5-E54B-C0344BED898D}"/>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3613851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1DCD04D-E994-0BCB-BE4C-C4CC95F508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340DE37-3E3C-A2A2-66FC-5D147A979C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DEBDE9-86C6-6702-4539-53AD87CF29B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FABD409-7894-914B-8B56-CBEFCA3FA783}" type="datetimeFigureOut">
              <a:rPr lang="en-US" smtClean="0"/>
              <a:t>3/19/24</a:t>
            </a:fld>
            <a:endParaRPr lang="en-US"/>
          </a:p>
        </p:txBody>
      </p:sp>
      <p:sp>
        <p:nvSpPr>
          <p:cNvPr id="5" name="Footer Placeholder 4">
            <a:extLst>
              <a:ext uri="{FF2B5EF4-FFF2-40B4-BE49-F238E27FC236}">
                <a16:creationId xmlns:a16="http://schemas.microsoft.com/office/drawing/2014/main" id="{980A18CB-38A8-D83F-9344-AAEEE77D9F2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50B643C-D221-1074-2881-456D09D9C54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07B0DCE-EB0D-B345-B55B-5E162699D54F}" type="slidenum">
              <a:rPr lang="en-US" smtClean="0"/>
              <a:t>‹#›</a:t>
            </a:fld>
            <a:endParaRPr lang="en-US"/>
          </a:p>
        </p:txBody>
      </p:sp>
    </p:spTree>
    <p:extLst>
      <p:ext uri="{BB962C8B-B14F-4D97-AF65-F5344CB8AC3E}">
        <p14:creationId xmlns:p14="http://schemas.microsoft.com/office/powerpoint/2010/main" val="40744748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4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790E4-F9DC-82AF-75ED-0A354BC07D39}"/>
              </a:ext>
            </a:extLst>
          </p:cNvPr>
          <p:cNvSpPr>
            <a:spLocks noGrp="1"/>
          </p:cNvSpPr>
          <p:nvPr>
            <p:ph type="ctrTitle"/>
          </p:nvPr>
        </p:nvSpPr>
        <p:spPr/>
        <p:txBody>
          <a:bodyPr>
            <a:normAutofit/>
          </a:bodyPr>
          <a:lstStyle/>
          <a:p>
            <a:r>
              <a:rPr lang="en-US" sz="4800" dirty="0">
                <a:solidFill>
                  <a:srgbClr val="FFC000"/>
                </a:solidFill>
              </a:rPr>
              <a:t>UNIX-Programming</a:t>
            </a:r>
            <a:br>
              <a:rPr lang="en-US" sz="4800" dirty="0">
                <a:solidFill>
                  <a:srgbClr val="FFC000"/>
                </a:solidFill>
              </a:rPr>
            </a:br>
            <a:r>
              <a:rPr lang="en-US" sz="4800" dirty="0">
                <a:solidFill>
                  <a:srgbClr val="FFC000"/>
                </a:solidFill>
              </a:rPr>
              <a:t>BASH</a:t>
            </a:r>
          </a:p>
        </p:txBody>
      </p:sp>
      <p:sp>
        <p:nvSpPr>
          <p:cNvPr id="3" name="Subtitle 2">
            <a:extLst>
              <a:ext uri="{FF2B5EF4-FFF2-40B4-BE49-F238E27FC236}">
                <a16:creationId xmlns:a16="http://schemas.microsoft.com/office/drawing/2014/main" id="{B6DC56E5-B860-CE21-CA7A-DA4228912DE3}"/>
              </a:ext>
            </a:extLst>
          </p:cNvPr>
          <p:cNvSpPr>
            <a:spLocks noGrp="1"/>
          </p:cNvSpPr>
          <p:nvPr>
            <p:ph type="subTitle" idx="1"/>
          </p:nvPr>
        </p:nvSpPr>
        <p:spPr/>
        <p:txBody>
          <a:bodyPr/>
          <a:lstStyle/>
          <a:p>
            <a:r>
              <a:rPr lang="en-US" dirty="0">
                <a:solidFill>
                  <a:schemeClr val="bg1"/>
                </a:solidFill>
              </a:rPr>
              <a:t>Unit-05</a:t>
            </a:r>
          </a:p>
        </p:txBody>
      </p:sp>
    </p:spTree>
    <p:extLst>
      <p:ext uri="{BB962C8B-B14F-4D97-AF65-F5344CB8AC3E}">
        <p14:creationId xmlns:p14="http://schemas.microsoft.com/office/powerpoint/2010/main" val="452291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6DC56E5-B860-CE21-CA7A-DA4228912DE3}"/>
              </a:ext>
            </a:extLst>
          </p:cNvPr>
          <p:cNvSpPr>
            <a:spLocks noGrp="1"/>
          </p:cNvSpPr>
          <p:nvPr>
            <p:ph type="subTitle" idx="1"/>
          </p:nvPr>
        </p:nvSpPr>
        <p:spPr>
          <a:xfrm>
            <a:off x="1524000" y="2395030"/>
            <a:ext cx="9144000" cy="1655762"/>
          </a:xfrm>
        </p:spPr>
        <p:txBody>
          <a:bodyPr>
            <a:normAutofit fontScale="85000" lnSpcReduction="10000"/>
          </a:bodyPr>
          <a:lstStyle/>
          <a:p>
            <a:r>
              <a:rPr lang="en-US" sz="2800" dirty="0">
                <a:solidFill>
                  <a:schemeClr val="bg1"/>
                </a:solidFill>
              </a:rPr>
              <a:t>Unix programming and shell scripting like Bash are important for their ability to </a:t>
            </a:r>
            <a:r>
              <a:rPr lang="en-US" sz="2800" dirty="0">
                <a:solidFill>
                  <a:srgbClr val="FFC000"/>
                </a:solidFill>
              </a:rPr>
              <a:t>automate tasks</a:t>
            </a:r>
            <a:r>
              <a:rPr lang="en-US" sz="2800" dirty="0">
                <a:solidFill>
                  <a:schemeClr val="bg1"/>
                </a:solidFill>
              </a:rPr>
              <a:t>, </a:t>
            </a:r>
            <a:r>
              <a:rPr lang="en-US" sz="2800" dirty="0">
                <a:solidFill>
                  <a:srgbClr val="FFC000"/>
                </a:solidFill>
              </a:rPr>
              <a:t>process text</a:t>
            </a:r>
            <a:r>
              <a:rPr lang="en-US" sz="2800" dirty="0">
                <a:solidFill>
                  <a:schemeClr val="bg1"/>
                </a:solidFill>
              </a:rPr>
              <a:t>, </a:t>
            </a:r>
            <a:r>
              <a:rPr lang="en-US" sz="2800" dirty="0">
                <a:solidFill>
                  <a:srgbClr val="FFC000"/>
                </a:solidFill>
              </a:rPr>
              <a:t>ensure portability</a:t>
            </a:r>
            <a:r>
              <a:rPr lang="en-US" sz="2800" dirty="0">
                <a:solidFill>
                  <a:schemeClr val="bg1"/>
                </a:solidFill>
              </a:rPr>
              <a:t>, </a:t>
            </a:r>
            <a:r>
              <a:rPr lang="en-US" sz="2800" dirty="0">
                <a:solidFill>
                  <a:srgbClr val="FFC000"/>
                </a:solidFill>
              </a:rPr>
              <a:t>offer customization</a:t>
            </a:r>
            <a:r>
              <a:rPr lang="en-US" sz="2800" dirty="0">
                <a:solidFill>
                  <a:schemeClr val="bg1"/>
                </a:solidFill>
              </a:rPr>
              <a:t>, and </a:t>
            </a:r>
            <a:r>
              <a:rPr lang="en-US" sz="2800" dirty="0">
                <a:solidFill>
                  <a:srgbClr val="FFC000"/>
                </a:solidFill>
              </a:rPr>
              <a:t>manage system resources efficiently</a:t>
            </a:r>
            <a:r>
              <a:rPr lang="en-US" sz="2800" dirty="0">
                <a:solidFill>
                  <a:schemeClr val="bg1"/>
                </a:solidFill>
              </a:rPr>
              <a:t>. These capabilities are essential for system administrators, developers, and anyone working with Unix-like operating systems.</a:t>
            </a:r>
          </a:p>
          <a:p>
            <a:endParaRPr lang="en-US" sz="2800" dirty="0">
              <a:solidFill>
                <a:schemeClr val="bg1"/>
              </a:solidFill>
            </a:endParaRPr>
          </a:p>
          <a:p>
            <a:endParaRPr lang="en-US" sz="2800" dirty="0">
              <a:solidFill>
                <a:schemeClr val="bg1"/>
              </a:solidFill>
            </a:endParaRPr>
          </a:p>
          <a:p>
            <a:endParaRPr lang="en-US" sz="2800" dirty="0">
              <a:solidFill>
                <a:schemeClr val="bg1"/>
              </a:solidFill>
            </a:endParaRPr>
          </a:p>
          <a:p>
            <a:endParaRPr lang="en-US" sz="2800" dirty="0">
              <a:solidFill>
                <a:schemeClr val="bg1"/>
              </a:solidFill>
            </a:endParaRPr>
          </a:p>
          <a:p>
            <a:endParaRPr lang="en-US" sz="2800" dirty="0">
              <a:solidFill>
                <a:schemeClr val="bg1"/>
              </a:solidFill>
            </a:endParaRPr>
          </a:p>
          <a:p>
            <a:endParaRPr lang="en-US" sz="2800" dirty="0">
              <a:solidFill>
                <a:schemeClr val="bg1"/>
              </a:solidFill>
            </a:endParaRPr>
          </a:p>
        </p:txBody>
      </p:sp>
    </p:spTree>
    <p:extLst>
      <p:ext uri="{BB962C8B-B14F-4D97-AF65-F5344CB8AC3E}">
        <p14:creationId xmlns:p14="http://schemas.microsoft.com/office/powerpoint/2010/main" val="23757481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4ED6D9DE-FB73-A151-A66C-83435CA7EA45}"/>
              </a:ext>
            </a:extLst>
          </p:cNvPr>
          <p:cNvSpPr txBox="1"/>
          <p:nvPr/>
        </p:nvSpPr>
        <p:spPr>
          <a:xfrm>
            <a:off x="224027" y="541094"/>
            <a:ext cx="11628003" cy="1200329"/>
          </a:xfrm>
          <a:prstGeom prst="rect">
            <a:avLst/>
          </a:prstGeom>
          <a:noFill/>
        </p:spPr>
        <p:txBody>
          <a:bodyPr wrap="square">
            <a:spAutoFit/>
          </a:bodyPr>
          <a:lstStyle/>
          <a:p>
            <a:pPr algn="just"/>
            <a:r>
              <a:rPr lang="en-US" sz="2400" b="1" i="0" dirty="0">
                <a:solidFill>
                  <a:srgbClr val="ECECEC"/>
                </a:solidFill>
                <a:effectLst/>
                <a:highlight>
                  <a:srgbClr val="212121"/>
                </a:highlight>
                <a:latin typeface="Söhne"/>
              </a:rPr>
              <a:t>Automation of Repetitive Tasks</a:t>
            </a:r>
            <a:r>
              <a:rPr lang="en-US" sz="2400" b="0" i="0" dirty="0">
                <a:solidFill>
                  <a:srgbClr val="ECECEC"/>
                </a:solidFill>
                <a:effectLst/>
                <a:highlight>
                  <a:srgbClr val="212121"/>
                </a:highlight>
                <a:latin typeface="Söhne"/>
              </a:rPr>
              <a:t>: With shell scripts, you can automate tasks such as file management, system monitoring, and batch processing, which saves time and reduces the potential for human error.</a:t>
            </a:r>
            <a:endParaRPr lang="en-US" sz="2400" dirty="0"/>
          </a:p>
        </p:txBody>
      </p:sp>
      <p:sp>
        <p:nvSpPr>
          <p:cNvPr id="10" name="TextBox 9">
            <a:extLst>
              <a:ext uri="{FF2B5EF4-FFF2-40B4-BE49-F238E27FC236}">
                <a16:creationId xmlns:a16="http://schemas.microsoft.com/office/drawing/2014/main" id="{EAB3AA63-1ED4-6281-8B67-E62BB71A96F9}"/>
              </a:ext>
            </a:extLst>
          </p:cNvPr>
          <p:cNvSpPr txBox="1"/>
          <p:nvPr/>
        </p:nvSpPr>
        <p:spPr>
          <a:xfrm>
            <a:off x="224026" y="1852246"/>
            <a:ext cx="11628003" cy="1569660"/>
          </a:xfrm>
          <a:prstGeom prst="rect">
            <a:avLst/>
          </a:prstGeom>
          <a:noFill/>
        </p:spPr>
        <p:txBody>
          <a:bodyPr wrap="square">
            <a:spAutoFit/>
          </a:bodyPr>
          <a:lstStyle/>
          <a:p>
            <a:pPr algn="just"/>
            <a:r>
              <a:rPr lang="en-US" sz="2400" b="1" i="0" dirty="0">
                <a:solidFill>
                  <a:srgbClr val="ECECEC"/>
                </a:solidFill>
                <a:effectLst/>
                <a:highlight>
                  <a:srgbClr val="212121"/>
                </a:highlight>
                <a:latin typeface="Söhne"/>
              </a:rPr>
              <a:t>Powerful Text Processing Tools</a:t>
            </a:r>
            <a:r>
              <a:rPr lang="en-US" sz="2400" b="0" i="0" dirty="0">
                <a:solidFill>
                  <a:srgbClr val="ECECEC"/>
                </a:solidFill>
                <a:effectLst/>
                <a:highlight>
                  <a:srgbClr val="212121"/>
                </a:highlight>
                <a:latin typeface="Söhne"/>
              </a:rPr>
              <a:t>: Unix provides a suite of powerful text processing tools like </a:t>
            </a:r>
            <a:r>
              <a:rPr lang="en-US" sz="2400" dirty="0">
                <a:solidFill>
                  <a:srgbClr val="FFC000"/>
                </a:solidFill>
              </a:rPr>
              <a:t>grep</a:t>
            </a:r>
            <a:r>
              <a:rPr lang="en-US" sz="2400" b="0" i="0" dirty="0">
                <a:solidFill>
                  <a:srgbClr val="ECECEC"/>
                </a:solidFill>
                <a:effectLst/>
                <a:highlight>
                  <a:srgbClr val="212121"/>
                </a:highlight>
                <a:latin typeface="Söhne"/>
              </a:rPr>
              <a:t>, </a:t>
            </a:r>
            <a:r>
              <a:rPr lang="en-US" sz="2400" dirty="0">
                <a:solidFill>
                  <a:srgbClr val="FFC000"/>
                </a:solidFill>
              </a:rPr>
              <a:t>awk</a:t>
            </a:r>
            <a:r>
              <a:rPr lang="en-US" sz="2400" b="0" i="0" dirty="0">
                <a:solidFill>
                  <a:srgbClr val="ECECEC"/>
                </a:solidFill>
                <a:effectLst/>
                <a:highlight>
                  <a:srgbClr val="212121"/>
                </a:highlight>
                <a:latin typeface="Söhne"/>
              </a:rPr>
              <a:t>, and </a:t>
            </a:r>
            <a:r>
              <a:rPr lang="en-US" sz="2400" dirty="0">
                <a:solidFill>
                  <a:srgbClr val="FFC000"/>
                </a:solidFill>
              </a:rPr>
              <a:t>sed</a:t>
            </a:r>
            <a:r>
              <a:rPr lang="en-US" sz="2400" b="0" i="0" dirty="0">
                <a:solidFill>
                  <a:srgbClr val="ECECEC"/>
                </a:solidFill>
                <a:effectLst/>
                <a:highlight>
                  <a:srgbClr val="212121"/>
                </a:highlight>
                <a:latin typeface="Söhne"/>
              </a:rPr>
              <a:t>, which are indispensable for working with text data, logs, and configuration files. These tools allow for complex data manipulation and analysis, making it easier to extract, transform, and process data efficiently.</a:t>
            </a:r>
            <a:endParaRPr lang="en-US" sz="2400" dirty="0"/>
          </a:p>
        </p:txBody>
      </p:sp>
      <p:sp>
        <p:nvSpPr>
          <p:cNvPr id="12" name="TextBox 11">
            <a:extLst>
              <a:ext uri="{FF2B5EF4-FFF2-40B4-BE49-F238E27FC236}">
                <a16:creationId xmlns:a16="http://schemas.microsoft.com/office/drawing/2014/main" id="{905CB748-2471-EE08-3E5F-113493B4C87F}"/>
              </a:ext>
            </a:extLst>
          </p:cNvPr>
          <p:cNvSpPr txBox="1"/>
          <p:nvPr/>
        </p:nvSpPr>
        <p:spPr>
          <a:xfrm>
            <a:off x="224025" y="3629090"/>
            <a:ext cx="11628003" cy="830997"/>
          </a:xfrm>
          <a:prstGeom prst="rect">
            <a:avLst/>
          </a:prstGeom>
          <a:noFill/>
        </p:spPr>
        <p:txBody>
          <a:bodyPr wrap="square">
            <a:spAutoFit/>
          </a:bodyPr>
          <a:lstStyle/>
          <a:p>
            <a:pPr algn="just"/>
            <a:r>
              <a:rPr lang="en-US" sz="2400" b="1" i="0" dirty="0">
                <a:solidFill>
                  <a:srgbClr val="ECECEC"/>
                </a:solidFill>
                <a:effectLst/>
                <a:highlight>
                  <a:srgbClr val="212121"/>
                </a:highlight>
                <a:latin typeface="Söhne"/>
              </a:rPr>
              <a:t>Portability and Compatibility</a:t>
            </a:r>
            <a:r>
              <a:rPr lang="en-US" sz="2400" b="0" i="0" dirty="0">
                <a:solidFill>
                  <a:srgbClr val="ECECEC"/>
                </a:solidFill>
                <a:effectLst/>
                <a:highlight>
                  <a:srgbClr val="212121"/>
                </a:highlight>
                <a:latin typeface="Söhne"/>
              </a:rPr>
              <a:t>: Unix scripts can be run on any Unix-like operating systems, such as Linux, macOS, and BSD variants, without the need for modification.</a:t>
            </a:r>
            <a:endParaRPr lang="en-US" sz="2400" dirty="0"/>
          </a:p>
        </p:txBody>
      </p:sp>
      <p:sp>
        <p:nvSpPr>
          <p:cNvPr id="14" name="TextBox 13">
            <a:extLst>
              <a:ext uri="{FF2B5EF4-FFF2-40B4-BE49-F238E27FC236}">
                <a16:creationId xmlns:a16="http://schemas.microsoft.com/office/drawing/2014/main" id="{AF2B328B-F70F-0CE7-91D4-5DDE9620D961}"/>
              </a:ext>
            </a:extLst>
          </p:cNvPr>
          <p:cNvSpPr txBox="1"/>
          <p:nvPr/>
        </p:nvSpPr>
        <p:spPr>
          <a:xfrm>
            <a:off x="224026" y="4659106"/>
            <a:ext cx="11628002" cy="1569660"/>
          </a:xfrm>
          <a:prstGeom prst="rect">
            <a:avLst/>
          </a:prstGeom>
          <a:noFill/>
        </p:spPr>
        <p:txBody>
          <a:bodyPr wrap="square">
            <a:spAutoFit/>
          </a:bodyPr>
          <a:lstStyle/>
          <a:p>
            <a:pPr algn="just"/>
            <a:r>
              <a:rPr lang="en-US" sz="2400" b="1" i="0" dirty="0">
                <a:solidFill>
                  <a:srgbClr val="ECECEC"/>
                </a:solidFill>
                <a:effectLst/>
                <a:highlight>
                  <a:srgbClr val="212121"/>
                </a:highlight>
                <a:latin typeface="Söhne"/>
              </a:rPr>
              <a:t>Customization and Control</a:t>
            </a:r>
            <a:r>
              <a:rPr lang="en-US" sz="2400" b="0" i="0" dirty="0">
                <a:solidFill>
                  <a:srgbClr val="ECECEC"/>
                </a:solidFill>
                <a:effectLst/>
                <a:highlight>
                  <a:srgbClr val="212121"/>
                </a:highlight>
                <a:latin typeface="Söhne"/>
              </a:rPr>
              <a:t>: Unix programming offers a high degree of customization and control over the system. Users can write scripts to modify their environment, manage system services, and configure system settings to their liking. This level of control allows users to optimize their workflows and system performance.</a:t>
            </a:r>
            <a:endParaRPr lang="en-US" sz="2400" dirty="0"/>
          </a:p>
        </p:txBody>
      </p:sp>
    </p:spTree>
    <p:extLst>
      <p:ext uri="{BB962C8B-B14F-4D97-AF65-F5344CB8AC3E}">
        <p14:creationId xmlns:p14="http://schemas.microsoft.com/office/powerpoint/2010/main" val="25147473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81FFBEC-459F-F08F-29AA-E60733885A6C}"/>
              </a:ext>
            </a:extLst>
          </p:cNvPr>
          <p:cNvSpPr txBox="1"/>
          <p:nvPr/>
        </p:nvSpPr>
        <p:spPr>
          <a:xfrm>
            <a:off x="304800" y="103893"/>
            <a:ext cx="11711354" cy="1569660"/>
          </a:xfrm>
          <a:prstGeom prst="rect">
            <a:avLst/>
          </a:prstGeom>
          <a:noFill/>
        </p:spPr>
        <p:txBody>
          <a:bodyPr wrap="square">
            <a:spAutoFit/>
          </a:bodyPr>
          <a:lstStyle/>
          <a:p>
            <a:pPr algn="just"/>
            <a:r>
              <a:rPr lang="en-US" sz="2400" b="1" i="0" dirty="0">
                <a:solidFill>
                  <a:srgbClr val="ECECEC"/>
                </a:solidFill>
                <a:effectLst/>
                <a:highlight>
                  <a:srgbClr val="212121"/>
                </a:highlight>
                <a:latin typeface="Söhne"/>
              </a:rPr>
              <a:t>Foundation for Many Modern Technologies</a:t>
            </a:r>
            <a:r>
              <a:rPr lang="en-US" sz="2400" b="0" i="0" dirty="0">
                <a:solidFill>
                  <a:srgbClr val="ECECEC"/>
                </a:solidFill>
                <a:effectLst/>
                <a:highlight>
                  <a:srgbClr val="212121"/>
                </a:highlight>
                <a:latin typeface="Söhne"/>
              </a:rPr>
              <a:t>: Unix-like operating systems are the foundation for many modern technologies, including web servers, cloud computing, and mobile devices. Understanding Unix programming is essential for working with these technologies, as it provides the knowledge to manage and interact with the underlying systems effectively.</a:t>
            </a:r>
            <a:endParaRPr lang="en-US" sz="2400" dirty="0"/>
          </a:p>
        </p:txBody>
      </p:sp>
      <p:sp>
        <p:nvSpPr>
          <p:cNvPr id="5" name="TextBox 4">
            <a:extLst>
              <a:ext uri="{FF2B5EF4-FFF2-40B4-BE49-F238E27FC236}">
                <a16:creationId xmlns:a16="http://schemas.microsoft.com/office/drawing/2014/main" id="{6A856156-8243-A3AE-B47B-BA037969B316}"/>
              </a:ext>
            </a:extLst>
          </p:cNvPr>
          <p:cNvSpPr txBox="1"/>
          <p:nvPr/>
        </p:nvSpPr>
        <p:spPr>
          <a:xfrm>
            <a:off x="304797" y="1881780"/>
            <a:ext cx="11711353" cy="1569660"/>
          </a:xfrm>
          <a:prstGeom prst="rect">
            <a:avLst/>
          </a:prstGeom>
          <a:noFill/>
        </p:spPr>
        <p:txBody>
          <a:bodyPr wrap="square">
            <a:spAutoFit/>
          </a:bodyPr>
          <a:lstStyle/>
          <a:p>
            <a:pPr algn="just"/>
            <a:r>
              <a:rPr lang="en-US" sz="2400" b="1" i="0" dirty="0">
                <a:solidFill>
                  <a:srgbClr val="ECECEC"/>
                </a:solidFill>
                <a:effectLst/>
                <a:highlight>
                  <a:srgbClr val="212121"/>
                </a:highlight>
                <a:latin typeface="Söhne"/>
              </a:rPr>
              <a:t>Efficient Resource Management</a:t>
            </a:r>
            <a:r>
              <a:rPr lang="en-US" sz="2400" b="0" i="0" dirty="0">
                <a:solidFill>
                  <a:srgbClr val="ECECEC"/>
                </a:solidFill>
                <a:effectLst/>
                <a:highlight>
                  <a:srgbClr val="212121"/>
                </a:highlight>
                <a:latin typeface="Söhne"/>
              </a:rPr>
              <a:t>: Unix programming allows users to directly manage system resources, such as processes and memory, through the command line. This direct access facilitates efficient resource management, enabling users to monitor and optimize system performance.</a:t>
            </a:r>
            <a:endParaRPr lang="en-US" sz="2400" dirty="0"/>
          </a:p>
        </p:txBody>
      </p:sp>
      <p:sp>
        <p:nvSpPr>
          <p:cNvPr id="7" name="TextBox 6">
            <a:extLst>
              <a:ext uri="{FF2B5EF4-FFF2-40B4-BE49-F238E27FC236}">
                <a16:creationId xmlns:a16="http://schemas.microsoft.com/office/drawing/2014/main" id="{18D340DD-7A9C-180D-3B91-9E2AEEBEE7AD}"/>
              </a:ext>
            </a:extLst>
          </p:cNvPr>
          <p:cNvSpPr txBox="1"/>
          <p:nvPr/>
        </p:nvSpPr>
        <p:spPr>
          <a:xfrm>
            <a:off x="304796" y="3512123"/>
            <a:ext cx="11711353" cy="1569660"/>
          </a:xfrm>
          <a:prstGeom prst="rect">
            <a:avLst/>
          </a:prstGeom>
          <a:noFill/>
        </p:spPr>
        <p:txBody>
          <a:bodyPr wrap="square">
            <a:spAutoFit/>
          </a:bodyPr>
          <a:lstStyle/>
          <a:p>
            <a:pPr algn="just"/>
            <a:r>
              <a:rPr lang="en-US" sz="2400" b="1" i="0" dirty="0">
                <a:solidFill>
                  <a:srgbClr val="ECECEC"/>
                </a:solidFill>
                <a:effectLst/>
                <a:highlight>
                  <a:srgbClr val="212121"/>
                </a:highlight>
                <a:latin typeface="Söhne"/>
              </a:rPr>
              <a:t>Scripting for Development and Deployment</a:t>
            </a:r>
            <a:r>
              <a:rPr lang="en-US" sz="2400" b="0" i="0" dirty="0">
                <a:solidFill>
                  <a:srgbClr val="ECECEC"/>
                </a:solidFill>
                <a:effectLst/>
                <a:highlight>
                  <a:srgbClr val="212121"/>
                </a:highlight>
                <a:latin typeface="Söhne"/>
              </a:rPr>
              <a:t>: For software developers, Unix scripting is crucial for automating development and deployment processes. Scripts can be used to automate code compilation, testing, and deployment, making the software development lifecycle more efficient.</a:t>
            </a:r>
            <a:endParaRPr lang="en-US" sz="2400" dirty="0"/>
          </a:p>
        </p:txBody>
      </p:sp>
      <p:sp>
        <p:nvSpPr>
          <p:cNvPr id="11" name="TextBox 10">
            <a:extLst>
              <a:ext uri="{FF2B5EF4-FFF2-40B4-BE49-F238E27FC236}">
                <a16:creationId xmlns:a16="http://schemas.microsoft.com/office/drawing/2014/main" id="{5032762B-FC4C-E803-0C75-4DB03E8CF7F2}"/>
              </a:ext>
            </a:extLst>
          </p:cNvPr>
          <p:cNvSpPr txBox="1"/>
          <p:nvPr/>
        </p:nvSpPr>
        <p:spPr>
          <a:xfrm>
            <a:off x="304797" y="5229328"/>
            <a:ext cx="11711353" cy="1569660"/>
          </a:xfrm>
          <a:prstGeom prst="rect">
            <a:avLst/>
          </a:prstGeom>
          <a:noFill/>
        </p:spPr>
        <p:txBody>
          <a:bodyPr wrap="square">
            <a:spAutoFit/>
          </a:bodyPr>
          <a:lstStyle/>
          <a:p>
            <a:r>
              <a:rPr lang="en-US" sz="2400" b="1" i="0" dirty="0">
                <a:solidFill>
                  <a:srgbClr val="ECECEC"/>
                </a:solidFill>
                <a:effectLst/>
                <a:highlight>
                  <a:srgbClr val="212121"/>
                </a:highlight>
                <a:latin typeface="Söhne"/>
              </a:rPr>
              <a:t>Learning Unix Philosophy</a:t>
            </a:r>
            <a:r>
              <a:rPr lang="en-US" sz="2400" b="0" i="0" dirty="0">
                <a:solidFill>
                  <a:srgbClr val="ECECEC"/>
                </a:solidFill>
                <a:effectLst/>
                <a:highlight>
                  <a:srgbClr val="212121"/>
                </a:highlight>
                <a:latin typeface="Söhne"/>
              </a:rPr>
              <a:t>: The Unix philosophy emphasizes building simple, modular programs that do one thing well and can be combined to perform complex tasks. Learning Unix programming instills this philosophy, encouraging the creation of efficient, reusable code.</a:t>
            </a:r>
            <a:endParaRPr lang="en-US" sz="2400" dirty="0"/>
          </a:p>
        </p:txBody>
      </p:sp>
    </p:spTree>
    <p:extLst>
      <p:ext uri="{BB962C8B-B14F-4D97-AF65-F5344CB8AC3E}">
        <p14:creationId xmlns:p14="http://schemas.microsoft.com/office/powerpoint/2010/main" val="35218969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FA480C2-FE69-0477-7B36-926AFFFD5619}"/>
              </a:ext>
            </a:extLst>
          </p:cNvPr>
          <p:cNvSpPr txBox="1"/>
          <p:nvPr/>
        </p:nvSpPr>
        <p:spPr>
          <a:xfrm>
            <a:off x="339969" y="372181"/>
            <a:ext cx="6096000" cy="461665"/>
          </a:xfrm>
          <a:prstGeom prst="rect">
            <a:avLst/>
          </a:prstGeom>
          <a:noFill/>
        </p:spPr>
        <p:txBody>
          <a:bodyPr wrap="square">
            <a:spAutoFit/>
          </a:bodyPr>
          <a:lstStyle/>
          <a:p>
            <a:r>
              <a:rPr lang="en-US" sz="2400" dirty="0">
                <a:solidFill>
                  <a:srgbClr val="FFC000"/>
                </a:solidFill>
              </a:rPr>
              <a:t>BASICS: Declaring Variable</a:t>
            </a:r>
            <a:endParaRPr lang="en-US" sz="2400" dirty="0"/>
          </a:p>
        </p:txBody>
      </p:sp>
      <p:pic>
        <p:nvPicPr>
          <p:cNvPr id="12" name="Picture 11">
            <a:extLst>
              <a:ext uri="{FF2B5EF4-FFF2-40B4-BE49-F238E27FC236}">
                <a16:creationId xmlns:a16="http://schemas.microsoft.com/office/drawing/2014/main" id="{400340C4-C4FA-EF17-9955-6991D8DF2EC0}"/>
              </a:ext>
            </a:extLst>
          </p:cNvPr>
          <p:cNvPicPr>
            <a:picLocks noChangeAspect="1"/>
          </p:cNvPicPr>
          <p:nvPr/>
        </p:nvPicPr>
        <p:blipFill>
          <a:blip r:embed="rId2"/>
          <a:stretch>
            <a:fillRect/>
          </a:stretch>
        </p:blipFill>
        <p:spPr>
          <a:xfrm>
            <a:off x="2127738" y="1807029"/>
            <a:ext cx="7772400" cy="3243942"/>
          </a:xfrm>
          <a:prstGeom prst="rect">
            <a:avLst/>
          </a:prstGeom>
        </p:spPr>
      </p:pic>
    </p:spTree>
    <p:extLst>
      <p:ext uri="{BB962C8B-B14F-4D97-AF65-F5344CB8AC3E}">
        <p14:creationId xmlns:p14="http://schemas.microsoft.com/office/powerpoint/2010/main" val="8294546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FA480C2-FE69-0477-7B36-926AFFFD5619}"/>
              </a:ext>
            </a:extLst>
          </p:cNvPr>
          <p:cNvSpPr txBox="1"/>
          <p:nvPr/>
        </p:nvSpPr>
        <p:spPr>
          <a:xfrm>
            <a:off x="339969" y="372181"/>
            <a:ext cx="6096000" cy="461665"/>
          </a:xfrm>
          <a:prstGeom prst="rect">
            <a:avLst/>
          </a:prstGeom>
          <a:noFill/>
        </p:spPr>
        <p:txBody>
          <a:bodyPr wrap="square">
            <a:spAutoFit/>
          </a:bodyPr>
          <a:lstStyle/>
          <a:p>
            <a:r>
              <a:rPr lang="en-US" sz="2400" dirty="0">
                <a:solidFill>
                  <a:srgbClr val="FFC000"/>
                </a:solidFill>
              </a:rPr>
              <a:t>BASICS: Declaring Variable</a:t>
            </a:r>
            <a:endParaRPr lang="en-US" sz="2400" dirty="0"/>
          </a:p>
        </p:txBody>
      </p:sp>
      <p:pic>
        <p:nvPicPr>
          <p:cNvPr id="2" name="Picture 1">
            <a:extLst>
              <a:ext uri="{FF2B5EF4-FFF2-40B4-BE49-F238E27FC236}">
                <a16:creationId xmlns:a16="http://schemas.microsoft.com/office/drawing/2014/main" id="{957B6DE8-F6D4-0364-A75F-E9CAF09DF61F}"/>
              </a:ext>
            </a:extLst>
          </p:cNvPr>
          <p:cNvPicPr>
            <a:picLocks noChangeAspect="1"/>
          </p:cNvPicPr>
          <p:nvPr/>
        </p:nvPicPr>
        <p:blipFill>
          <a:blip r:embed="rId2"/>
          <a:stretch>
            <a:fillRect/>
          </a:stretch>
        </p:blipFill>
        <p:spPr>
          <a:xfrm>
            <a:off x="2209800" y="1061990"/>
            <a:ext cx="7772400" cy="5423829"/>
          </a:xfrm>
          <a:prstGeom prst="rect">
            <a:avLst/>
          </a:prstGeom>
        </p:spPr>
      </p:pic>
    </p:spTree>
    <p:extLst>
      <p:ext uri="{BB962C8B-B14F-4D97-AF65-F5344CB8AC3E}">
        <p14:creationId xmlns:p14="http://schemas.microsoft.com/office/powerpoint/2010/main" val="28858702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FA480C2-FE69-0477-7B36-926AFFFD5619}"/>
              </a:ext>
            </a:extLst>
          </p:cNvPr>
          <p:cNvSpPr txBox="1"/>
          <p:nvPr/>
        </p:nvSpPr>
        <p:spPr>
          <a:xfrm>
            <a:off x="339969" y="372181"/>
            <a:ext cx="6096000" cy="461665"/>
          </a:xfrm>
          <a:prstGeom prst="rect">
            <a:avLst/>
          </a:prstGeom>
          <a:noFill/>
        </p:spPr>
        <p:txBody>
          <a:bodyPr wrap="square">
            <a:spAutoFit/>
          </a:bodyPr>
          <a:lstStyle/>
          <a:p>
            <a:r>
              <a:rPr lang="en-US" sz="2400" dirty="0">
                <a:solidFill>
                  <a:srgbClr val="FFC000"/>
                </a:solidFill>
              </a:rPr>
              <a:t>BASICS: Declaring Variable</a:t>
            </a:r>
            <a:endParaRPr lang="en-US" sz="2400" dirty="0"/>
          </a:p>
        </p:txBody>
      </p:sp>
      <p:pic>
        <p:nvPicPr>
          <p:cNvPr id="2" name="Picture 1">
            <a:extLst>
              <a:ext uri="{FF2B5EF4-FFF2-40B4-BE49-F238E27FC236}">
                <a16:creationId xmlns:a16="http://schemas.microsoft.com/office/drawing/2014/main" id="{957B6DE8-F6D4-0364-A75F-E9CAF09DF61F}"/>
              </a:ext>
            </a:extLst>
          </p:cNvPr>
          <p:cNvPicPr>
            <a:picLocks noChangeAspect="1"/>
          </p:cNvPicPr>
          <p:nvPr/>
        </p:nvPicPr>
        <p:blipFill>
          <a:blip r:embed="rId2"/>
          <a:stretch>
            <a:fillRect/>
          </a:stretch>
        </p:blipFill>
        <p:spPr>
          <a:xfrm>
            <a:off x="2209800" y="1061990"/>
            <a:ext cx="7772400" cy="5423829"/>
          </a:xfrm>
          <a:prstGeom prst="rect">
            <a:avLst/>
          </a:prstGeom>
        </p:spPr>
      </p:pic>
    </p:spTree>
    <p:extLst>
      <p:ext uri="{BB962C8B-B14F-4D97-AF65-F5344CB8AC3E}">
        <p14:creationId xmlns:p14="http://schemas.microsoft.com/office/powerpoint/2010/main" val="19814406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FA480C2-FE69-0477-7B36-926AFFFD5619}"/>
              </a:ext>
            </a:extLst>
          </p:cNvPr>
          <p:cNvSpPr txBox="1"/>
          <p:nvPr/>
        </p:nvSpPr>
        <p:spPr>
          <a:xfrm>
            <a:off x="339969" y="372181"/>
            <a:ext cx="6096000" cy="461665"/>
          </a:xfrm>
          <a:prstGeom prst="rect">
            <a:avLst/>
          </a:prstGeom>
          <a:noFill/>
        </p:spPr>
        <p:txBody>
          <a:bodyPr wrap="square">
            <a:spAutoFit/>
          </a:bodyPr>
          <a:lstStyle/>
          <a:p>
            <a:r>
              <a:rPr lang="en-US" sz="2400" dirty="0">
                <a:solidFill>
                  <a:srgbClr val="FFC000"/>
                </a:solidFill>
              </a:rPr>
              <a:t>BASICS: Declaring Variable</a:t>
            </a:r>
            <a:endParaRPr lang="en-US" sz="2400" dirty="0"/>
          </a:p>
        </p:txBody>
      </p:sp>
      <p:pic>
        <p:nvPicPr>
          <p:cNvPr id="3" name="Picture 2">
            <a:extLst>
              <a:ext uri="{FF2B5EF4-FFF2-40B4-BE49-F238E27FC236}">
                <a16:creationId xmlns:a16="http://schemas.microsoft.com/office/drawing/2014/main" id="{A71DE1F3-137A-BCF8-408E-8BE5EBAFE339}"/>
              </a:ext>
            </a:extLst>
          </p:cNvPr>
          <p:cNvPicPr>
            <a:picLocks noChangeAspect="1"/>
          </p:cNvPicPr>
          <p:nvPr/>
        </p:nvPicPr>
        <p:blipFill rotWithShape="1">
          <a:blip r:embed="rId2"/>
          <a:srcRect t="6802"/>
          <a:stretch/>
        </p:blipFill>
        <p:spPr>
          <a:xfrm>
            <a:off x="2209800" y="2168769"/>
            <a:ext cx="7772400" cy="2718872"/>
          </a:xfrm>
          <a:prstGeom prst="rect">
            <a:avLst/>
          </a:prstGeom>
        </p:spPr>
      </p:pic>
    </p:spTree>
    <p:extLst>
      <p:ext uri="{BB962C8B-B14F-4D97-AF65-F5344CB8AC3E}">
        <p14:creationId xmlns:p14="http://schemas.microsoft.com/office/powerpoint/2010/main" val="2793679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FA480C2-FE69-0477-7B36-926AFFFD5619}"/>
              </a:ext>
            </a:extLst>
          </p:cNvPr>
          <p:cNvSpPr txBox="1"/>
          <p:nvPr/>
        </p:nvSpPr>
        <p:spPr>
          <a:xfrm>
            <a:off x="339969" y="372181"/>
            <a:ext cx="6096000" cy="461665"/>
          </a:xfrm>
          <a:prstGeom prst="rect">
            <a:avLst/>
          </a:prstGeom>
          <a:noFill/>
        </p:spPr>
        <p:txBody>
          <a:bodyPr wrap="square">
            <a:spAutoFit/>
          </a:bodyPr>
          <a:lstStyle/>
          <a:p>
            <a:r>
              <a:rPr lang="en-US" sz="2400" dirty="0">
                <a:solidFill>
                  <a:srgbClr val="FFC000"/>
                </a:solidFill>
              </a:rPr>
              <a:t>BASICS: Declaring Variable</a:t>
            </a:r>
            <a:endParaRPr lang="en-US" sz="2400" dirty="0"/>
          </a:p>
        </p:txBody>
      </p:sp>
      <p:pic>
        <p:nvPicPr>
          <p:cNvPr id="2" name="Picture 1">
            <a:extLst>
              <a:ext uri="{FF2B5EF4-FFF2-40B4-BE49-F238E27FC236}">
                <a16:creationId xmlns:a16="http://schemas.microsoft.com/office/drawing/2014/main" id="{C5E4EBDC-9DDA-87BA-B43B-BC52D327F178}"/>
              </a:ext>
            </a:extLst>
          </p:cNvPr>
          <p:cNvPicPr>
            <a:picLocks noChangeAspect="1"/>
          </p:cNvPicPr>
          <p:nvPr/>
        </p:nvPicPr>
        <p:blipFill>
          <a:blip r:embed="rId2"/>
          <a:stretch>
            <a:fillRect/>
          </a:stretch>
        </p:blipFill>
        <p:spPr>
          <a:xfrm>
            <a:off x="2209800" y="975493"/>
            <a:ext cx="7772400" cy="5329043"/>
          </a:xfrm>
          <a:prstGeom prst="rect">
            <a:avLst/>
          </a:prstGeom>
        </p:spPr>
      </p:pic>
    </p:spTree>
    <p:extLst>
      <p:ext uri="{BB962C8B-B14F-4D97-AF65-F5344CB8AC3E}">
        <p14:creationId xmlns:p14="http://schemas.microsoft.com/office/powerpoint/2010/main" val="1179963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FA480C2-FE69-0477-7B36-926AFFFD5619}"/>
              </a:ext>
            </a:extLst>
          </p:cNvPr>
          <p:cNvSpPr txBox="1"/>
          <p:nvPr/>
        </p:nvSpPr>
        <p:spPr>
          <a:xfrm>
            <a:off x="339969" y="372181"/>
            <a:ext cx="6096000" cy="461665"/>
          </a:xfrm>
          <a:prstGeom prst="rect">
            <a:avLst/>
          </a:prstGeom>
          <a:noFill/>
        </p:spPr>
        <p:txBody>
          <a:bodyPr wrap="square">
            <a:spAutoFit/>
          </a:bodyPr>
          <a:lstStyle/>
          <a:p>
            <a:r>
              <a:rPr lang="en-US" sz="2400" dirty="0">
                <a:solidFill>
                  <a:srgbClr val="FFC000"/>
                </a:solidFill>
              </a:rPr>
              <a:t>BASICS: Declaring Variable</a:t>
            </a:r>
            <a:endParaRPr lang="en-US" sz="2400" dirty="0"/>
          </a:p>
        </p:txBody>
      </p:sp>
      <p:pic>
        <p:nvPicPr>
          <p:cNvPr id="3" name="Picture 2">
            <a:extLst>
              <a:ext uri="{FF2B5EF4-FFF2-40B4-BE49-F238E27FC236}">
                <a16:creationId xmlns:a16="http://schemas.microsoft.com/office/drawing/2014/main" id="{57E16462-FCB4-BF9F-9EBD-6F21D9A842CE}"/>
              </a:ext>
            </a:extLst>
          </p:cNvPr>
          <p:cNvPicPr>
            <a:picLocks noChangeAspect="1"/>
          </p:cNvPicPr>
          <p:nvPr/>
        </p:nvPicPr>
        <p:blipFill>
          <a:blip r:embed="rId2"/>
          <a:stretch>
            <a:fillRect/>
          </a:stretch>
        </p:blipFill>
        <p:spPr>
          <a:xfrm>
            <a:off x="2209800" y="1701800"/>
            <a:ext cx="7772400" cy="3454400"/>
          </a:xfrm>
          <a:prstGeom prst="rect">
            <a:avLst/>
          </a:prstGeom>
        </p:spPr>
      </p:pic>
    </p:spTree>
    <p:extLst>
      <p:ext uri="{BB962C8B-B14F-4D97-AF65-F5344CB8AC3E}">
        <p14:creationId xmlns:p14="http://schemas.microsoft.com/office/powerpoint/2010/main" val="19170232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FA480C2-FE69-0477-7B36-926AFFFD5619}"/>
              </a:ext>
            </a:extLst>
          </p:cNvPr>
          <p:cNvSpPr txBox="1"/>
          <p:nvPr/>
        </p:nvSpPr>
        <p:spPr>
          <a:xfrm>
            <a:off x="339969" y="372181"/>
            <a:ext cx="6096000" cy="461665"/>
          </a:xfrm>
          <a:prstGeom prst="rect">
            <a:avLst/>
          </a:prstGeom>
          <a:noFill/>
        </p:spPr>
        <p:txBody>
          <a:bodyPr wrap="square">
            <a:spAutoFit/>
          </a:bodyPr>
          <a:lstStyle/>
          <a:p>
            <a:r>
              <a:rPr lang="en-US" sz="2400" dirty="0">
                <a:solidFill>
                  <a:srgbClr val="FFC000"/>
                </a:solidFill>
              </a:rPr>
              <a:t>BASICS: Declaring Variable</a:t>
            </a:r>
            <a:endParaRPr lang="en-US" sz="2400" dirty="0"/>
          </a:p>
        </p:txBody>
      </p:sp>
      <p:pic>
        <p:nvPicPr>
          <p:cNvPr id="3" name="Picture 2">
            <a:extLst>
              <a:ext uri="{FF2B5EF4-FFF2-40B4-BE49-F238E27FC236}">
                <a16:creationId xmlns:a16="http://schemas.microsoft.com/office/drawing/2014/main" id="{CB1C38FB-D53F-AA7B-033E-B50FAAB1AD56}"/>
              </a:ext>
            </a:extLst>
          </p:cNvPr>
          <p:cNvPicPr>
            <a:picLocks noChangeAspect="1"/>
          </p:cNvPicPr>
          <p:nvPr/>
        </p:nvPicPr>
        <p:blipFill rotWithShape="1">
          <a:blip r:embed="rId2"/>
          <a:srcRect t="43641" r="80078" b="51638"/>
          <a:stretch/>
        </p:blipFill>
        <p:spPr>
          <a:xfrm>
            <a:off x="2209800" y="3429001"/>
            <a:ext cx="8405540" cy="1389887"/>
          </a:xfrm>
          <a:prstGeom prst="rect">
            <a:avLst/>
          </a:prstGeom>
        </p:spPr>
      </p:pic>
      <p:sp>
        <p:nvSpPr>
          <p:cNvPr id="5" name="TextBox 4">
            <a:extLst>
              <a:ext uri="{FF2B5EF4-FFF2-40B4-BE49-F238E27FC236}">
                <a16:creationId xmlns:a16="http://schemas.microsoft.com/office/drawing/2014/main" id="{E6BFB1FB-6231-10B9-7BB5-623364507E48}"/>
              </a:ext>
            </a:extLst>
          </p:cNvPr>
          <p:cNvSpPr txBox="1"/>
          <p:nvPr/>
        </p:nvSpPr>
        <p:spPr>
          <a:xfrm>
            <a:off x="2209800" y="1859339"/>
            <a:ext cx="2555826" cy="1569660"/>
          </a:xfrm>
          <a:prstGeom prst="rect">
            <a:avLst/>
          </a:prstGeom>
          <a:noFill/>
        </p:spPr>
        <p:txBody>
          <a:bodyPr wrap="square" rtlCol="0">
            <a:spAutoFit/>
          </a:bodyPr>
          <a:lstStyle/>
          <a:p>
            <a:r>
              <a:rPr lang="en-US" sz="2400" dirty="0">
                <a:solidFill>
                  <a:srgbClr val="FFC000"/>
                </a:solidFill>
              </a:rPr>
              <a:t>What happens if we run following without declaring?</a:t>
            </a:r>
          </a:p>
        </p:txBody>
      </p:sp>
    </p:spTree>
    <p:extLst>
      <p:ext uri="{BB962C8B-B14F-4D97-AF65-F5344CB8AC3E}">
        <p14:creationId xmlns:p14="http://schemas.microsoft.com/office/powerpoint/2010/main" val="14672344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FA480C2-FE69-0477-7B36-926AFFFD5619}"/>
              </a:ext>
            </a:extLst>
          </p:cNvPr>
          <p:cNvSpPr txBox="1"/>
          <p:nvPr/>
        </p:nvSpPr>
        <p:spPr>
          <a:xfrm>
            <a:off x="339969" y="372181"/>
            <a:ext cx="6096000" cy="461665"/>
          </a:xfrm>
          <a:prstGeom prst="rect">
            <a:avLst/>
          </a:prstGeom>
          <a:noFill/>
        </p:spPr>
        <p:txBody>
          <a:bodyPr wrap="square">
            <a:spAutoFit/>
          </a:bodyPr>
          <a:lstStyle/>
          <a:p>
            <a:r>
              <a:rPr lang="en-US" sz="2400" dirty="0">
                <a:solidFill>
                  <a:srgbClr val="FFC000"/>
                </a:solidFill>
              </a:rPr>
              <a:t>BASICS: Declaring Variable</a:t>
            </a:r>
            <a:endParaRPr lang="en-US" sz="2400" dirty="0"/>
          </a:p>
        </p:txBody>
      </p:sp>
      <p:sp>
        <p:nvSpPr>
          <p:cNvPr id="5" name="TextBox 4">
            <a:extLst>
              <a:ext uri="{FF2B5EF4-FFF2-40B4-BE49-F238E27FC236}">
                <a16:creationId xmlns:a16="http://schemas.microsoft.com/office/drawing/2014/main" id="{E6BFB1FB-6231-10B9-7BB5-623364507E48}"/>
              </a:ext>
            </a:extLst>
          </p:cNvPr>
          <p:cNvSpPr txBox="1"/>
          <p:nvPr/>
        </p:nvSpPr>
        <p:spPr>
          <a:xfrm>
            <a:off x="8409432" y="963227"/>
            <a:ext cx="2555826" cy="830997"/>
          </a:xfrm>
          <a:prstGeom prst="rect">
            <a:avLst/>
          </a:prstGeom>
          <a:noFill/>
        </p:spPr>
        <p:txBody>
          <a:bodyPr wrap="square" rtlCol="0">
            <a:spAutoFit/>
          </a:bodyPr>
          <a:lstStyle/>
          <a:p>
            <a:r>
              <a:rPr lang="en-US" sz="2400" b="1" dirty="0">
                <a:solidFill>
                  <a:srgbClr val="FFFF00"/>
                </a:solidFill>
              </a:rPr>
              <a:t>set/unset vs empty variable</a:t>
            </a:r>
          </a:p>
        </p:txBody>
      </p:sp>
      <p:pic>
        <p:nvPicPr>
          <p:cNvPr id="2" name="Picture 1">
            <a:extLst>
              <a:ext uri="{FF2B5EF4-FFF2-40B4-BE49-F238E27FC236}">
                <a16:creationId xmlns:a16="http://schemas.microsoft.com/office/drawing/2014/main" id="{E4BBB74B-9A87-5192-F5F1-55CEDAD2766A}"/>
              </a:ext>
            </a:extLst>
          </p:cNvPr>
          <p:cNvPicPr>
            <a:picLocks noChangeAspect="1"/>
          </p:cNvPicPr>
          <p:nvPr/>
        </p:nvPicPr>
        <p:blipFill>
          <a:blip r:embed="rId2"/>
          <a:stretch>
            <a:fillRect/>
          </a:stretch>
        </p:blipFill>
        <p:spPr>
          <a:xfrm>
            <a:off x="2209800" y="2409486"/>
            <a:ext cx="7772400" cy="2896219"/>
          </a:xfrm>
          <a:prstGeom prst="rect">
            <a:avLst/>
          </a:prstGeom>
        </p:spPr>
      </p:pic>
    </p:spTree>
    <p:extLst>
      <p:ext uri="{BB962C8B-B14F-4D97-AF65-F5344CB8AC3E}">
        <p14:creationId xmlns:p14="http://schemas.microsoft.com/office/powerpoint/2010/main" val="20363104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FA480C2-FE69-0477-7B36-926AFFFD5619}"/>
              </a:ext>
            </a:extLst>
          </p:cNvPr>
          <p:cNvSpPr txBox="1"/>
          <p:nvPr/>
        </p:nvSpPr>
        <p:spPr>
          <a:xfrm>
            <a:off x="339969" y="372181"/>
            <a:ext cx="6096000" cy="461665"/>
          </a:xfrm>
          <a:prstGeom prst="rect">
            <a:avLst/>
          </a:prstGeom>
          <a:noFill/>
        </p:spPr>
        <p:txBody>
          <a:bodyPr wrap="square">
            <a:spAutoFit/>
          </a:bodyPr>
          <a:lstStyle/>
          <a:p>
            <a:r>
              <a:rPr lang="en-US" sz="2400" dirty="0">
                <a:solidFill>
                  <a:srgbClr val="FFC000"/>
                </a:solidFill>
              </a:rPr>
              <a:t>BASICS: Special Variables</a:t>
            </a:r>
            <a:endParaRPr lang="en-US" sz="2400" dirty="0"/>
          </a:p>
        </p:txBody>
      </p:sp>
      <p:pic>
        <p:nvPicPr>
          <p:cNvPr id="3" name="Picture 2">
            <a:extLst>
              <a:ext uri="{FF2B5EF4-FFF2-40B4-BE49-F238E27FC236}">
                <a16:creationId xmlns:a16="http://schemas.microsoft.com/office/drawing/2014/main" id="{982BFD22-8432-B5BB-EAD4-D4A10686EF75}"/>
              </a:ext>
            </a:extLst>
          </p:cNvPr>
          <p:cNvPicPr>
            <a:picLocks noChangeAspect="1"/>
          </p:cNvPicPr>
          <p:nvPr/>
        </p:nvPicPr>
        <p:blipFill>
          <a:blip r:embed="rId2"/>
          <a:stretch>
            <a:fillRect/>
          </a:stretch>
        </p:blipFill>
        <p:spPr>
          <a:xfrm>
            <a:off x="454152" y="2110526"/>
            <a:ext cx="7772400" cy="2351757"/>
          </a:xfrm>
          <a:prstGeom prst="rect">
            <a:avLst/>
          </a:prstGeom>
        </p:spPr>
      </p:pic>
      <p:pic>
        <p:nvPicPr>
          <p:cNvPr id="6" name="Picture 5">
            <a:extLst>
              <a:ext uri="{FF2B5EF4-FFF2-40B4-BE49-F238E27FC236}">
                <a16:creationId xmlns:a16="http://schemas.microsoft.com/office/drawing/2014/main" id="{F5B65570-D32E-7DFB-F1FE-28A10B8CE41D}"/>
              </a:ext>
            </a:extLst>
          </p:cNvPr>
          <p:cNvPicPr>
            <a:picLocks noChangeAspect="1"/>
          </p:cNvPicPr>
          <p:nvPr/>
        </p:nvPicPr>
        <p:blipFill>
          <a:blip r:embed="rId3"/>
          <a:stretch>
            <a:fillRect/>
          </a:stretch>
        </p:blipFill>
        <p:spPr>
          <a:xfrm>
            <a:off x="4212336" y="982105"/>
            <a:ext cx="7772400" cy="4608600"/>
          </a:xfrm>
          <a:prstGeom prst="rect">
            <a:avLst/>
          </a:prstGeom>
        </p:spPr>
      </p:pic>
    </p:spTree>
    <p:extLst>
      <p:ext uri="{BB962C8B-B14F-4D97-AF65-F5344CB8AC3E}">
        <p14:creationId xmlns:p14="http://schemas.microsoft.com/office/powerpoint/2010/main" val="18684066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FA480C2-FE69-0477-7B36-926AFFFD5619}"/>
              </a:ext>
            </a:extLst>
          </p:cNvPr>
          <p:cNvSpPr txBox="1"/>
          <p:nvPr/>
        </p:nvSpPr>
        <p:spPr>
          <a:xfrm>
            <a:off x="339969" y="372181"/>
            <a:ext cx="6096000" cy="461665"/>
          </a:xfrm>
          <a:prstGeom prst="rect">
            <a:avLst/>
          </a:prstGeom>
          <a:noFill/>
        </p:spPr>
        <p:txBody>
          <a:bodyPr wrap="square">
            <a:spAutoFit/>
          </a:bodyPr>
          <a:lstStyle/>
          <a:p>
            <a:r>
              <a:rPr lang="en-US" sz="2400" dirty="0">
                <a:solidFill>
                  <a:srgbClr val="FFC000"/>
                </a:solidFill>
              </a:rPr>
              <a:t>BASICS: Using and exporting Variables</a:t>
            </a:r>
            <a:endParaRPr lang="en-US" sz="2400" dirty="0"/>
          </a:p>
        </p:txBody>
      </p:sp>
      <p:pic>
        <p:nvPicPr>
          <p:cNvPr id="2" name="Picture 1">
            <a:extLst>
              <a:ext uri="{FF2B5EF4-FFF2-40B4-BE49-F238E27FC236}">
                <a16:creationId xmlns:a16="http://schemas.microsoft.com/office/drawing/2014/main" id="{06021604-FB8E-7CFA-0C16-468CB6A1D669}"/>
              </a:ext>
            </a:extLst>
          </p:cNvPr>
          <p:cNvPicPr>
            <a:picLocks noChangeAspect="1"/>
          </p:cNvPicPr>
          <p:nvPr/>
        </p:nvPicPr>
        <p:blipFill>
          <a:blip r:embed="rId2"/>
          <a:stretch>
            <a:fillRect/>
          </a:stretch>
        </p:blipFill>
        <p:spPr>
          <a:xfrm>
            <a:off x="2549769" y="1425261"/>
            <a:ext cx="7772400" cy="4007478"/>
          </a:xfrm>
          <a:prstGeom prst="rect">
            <a:avLst/>
          </a:prstGeom>
        </p:spPr>
      </p:pic>
    </p:spTree>
    <p:extLst>
      <p:ext uri="{BB962C8B-B14F-4D97-AF65-F5344CB8AC3E}">
        <p14:creationId xmlns:p14="http://schemas.microsoft.com/office/powerpoint/2010/main" val="29944279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FA480C2-FE69-0477-7B36-926AFFFD5619}"/>
              </a:ext>
            </a:extLst>
          </p:cNvPr>
          <p:cNvSpPr txBox="1"/>
          <p:nvPr/>
        </p:nvSpPr>
        <p:spPr>
          <a:xfrm>
            <a:off x="0" y="3591409"/>
            <a:ext cx="6096000" cy="461665"/>
          </a:xfrm>
          <a:prstGeom prst="rect">
            <a:avLst/>
          </a:prstGeom>
          <a:noFill/>
        </p:spPr>
        <p:txBody>
          <a:bodyPr wrap="square">
            <a:spAutoFit/>
          </a:bodyPr>
          <a:lstStyle/>
          <a:p>
            <a:r>
              <a:rPr lang="en-US" sz="2400" dirty="0">
                <a:solidFill>
                  <a:srgbClr val="FFC000"/>
                </a:solidFill>
              </a:rPr>
              <a:t>BASICS: Expressions Examples</a:t>
            </a:r>
            <a:endParaRPr lang="en-US" sz="2400" dirty="0"/>
          </a:p>
        </p:txBody>
      </p:sp>
      <p:pic>
        <p:nvPicPr>
          <p:cNvPr id="3" name="Picture 2">
            <a:extLst>
              <a:ext uri="{FF2B5EF4-FFF2-40B4-BE49-F238E27FC236}">
                <a16:creationId xmlns:a16="http://schemas.microsoft.com/office/drawing/2014/main" id="{9725FCFD-BD93-2AB9-5025-0513D02CA912}"/>
              </a:ext>
            </a:extLst>
          </p:cNvPr>
          <p:cNvPicPr>
            <a:picLocks noChangeAspect="1"/>
          </p:cNvPicPr>
          <p:nvPr/>
        </p:nvPicPr>
        <p:blipFill>
          <a:blip r:embed="rId2"/>
          <a:stretch>
            <a:fillRect/>
          </a:stretch>
        </p:blipFill>
        <p:spPr>
          <a:xfrm>
            <a:off x="4337304" y="109728"/>
            <a:ext cx="7772400" cy="2160206"/>
          </a:xfrm>
          <a:prstGeom prst="rect">
            <a:avLst/>
          </a:prstGeom>
        </p:spPr>
      </p:pic>
      <p:pic>
        <p:nvPicPr>
          <p:cNvPr id="6" name="Picture 5">
            <a:extLst>
              <a:ext uri="{FF2B5EF4-FFF2-40B4-BE49-F238E27FC236}">
                <a16:creationId xmlns:a16="http://schemas.microsoft.com/office/drawing/2014/main" id="{859742CA-0E73-F546-F45B-D0526F7C5CE7}"/>
              </a:ext>
            </a:extLst>
          </p:cNvPr>
          <p:cNvPicPr>
            <a:picLocks noChangeAspect="1"/>
          </p:cNvPicPr>
          <p:nvPr/>
        </p:nvPicPr>
        <p:blipFill>
          <a:blip r:embed="rId3"/>
          <a:stretch>
            <a:fillRect/>
          </a:stretch>
        </p:blipFill>
        <p:spPr>
          <a:xfrm>
            <a:off x="4337304" y="2269934"/>
            <a:ext cx="7772400" cy="1552308"/>
          </a:xfrm>
          <a:prstGeom prst="rect">
            <a:avLst/>
          </a:prstGeom>
        </p:spPr>
      </p:pic>
      <p:pic>
        <p:nvPicPr>
          <p:cNvPr id="7" name="Picture 6">
            <a:extLst>
              <a:ext uri="{FF2B5EF4-FFF2-40B4-BE49-F238E27FC236}">
                <a16:creationId xmlns:a16="http://schemas.microsoft.com/office/drawing/2014/main" id="{B1E45C84-894C-D97B-329B-4BBA466B3EF6}"/>
              </a:ext>
            </a:extLst>
          </p:cNvPr>
          <p:cNvPicPr>
            <a:picLocks noChangeAspect="1"/>
          </p:cNvPicPr>
          <p:nvPr/>
        </p:nvPicPr>
        <p:blipFill>
          <a:blip r:embed="rId4"/>
          <a:stretch>
            <a:fillRect/>
          </a:stretch>
        </p:blipFill>
        <p:spPr>
          <a:xfrm>
            <a:off x="4337304" y="3822242"/>
            <a:ext cx="7772400" cy="1552308"/>
          </a:xfrm>
          <a:prstGeom prst="rect">
            <a:avLst/>
          </a:prstGeom>
        </p:spPr>
      </p:pic>
      <p:pic>
        <p:nvPicPr>
          <p:cNvPr id="9" name="Picture 8">
            <a:extLst>
              <a:ext uri="{FF2B5EF4-FFF2-40B4-BE49-F238E27FC236}">
                <a16:creationId xmlns:a16="http://schemas.microsoft.com/office/drawing/2014/main" id="{217F233E-8C48-9F8A-BB70-EC1F1F20344A}"/>
              </a:ext>
            </a:extLst>
          </p:cNvPr>
          <p:cNvPicPr>
            <a:picLocks noChangeAspect="1"/>
          </p:cNvPicPr>
          <p:nvPr/>
        </p:nvPicPr>
        <p:blipFill>
          <a:blip r:embed="rId5"/>
          <a:stretch>
            <a:fillRect/>
          </a:stretch>
        </p:blipFill>
        <p:spPr>
          <a:xfrm>
            <a:off x="4337304" y="5636458"/>
            <a:ext cx="7772400" cy="1150662"/>
          </a:xfrm>
          <a:prstGeom prst="rect">
            <a:avLst/>
          </a:prstGeom>
        </p:spPr>
      </p:pic>
    </p:spTree>
    <p:extLst>
      <p:ext uri="{BB962C8B-B14F-4D97-AF65-F5344CB8AC3E}">
        <p14:creationId xmlns:p14="http://schemas.microsoft.com/office/powerpoint/2010/main" val="14008146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FA480C2-FE69-0477-7B36-926AFFFD5619}"/>
              </a:ext>
            </a:extLst>
          </p:cNvPr>
          <p:cNvSpPr txBox="1"/>
          <p:nvPr/>
        </p:nvSpPr>
        <p:spPr>
          <a:xfrm>
            <a:off x="339969" y="372181"/>
            <a:ext cx="6096000" cy="461665"/>
          </a:xfrm>
          <a:prstGeom prst="rect">
            <a:avLst/>
          </a:prstGeom>
          <a:noFill/>
        </p:spPr>
        <p:txBody>
          <a:bodyPr wrap="square">
            <a:spAutoFit/>
          </a:bodyPr>
          <a:lstStyle/>
          <a:p>
            <a:r>
              <a:rPr lang="en-US" sz="2400" dirty="0">
                <a:solidFill>
                  <a:srgbClr val="FFC000"/>
                </a:solidFill>
              </a:rPr>
              <a:t>BASICS: Conditionals</a:t>
            </a:r>
            <a:endParaRPr lang="en-US" sz="2400" dirty="0"/>
          </a:p>
        </p:txBody>
      </p:sp>
      <p:pic>
        <p:nvPicPr>
          <p:cNvPr id="3" name="Picture 2">
            <a:extLst>
              <a:ext uri="{FF2B5EF4-FFF2-40B4-BE49-F238E27FC236}">
                <a16:creationId xmlns:a16="http://schemas.microsoft.com/office/drawing/2014/main" id="{91A8773D-2C0A-6408-F1F2-C5FE0D73E6B1}"/>
              </a:ext>
            </a:extLst>
          </p:cNvPr>
          <p:cNvPicPr>
            <a:picLocks noChangeAspect="1"/>
          </p:cNvPicPr>
          <p:nvPr/>
        </p:nvPicPr>
        <p:blipFill>
          <a:blip r:embed="rId2"/>
          <a:stretch>
            <a:fillRect/>
          </a:stretch>
        </p:blipFill>
        <p:spPr>
          <a:xfrm>
            <a:off x="2209800" y="1224639"/>
            <a:ext cx="7772400" cy="3549185"/>
          </a:xfrm>
          <a:prstGeom prst="rect">
            <a:avLst/>
          </a:prstGeom>
        </p:spPr>
      </p:pic>
      <p:pic>
        <p:nvPicPr>
          <p:cNvPr id="6" name="Picture 5">
            <a:extLst>
              <a:ext uri="{FF2B5EF4-FFF2-40B4-BE49-F238E27FC236}">
                <a16:creationId xmlns:a16="http://schemas.microsoft.com/office/drawing/2014/main" id="{5A598D34-70AB-81CC-9F13-56C315182A08}"/>
              </a:ext>
            </a:extLst>
          </p:cNvPr>
          <p:cNvPicPr>
            <a:picLocks noChangeAspect="1"/>
          </p:cNvPicPr>
          <p:nvPr/>
        </p:nvPicPr>
        <p:blipFill>
          <a:blip r:embed="rId3"/>
          <a:stretch>
            <a:fillRect/>
          </a:stretch>
        </p:blipFill>
        <p:spPr>
          <a:xfrm>
            <a:off x="6364224" y="4909698"/>
            <a:ext cx="3704844" cy="1793615"/>
          </a:xfrm>
          <a:prstGeom prst="rect">
            <a:avLst/>
          </a:prstGeom>
        </p:spPr>
      </p:pic>
    </p:spTree>
    <p:extLst>
      <p:ext uri="{BB962C8B-B14F-4D97-AF65-F5344CB8AC3E}">
        <p14:creationId xmlns:p14="http://schemas.microsoft.com/office/powerpoint/2010/main" val="20605703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FA480C2-FE69-0477-7B36-926AFFFD5619}"/>
              </a:ext>
            </a:extLst>
          </p:cNvPr>
          <p:cNvSpPr txBox="1"/>
          <p:nvPr/>
        </p:nvSpPr>
        <p:spPr>
          <a:xfrm>
            <a:off x="339969" y="372181"/>
            <a:ext cx="6096000" cy="461665"/>
          </a:xfrm>
          <a:prstGeom prst="rect">
            <a:avLst/>
          </a:prstGeom>
          <a:noFill/>
        </p:spPr>
        <p:txBody>
          <a:bodyPr wrap="square">
            <a:spAutoFit/>
          </a:bodyPr>
          <a:lstStyle/>
          <a:p>
            <a:r>
              <a:rPr lang="en-US" sz="2400" dirty="0">
                <a:solidFill>
                  <a:srgbClr val="FFC000"/>
                </a:solidFill>
              </a:rPr>
              <a:t>BASICS: Test Commands</a:t>
            </a:r>
            <a:endParaRPr lang="en-US" sz="2400" dirty="0"/>
          </a:p>
        </p:txBody>
      </p:sp>
      <p:pic>
        <p:nvPicPr>
          <p:cNvPr id="8" name="Picture 7">
            <a:extLst>
              <a:ext uri="{FF2B5EF4-FFF2-40B4-BE49-F238E27FC236}">
                <a16:creationId xmlns:a16="http://schemas.microsoft.com/office/drawing/2014/main" id="{E327E1A2-5E37-0F49-1301-3486E88F0CA4}"/>
              </a:ext>
            </a:extLst>
          </p:cNvPr>
          <p:cNvPicPr>
            <a:picLocks noChangeAspect="1"/>
          </p:cNvPicPr>
          <p:nvPr/>
        </p:nvPicPr>
        <p:blipFill>
          <a:blip r:embed="rId2"/>
          <a:stretch>
            <a:fillRect/>
          </a:stretch>
        </p:blipFill>
        <p:spPr>
          <a:xfrm>
            <a:off x="4258055" y="100899"/>
            <a:ext cx="7772400" cy="1465893"/>
          </a:xfrm>
          <a:prstGeom prst="rect">
            <a:avLst/>
          </a:prstGeom>
        </p:spPr>
      </p:pic>
      <p:pic>
        <p:nvPicPr>
          <p:cNvPr id="9" name="Picture 8">
            <a:extLst>
              <a:ext uri="{FF2B5EF4-FFF2-40B4-BE49-F238E27FC236}">
                <a16:creationId xmlns:a16="http://schemas.microsoft.com/office/drawing/2014/main" id="{A312B667-D373-7D41-56A4-1667FF1E35C8}"/>
              </a:ext>
            </a:extLst>
          </p:cNvPr>
          <p:cNvPicPr>
            <a:picLocks noChangeAspect="1"/>
          </p:cNvPicPr>
          <p:nvPr/>
        </p:nvPicPr>
        <p:blipFill rotWithShape="1">
          <a:blip r:embed="rId3"/>
          <a:srcRect b="37108"/>
          <a:stretch/>
        </p:blipFill>
        <p:spPr>
          <a:xfrm>
            <a:off x="408432" y="1566792"/>
            <a:ext cx="7406479" cy="3956542"/>
          </a:xfrm>
          <a:prstGeom prst="rect">
            <a:avLst/>
          </a:prstGeom>
        </p:spPr>
      </p:pic>
      <p:pic>
        <p:nvPicPr>
          <p:cNvPr id="10" name="Picture 9">
            <a:extLst>
              <a:ext uri="{FF2B5EF4-FFF2-40B4-BE49-F238E27FC236}">
                <a16:creationId xmlns:a16="http://schemas.microsoft.com/office/drawing/2014/main" id="{203548E6-CA2D-FC13-B57E-40786B47E2E4}"/>
              </a:ext>
            </a:extLst>
          </p:cNvPr>
          <p:cNvPicPr>
            <a:picLocks noChangeAspect="1"/>
          </p:cNvPicPr>
          <p:nvPr/>
        </p:nvPicPr>
        <p:blipFill rotWithShape="1">
          <a:blip r:embed="rId3"/>
          <a:srcRect t="62646"/>
          <a:stretch/>
        </p:blipFill>
        <p:spPr>
          <a:xfrm>
            <a:off x="4623976" y="4348352"/>
            <a:ext cx="7406479" cy="2349964"/>
          </a:xfrm>
          <a:prstGeom prst="rect">
            <a:avLst/>
          </a:prstGeom>
        </p:spPr>
      </p:pic>
    </p:spTree>
    <p:extLst>
      <p:ext uri="{BB962C8B-B14F-4D97-AF65-F5344CB8AC3E}">
        <p14:creationId xmlns:p14="http://schemas.microsoft.com/office/powerpoint/2010/main" val="998980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FA480C2-FE69-0477-7B36-926AFFFD5619}"/>
              </a:ext>
            </a:extLst>
          </p:cNvPr>
          <p:cNvSpPr txBox="1"/>
          <p:nvPr/>
        </p:nvSpPr>
        <p:spPr>
          <a:xfrm>
            <a:off x="339969" y="372181"/>
            <a:ext cx="6096000" cy="461665"/>
          </a:xfrm>
          <a:prstGeom prst="rect">
            <a:avLst/>
          </a:prstGeom>
          <a:noFill/>
        </p:spPr>
        <p:txBody>
          <a:bodyPr wrap="square">
            <a:spAutoFit/>
          </a:bodyPr>
          <a:lstStyle/>
          <a:p>
            <a:r>
              <a:rPr lang="en-US" sz="2400" dirty="0">
                <a:solidFill>
                  <a:srgbClr val="FFC000"/>
                </a:solidFill>
              </a:rPr>
              <a:t>BASICS: Comparison Operations</a:t>
            </a:r>
            <a:endParaRPr lang="en-US" sz="2400" dirty="0"/>
          </a:p>
        </p:txBody>
      </p:sp>
      <p:pic>
        <p:nvPicPr>
          <p:cNvPr id="2" name="Picture 1">
            <a:extLst>
              <a:ext uri="{FF2B5EF4-FFF2-40B4-BE49-F238E27FC236}">
                <a16:creationId xmlns:a16="http://schemas.microsoft.com/office/drawing/2014/main" id="{51770C90-33B3-CC81-66F1-D3408FB7127C}"/>
              </a:ext>
            </a:extLst>
          </p:cNvPr>
          <p:cNvPicPr>
            <a:picLocks noChangeAspect="1"/>
          </p:cNvPicPr>
          <p:nvPr/>
        </p:nvPicPr>
        <p:blipFill>
          <a:blip r:embed="rId2"/>
          <a:stretch>
            <a:fillRect/>
          </a:stretch>
        </p:blipFill>
        <p:spPr>
          <a:xfrm>
            <a:off x="495300" y="1368185"/>
            <a:ext cx="5600700" cy="2717800"/>
          </a:xfrm>
          <a:prstGeom prst="rect">
            <a:avLst/>
          </a:prstGeom>
        </p:spPr>
      </p:pic>
      <p:pic>
        <p:nvPicPr>
          <p:cNvPr id="3" name="Picture 2">
            <a:extLst>
              <a:ext uri="{FF2B5EF4-FFF2-40B4-BE49-F238E27FC236}">
                <a16:creationId xmlns:a16="http://schemas.microsoft.com/office/drawing/2014/main" id="{E1038519-89C4-F27B-B4EA-8E89E038D852}"/>
              </a:ext>
            </a:extLst>
          </p:cNvPr>
          <p:cNvPicPr>
            <a:picLocks noChangeAspect="1"/>
          </p:cNvPicPr>
          <p:nvPr/>
        </p:nvPicPr>
        <p:blipFill>
          <a:blip r:embed="rId3"/>
          <a:stretch>
            <a:fillRect/>
          </a:stretch>
        </p:blipFill>
        <p:spPr>
          <a:xfrm>
            <a:off x="1958340" y="4321772"/>
            <a:ext cx="7772400" cy="2336086"/>
          </a:xfrm>
          <a:prstGeom prst="rect">
            <a:avLst/>
          </a:prstGeom>
        </p:spPr>
      </p:pic>
      <p:pic>
        <p:nvPicPr>
          <p:cNvPr id="5" name="Picture 4">
            <a:extLst>
              <a:ext uri="{FF2B5EF4-FFF2-40B4-BE49-F238E27FC236}">
                <a16:creationId xmlns:a16="http://schemas.microsoft.com/office/drawing/2014/main" id="{49A05878-D74E-56A8-619B-84BDF0FAABA6}"/>
              </a:ext>
            </a:extLst>
          </p:cNvPr>
          <p:cNvPicPr>
            <a:picLocks noChangeAspect="1"/>
          </p:cNvPicPr>
          <p:nvPr/>
        </p:nvPicPr>
        <p:blipFill>
          <a:blip r:embed="rId4"/>
          <a:stretch>
            <a:fillRect/>
          </a:stretch>
        </p:blipFill>
        <p:spPr>
          <a:xfrm>
            <a:off x="6297930" y="656985"/>
            <a:ext cx="4076700" cy="3429000"/>
          </a:xfrm>
          <a:prstGeom prst="rect">
            <a:avLst/>
          </a:prstGeom>
        </p:spPr>
      </p:pic>
    </p:spTree>
    <p:extLst>
      <p:ext uri="{BB962C8B-B14F-4D97-AF65-F5344CB8AC3E}">
        <p14:creationId xmlns:p14="http://schemas.microsoft.com/office/powerpoint/2010/main" val="3709109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FA480C2-FE69-0477-7B36-926AFFFD5619}"/>
              </a:ext>
            </a:extLst>
          </p:cNvPr>
          <p:cNvSpPr txBox="1"/>
          <p:nvPr/>
        </p:nvSpPr>
        <p:spPr>
          <a:xfrm>
            <a:off x="339969" y="372181"/>
            <a:ext cx="6096000" cy="461665"/>
          </a:xfrm>
          <a:prstGeom prst="rect">
            <a:avLst/>
          </a:prstGeom>
          <a:noFill/>
        </p:spPr>
        <p:txBody>
          <a:bodyPr wrap="square">
            <a:spAutoFit/>
          </a:bodyPr>
          <a:lstStyle/>
          <a:p>
            <a:r>
              <a:rPr lang="en-US" sz="2400" dirty="0">
                <a:solidFill>
                  <a:srgbClr val="FFC000"/>
                </a:solidFill>
              </a:rPr>
              <a:t>BASICS: Conditionals | more examples</a:t>
            </a:r>
            <a:endParaRPr lang="en-US" sz="2400" dirty="0"/>
          </a:p>
        </p:txBody>
      </p:sp>
      <p:pic>
        <p:nvPicPr>
          <p:cNvPr id="7" name="Picture 6">
            <a:extLst>
              <a:ext uri="{FF2B5EF4-FFF2-40B4-BE49-F238E27FC236}">
                <a16:creationId xmlns:a16="http://schemas.microsoft.com/office/drawing/2014/main" id="{FA3686E6-1C19-EED7-77F3-26E4E5B6BE7E}"/>
              </a:ext>
            </a:extLst>
          </p:cNvPr>
          <p:cNvPicPr>
            <a:picLocks noChangeAspect="1"/>
          </p:cNvPicPr>
          <p:nvPr/>
        </p:nvPicPr>
        <p:blipFill>
          <a:blip r:embed="rId2"/>
          <a:stretch>
            <a:fillRect/>
          </a:stretch>
        </p:blipFill>
        <p:spPr>
          <a:xfrm>
            <a:off x="3491366" y="833845"/>
            <a:ext cx="6531864" cy="1808005"/>
          </a:xfrm>
          <a:prstGeom prst="rect">
            <a:avLst/>
          </a:prstGeom>
        </p:spPr>
      </p:pic>
      <p:pic>
        <p:nvPicPr>
          <p:cNvPr id="2" name="Picture 1">
            <a:extLst>
              <a:ext uri="{FF2B5EF4-FFF2-40B4-BE49-F238E27FC236}">
                <a16:creationId xmlns:a16="http://schemas.microsoft.com/office/drawing/2014/main" id="{982587D7-0BF3-30D6-30BF-9F67D315C8C9}"/>
              </a:ext>
            </a:extLst>
          </p:cNvPr>
          <p:cNvPicPr>
            <a:picLocks noChangeAspect="1"/>
          </p:cNvPicPr>
          <p:nvPr/>
        </p:nvPicPr>
        <p:blipFill>
          <a:blip r:embed="rId3"/>
          <a:stretch>
            <a:fillRect/>
          </a:stretch>
        </p:blipFill>
        <p:spPr>
          <a:xfrm>
            <a:off x="3491366" y="2899910"/>
            <a:ext cx="6531864" cy="1808005"/>
          </a:xfrm>
          <a:prstGeom prst="rect">
            <a:avLst/>
          </a:prstGeom>
        </p:spPr>
      </p:pic>
      <p:pic>
        <p:nvPicPr>
          <p:cNvPr id="3" name="Picture 2">
            <a:extLst>
              <a:ext uri="{FF2B5EF4-FFF2-40B4-BE49-F238E27FC236}">
                <a16:creationId xmlns:a16="http://schemas.microsoft.com/office/drawing/2014/main" id="{E26D3E6C-3D5B-ED6E-B59E-409CAD66C160}"/>
              </a:ext>
            </a:extLst>
          </p:cNvPr>
          <p:cNvPicPr>
            <a:picLocks noChangeAspect="1"/>
          </p:cNvPicPr>
          <p:nvPr/>
        </p:nvPicPr>
        <p:blipFill>
          <a:blip r:embed="rId4"/>
          <a:stretch>
            <a:fillRect/>
          </a:stretch>
        </p:blipFill>
        <p:spPr>
          <a:xfrm>
            <a:off x="3491366" y="4965975"/>
            <a:ext cx="6531866" cy="1808006"/>
          </a:xfrm>
          <a:prstGeom prst="rect">
            <a:avLst/>
          </a:prstGeom>
        </p:spPr>
      </p:pic>
    </p:spTree>
    <p:extLst>
      <p:ext uri="{BB962C8B-B14F-4D97-AF65-F5344CB8AC3E}">
        <p14:creationId xmlns:p14="http://schemas.microsoft.com/office/powerpoint/2010/main" val="36077055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FA480C2-FE69-0477-7B36-926AFFFD5619}"/>
              </a:ext>
            </a:extLst>
          </p:cNvPr>
          <p:cNvSpPr txBox="1"/>
          <p:nvPr/>
        </p:nvSpPr>
        <p:spPr>
          <a:xfrm>
            <a:off x="339969" y="372181"/>
            <a:ext cx="6096000" cy="461665"/>
          </a:xfrm>
          <a:prstGeom prst="rect">
            <a:avLst/>
          </a:prstGeom>
          <a:noFill/>
        </p:spPr>
        <p:txBody>
          <a:bodyPr wrap="square">
            <a:spAutoFit/>
          </a:bodyPr>
          <a:lstStyle/>
          <a:p>
            <a:r>
              <a:rPr lang="en-US" sz="2400" dirty="0">
                <a:solidFill>
                  <a:srgbClr val="FFC000"/>
                </a:solidFill>
              </a:rPr>
              <a:t>BASICS: Conditionals | more examples</a:t>
            </a:r>
            <a:endParaRPr lang="en-US" sz="2400" dirty="0"/>
          </a:p>
        </p:txBody>
      </p:sp>
      <p:pic>
        <p:nvPicPr>
          <p:cNvPr id="7" name="Picture 6">
            <a:extLst>
              <a:ext uri="{FF2B5EF4-FFF2-40B4-BE49-F238E27FC236}">
                <a16:creationId xmlns:a16="http://schemas.microsoft.com/office/drawing/2014/main" id="{FA3686E6-1C19-EED7-77F3-26E4E5B6BE7E}"/>
              </a:ext>
            </a:extLst>
          </p:cNvPr>
          <p:cNvPicPr>
            <a:picLocks noChangeAspect="1"/>
          </p:cNvPicPr>
          <p:nvPr/>
        </p:nvPicPr>
        <p:blipFill>
          <a:blip r:embed="rId2"/>
          <a:stretch>
            <a:fillRect/>
          </a:stretch>
        </p:blipFill>
        <p:spPr>
          <a:xfrm>
            <a:off x="3491366" y="833845"/>
            <a:ext cx="6531864" cy="1808005"/>
          </a:xfrm>
          <a:prstGeom prst="rect">
            <a:avLst/>
          </a:prstGeom>
        </p:spPr>
      </p:pic>
      <p:pic>
        <p:nvPicPr>
          <p:cNvPr id="2" name="Picture 1">
            <a:extLst>
              <a:ext uri="{FF2B5EF4-FFF2-40B4-BE49-F238E27FC236}">
                <a16:creationId xmlns:a16="http://schemas.microsoft.com/office/drawing/2014/main" id="{982587D7-0BF3-30D6-30BF-9F67D315C8C9}"/>
              </a:ext>
            </a:extLst>
          </p:cNvPr>
          <p:cNvPicPr>
            <a:picLocks noChangeAspect="1"/>
          </p:cNvPicPr>
          <p:nvPr/>
        </p:nvPicPr>
        <p:blipFill>
          <a:blip r:embed="rId3"/>
          <a:stretch>
            <a:fillRect/>
          </a:stretch>
        </p:blipFill>
        <p:spPr>
          <a:xfrm>
            <a:off x="3491366" y="2899910"/>
            <a:ext cx="6531864" cy="1808005"/>
          </a:xfrm>
          <a:prstGeom prst="rect">
            <a:avLst/>
          </a:prstGeom>
        </p:spPr>
      </p:pic>
      <p:pic>
        <p:nvPicPr>
          <p:cNvPr id="3" name="Picture 2">
            <a:extLst>
              <a:ext uri="{FF2B5EF4-FFF2-40B4-BE49-F238E27FC236}">
                <a16:creationId xmlns:a16="http://schemas.microsoft.com/office/drawing/2014/main" id="{E26D3E6C-3D5B-ED6E-B59E-409CAD66C160}"/>
              </a:ext>
            </a:extLst>
          </p:cNvPr>
          <p:cNvPicPr>
            <a:picLocks noChangeAspect="1"/>
          </p:cNvPicPr>
          <p:nvPr/>
        </p:nvPicPr>
        <p:blipFill>
          <a:blip r:embed="rId4"/>
          <a:stretch>
            <a:fillRect/>
          </a:stretch>
        </p:blipFill>
        <p:spPr>
          <a:xfrm>
            <a:off x="3491366" y="4965975"/>
            <a:ext cx="6531866" cy="1808006"/>
          </a:xfrm>
          <a:prstGeom prst="rect">
            <a:avLst/>
          </a:prstGeom>
        </p:spPr>
      </p:pic>
    </p:spTree>
    <p:extLst>
      <p:ext uri="{BB962C8B-B14F-4D97-AF65-F5344CB8AC3E}">
        <p14:creationId xmlns:p14="http://schemas.microsoft.com/office/powerpoint/2010/main" val="756192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FA480C2-FE69-0477-7B36-926AFFFD5619}"/>
              </a:ext>
            </a:extLst>
          </p:cNvPr>
          <p:cNvSpPr txBox="1"/>
          <p:nvPr/>
        </p:nvSpPr>
        <p:spPr>
          <a:xfrm>
            <a:off x="339969" y="372181"/>
            <a:ext cx="6096000" cy="461665"/>
          </a:xfrm>
          <a:prstGeom prst="rect">
            <a:avLst/>
          </a:prstGeom>
          <a:noFill/>
        </p:spPr>
        <p:txBody>
          <a:bodyPr wrap="square">
            <a:spAutoFit/>
          </a:bodyPr>
          <a:lstStyle/>
          <a:p>
            <a:r>
              <a:rPr lang="en-US" sz="2400" dirty="0">
                <a:solidFill>
                  <a:srgbClr val="FFC000"/>
                </a:solidFill>
              </a:rPr>
              <a:t>BASICS: Conditionals | more examples</a:t>
            </a:r>
            <a:endParaRPr lang="en-US" sz="2400" dirty="0"/>
          </a:p>
        </p:txBody>
      </p:sp>
      <p:pic>
        <p:nvPicPr>
          <p:cNvPr id="5" name="Picture 4">
            <a:extLst>
              <a:ext uri="{FF2B5EF4-FFF2-40B4-BE49-F238E27FC236}">
                <a16:creationId xmlns:a16="http://schemas.microsoft.com/office/drawing/2014/main" id="{86700CAF-F986-98C1-220A-3B15D77EC817}"/>
              </a:ext>
            </a:extLst>
          </p:cNvPr>
          <p:cNvPicPr>
            <a:picLocks noChangeAspect="1"/>
          </p:cNvPicPr>
          <p:nvPr/>
        </p:nvPicPr>
        <p:blipFill>
          <a:blip r:embed="rId2"/>
          <a:stretch>
            <a:fillRect/>
          </a:stretch>
        </p:blipFill>
        <p:spPr>
          <a:xfrm>
            <a:off x="2209800" y="1556459"/>
            <a:ext cx="7772400" cy="3745081"/>
          </a:xfrm>
          <a:prstGeom prst="rect">
            <a:avLst/>
          </a:prstGeom>
        </p:spPr>
      </p:pic>
    </p:spTree>
    <p:extLst>
      <p:ext uri="{BB962C8B-B14F-4D97-AF65-F5344CB8AC3E}">
        <p14:creationId xmlns:p14="http://schemas.microsoft.com/office/powerpoint/2010/main" val="6352108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FA480C2-FE69-0477-7B36-926AFFFD5619}"/>
              </a:ext>
            </a:extLst>
          </p:cNvPr>
          <p:cNvSpPr txBox="1"/>
          <p:nvPr/>
        </p:nvSpPr>
        <p:spPr>
          <a:xfrm>
            <a:off x="339969" y="372181"/>
            <a:ext cx="6096000" cy="461665"/>
          </a:xfrm>
          <a:prstGeom prst="rect">
            <a:avLst/>
          </a:prstGeom>
          <a:noFill/>
        </p:spPr>
        <p:txBody>
          <a:bodyPr wrap="square">
            <a:spAutoFit/>
          </a:bodyPr>
          <a:lstStyle/>
          <a:p>
            <a:r>
              <a:rPr lang="en-US" sz="2400" dirty="0">
                <a:solidFill>
                  <a:srgbClr val="FFC000"/>
                </a:solidFill>
              </a:rPr>
              <a:t>BASICS: For Loop</a:t>
            </a:r>
            <a:endParaRPr lang="en-US" sz="2400" dirty="0"/>
          </a:p>
        </p:txBody>
      </p:sp>
      <p:pic>
        <p:nvPicPr>
          <p:cNvPr id="3" name="Picture 2">
            <a:extLst>
              <a:ext uri="{FF2B5EF4-FFF2-40B4-BE49-F238E27FC236}">
                <a16:creationId xmlns:a16="http://schemas.microsoft.com/office/drawing/2014/main" id="{5158B601-ABCE-46C5-C4E5-0D64A744C4FC}"/>
              </a:ext>
            </a:extLst>
          </p:cNvPr>
          <p:cNvPicPr>
            <a:picLocks noChangeAspect="1"/>
          </p:cNvPicPr>
          <p:nvPr/>
        </p:nvPicPr>
        <p:blipFill>
          <a:blip r:embed="rId2"/>
          <a:stretch>
            <a:fillRect/>
          </a:stretch>
        </p:blipFill>
        <p:spPr>
          <a:xfrm>
            <a:off x="2209800" y="2293949"/>
            <a:ext cx="7772400" cy="2270102"/>
          </a:xfrm>
          <a:prstGeom prst="rect">
            <a:avLst/>
          </a:prstGeom>
        </p:spPr>
      </p:pic>
    </p:spTree>
    <p:extLst>
      <p:ext uri="{BB962C8B-B14F-4D97-AF65-F5344CB8AC3E}">
        <p14:creationId xmlns:p14="http://schemas.microsoft.com/office/powerpoint/2010/main" val="29557972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FA480C2-FE69-0477-7B36-926AFFFD5619}"/>
              </a:ext>
            </a:extLst>
          </p:cNvPr>
          <p:cNvSpPr txBox="1"/>
          <p:nvPr/>
        </p:nvSpPr>
        <p:spPr>
          <a:xfrm>
            <a:off x="339969" y="372181"/>
            <a:ext cx="6096000" cy="461665"/>
          </a:xfrm>
          <a:prstGeom prst="rect">
            <a:avLst/>
          </a:prstGeom>
          <a:noFill/>
        </p:spPr>
        <p:txBody>
          <a:bodyPr wrap="square">
            <a:spAutoFit/>
          </a:bodyPr>
          <a:lstStyle/>
          <a:p>
            <a:r>
              <a:rPr lang="en-US" sz="2400" dirty="0">
                <a:solidFill>
                  <a:srgbClr val="FFC000"/>
                </a:solidFill>
              </a:rPr>
              <a:t>BASICS: For Loop</a:t>
            </a:r>
            <a:endParaRPr lang="en-US" sz="2400" dirty="0"/>
          </a:p>
        </p:txBody>
      </p:sp>
      <p:pic>
        <p:nvPicPr>
          <p:cNvPr id="2" name="Picture 1">
            <a:extLst>
              <a:ext uri="{FF2B5EF4-FFF2-40B4-BE49-F238E27FC236}">
                <a16:creationId xmlns:a16="http://schemas.microsoft.com/office/drawing/2014/main" id="{EB287561-1C87-675C-3A7B-C8A83774B2A5}"/>
              </a:ext>
            </a:extLst>
          </p:cNvPr>
          <p:cNvPicPr>
            <a:picLocks noChangeAspect="1"/>
          </p:cNvPicPr>
          <p:nvPr/>
        </p:nvPicPr>
        <p:blipFill>
          <a:blip r:embed="rId2"/>
          <a:stretch>
            <a:fillRect/>
          </a:stretch>
        </p:blipFill>
        <p:spPr>
          <a:xfrm>
            <a:off x="2209800" y="2528009"/>
            <a:ext cx="7772400" cy="1801981"/>
          </a:xfrm>
          <a:prstGeom prst="rect">
            <a:avLst/>
          </a:prstGeom>
        </p:spPr>
      </p:pic>
    </p:spTree>
    <p:extLst>
      <p:ext uri="{BB962C8B-B14F-4D97-AF65-F5344CB8AC3E}">
        <p14:creationId xmlns:p14="http://schemas.microsoft.com/office/powerpoint/2010/main" val="3911673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FA480C2-FE69-0477-7B36-926AFFFD5619}"/>
              </a:ext>
            </a:extLst>
          </p:cNvPr>
          <p:cNvSpPr txBox="1"/>
          <p:nvPr/>
        </p:nvSpPr>
        <p:spPr>
          <a:xfrm>
            <a:off x="339969" y="372181"/>
            <a:ext cx="6096000" cy="461665"/>
          </a:xfrm>
          <a:prstGeom prst="rect">
            <a:avLst/>
          </a:prstGeom>
          <a:noFill/>
        </p:spPr>
        <p:txBody>
          <a:bodyPr wrap="square">
            <a:spAutoFit/>
          </a:bodyPr>
          <a:lstStyle/>
          <a:p>
            <a:r>
              <a:rPr lang="en-US" sz="2400" dirty="0">
                <a:solidFill>
                  <a:srgbClr val="FFC000"/>
                </a:solidFill>
              </a:rPr>
              <a:t>BASICS: For Loop</a:t>
            </a:r>
            <a:endParaRPr lang="en-US" sz="2400" dirty="0"/>
          </a:p>
        </p:txBody>
      </p:sp>
      <p:pic>
        <p:nvPicPr>
          <p:cNvPr id="3" name="Picture 2">
            <a:extLst>
              <a:ext uri="{FF2B5EF4-FFF2-40B4-BE49-F238E27FC236}">
                <a16:creationId xmlns:a16="http://schemas.microsoft.com/office/drawing/2014/main" id="{20B2F502-95C0-F0E6-F13C-6698C736C59D}"/>
              </a:ext>
            </a:extLst>
          </p:cNvPr>
          <p:cNvPicPr>
            <a:picLocks noChangeAspect="1"/>
          </p:cNvPicPr>
          <p:nvPr/>
        </p:nvPicPr>
        <p:blipFill>
          <a:blip r:embed="rId2"/>
          <a:stretch>
            <a:fillRect/>
          </a:stretch>
        </p:blipFill>
        <p:spPr>
          <a:xfrm>
            <a:off x="2209800" y="1256187"/>
            <a:ext cx="7772400" cy="4345625"/>
          </a:xfrm>
          <a:prstGeom prst="rect">
            <a:avLst/>
          </a:prstGeom>
        </p:spPr>
      </p:pic>
    </p:spTree>
    <p:extLst>
      <p:ext uri="{BB962C8B-B14F-4D97-AF65-F5344CB8AC3E}">
        <p14:creationId xmlns:p14="http://schemas.microsoft.com/office/powerpoint/2010/main" val="40161479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FA480C2-FE69-0477-7B36-926AFFFD5619}"/>
              </a:ext>
            </a:extLst>
          </p:cNvPr>
          <p:cNvSpPr txBox="1"/>
          <p:nvPr/>
        </p:nvSpPr>
        <p:spPr>
          <a:xfrm>
            <a:off x="339969" y="372181"/>
            <a:ext cx="6096000" cy="461665"/>
          </a:xfrm>
          <a:prstGeom prst="rect">
            <a:avLst/>
          </a:prstGeom>
          <a:noFill/>
        </p:spPr>
        <p:txBody>
          <a:bodyPr wrap="square">
            <a:spAutoFit/>
          </a:bodyPr>
          <a:lstStyle/>
          <a:p>
            <a:r>
              <a:rPr lang="en-US" sz="2400" dirty="0">
                <a:solidFill>
                  <a:srgbClr val="FFC000"/>
                </a:solidFill>
              </a:rPr>
              <a:t>BASICS: For Loop</a:t>
            </a:r>
            <a:endParaRPr lang="en-US" sz="2400" dirty="0"/>
          </a:p>
        </p:txBody>
      </p:sp>
      <p:pic>
        <p:nvPicPr>
          <p:cNvPr id="2" name="Picture 1">
            <a:extLst>
              <a:ext uri="{FF2B5EF4-FFF2-40B4-BE49-F238E27FC236}">
                <a16:creationId xmlns:a16="http://schemas.microsoft.com/office/drawing/2014/main" id="{6A847CE2-4EA1-8CEC-51B7-51FB455D14F5}"/>
              </a:ext>
            </a:extLst>
          </p:cNvPr>
          <p:cNvPicPr>
            <a:picLocks noChangeAspect="1"/>
          </p:cNvPicPr>
          <p:nvPr/>
        </p:nvPicPr>
        <p:blipFill>
          <a:blip r:embed="rId2"/>
          <a:stretch>
            <a:fillRect/>
          </a:stretch>
        </p:blipFill>
        <p:spPr>
          <a:xfrm>
            <a:off x="2209800" y="2418264"/>
            <a:ext cx="7772400" cy="2021472"/>
          </a:xfrm>
          <a:prstGeom prst="rect">
            <a:avLst/>
          </a:prstGeom>
        </p:spPr>
      </p:pic>
    </p:spTree>
    <p:extLst>
      <p:ext uri="{BB962C8B-B14F-4D97-AF65-F5344CB8AC3E}">
        <p14:creationId xmlns:p14="http://schemas.microsoft.com/office/powerpoint/2010/main" val="13328465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FA480C2-FE69-0477-7B36-926AFFFD5619}"/>
              </a:ext>
            </a:extLst>
          </p:cNvPr>
          <p:cNvSpPr txBox="1"/>
          <p:nvPr/>
        </p:nvSpPr>
        <p:spPr>
          <a:xfrm>
            <a:off x="339969" y="372181"/>
            <a:ext cx="6096000" cy="461665"/>
          </a:xfrm>
          <a:prstGeom prst="rect">
            <a:avLst/>
          </a:prstGeom>
          <a:noFill/>
        </p:spPr>
        <p:txBody>
          <a:bodyPr wrap="square">
            <a:spAutoFit/>
          </a:bodyPr>
          <a:lstStyle/>
          <a:p>
            <a:r>
              <a:rPr lang="en-US" sz="2400" dirty="0">
                <a:solidFill>
                  <a:srgbClr val="FFC000"/>
                </a:solidFill>
              </a:rPr>
              <a:t>BASICS: For Loop</a:t>
            </a:r>
            <a:endParaRPr lang="en-US" sz="2400" dirty="0"/>
          </a:p>
        </p:txBody>
      </p:sp>
      <p:pic>
        <p:nvPicPr>
          <p:cNvPr id="2" name="Picture 1">
            <a:extLst>
              <a:ext uri="{FF2B5EF4-FFF2-40B4-BE49-F238E27FC236}">
                <a16:creationId xmlns:a16="http://schemas.microsoft.com/office/drawing/2014/main" id="{6A847CE2-4EA1-8CEC-51B7-51FB455D14F5}"/>
              </a:ext>
            </a:extLst>
          </p:cNvPr>
          <p:cNvPicPr>
            <a:picLocks noChangeAspect="1"/>
          </p:cNvPicPr>
          <p:nvPr/>
        </p:nvPicPr>
        <p:blipFill>
          <a:blip r:embed="rId2"/>
          <a:stretch>
            <a:fillRect/>
          </a:stretch>
        </p:blipFill>
        <p:spPr>
          <a:xfrm>
            <a:off x="2209800" y="2418264"/>
            <a:ext cx="7772400" cy="2021472"/>
          </a:xfrm>
          <a:prstGeom prst="rect">
            <a:avLst/>
          </a:prstGeom>
        </p:spPr>
      </p:pic>
    </p:spTree>
    <p:extLst>
      <p:ext uri="{BB962C8B-B14F-4D97-AF65-F5344CB8AC3E}">
        <p14:creationId xmlns:p14="http://schemas.microsoft.com/office/powerpoint/2010/main" val="41096364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FA480C2-FE69-0477-7B36-926AFFFD5619}"/>
              </a:ext>
            </a:extLst>
          </p:cNvPr>
          <p:cNvSpPr txBox="1"/>
          <p:nvPr/>
        </p:nvSpPr>
        <p:spPr>
          <a:xfrm>
            <a:off x="339969" y="372181"/>
            <a:ext cx="6096000" cy="461665"/>
          </a:xfrm>
          <a:prstGeom prst="rect">
            <a:avLst/>
          </a:prstGeom>
          <a:noFill/>
        </p:spPr>
        <p:txBody>
          <a:bodyPr wrap="square">
            <a:spAutoFit/>
          </a:bodyPr>
          <a:lstStyle/>
          <a:p>
            <a:r>
              <a:rPr lang="en-US" sz="2400" dirty="0">
                <a:solidFill>
                  <a:srgbClr val="FFC000"/>
                </a:solidFill>
              </a:rPr>
              <a:t>BASICS: For Loop</a:t>
            </a:r>
            <a:endParaRPr lang="en-US" sz="2400" dirty="0"/>
          </a:p>
        </p:txBody>
      </p:sp>
      <p:pic>
        <p:nvPicPr>
          <p:cNvPr id="3" name="Picture 2">
            <a:extLst>
              <a:ext uri="{FF2B5EF4-FFF2-40B4-BE49-F238E27FC236}">
                <a16:creationId xmlns:a16="http://schemas.microsoft.com/office/drawing/2014/main" id="{DC21A114-DE43-A41F-C325-CE2329DAD601}"/>
              </a:ext>
            </a:extLst>
          </p:cNvPr>
          <p:cNvPicPr>
            <a:picLocks noChangeAspect="1"/>
          </p:cNvPicPr>
          <p:nvPr/>
        </p:nvPicPr>
        <p:blipFill>
          <a:blip r:embed="rId2"/>
          <a:stretch>
            <a:fillRect/>
          </a:stretch>
        </p:blipFill>
        <p:spPr>
          <a:xfrm>
            <a:off x="2209800" y="945583"/>
            <a:ext cx="7772400" cy="5318526"/>
          </a:xfrm>
          <a:prstGeom prst="rect">
            <a:avLst/>
          </a:prstGeom>
        </p:spPr>
      </p:pic>
    </p:spTree>
    <p:extLst>
      <p:ext uri="{BB962C8B-B14F-4D97-AF65-F5344CB8AC3E}">
        <p14:creationId xmlns:p14="http://schemas.microsoft.com/office/powerpoint/2010/main" val="21248417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FA480C2-FE69-0477-7B36-926AFFFD5619}"/>
              </a:ext>
            </a:extLst>
          </p:cNvPr>
          <p:cNvSpPr txBox="1"/>
          <p:nvPr/>
        </p:nvSpPr>
        <p:spPr>
          <a:xfrm>
            <a:off x="339969" y="372181"/>
            <a:ext cx="6096000" cy="461665"/>
          </a:xfrm>
          <a:prstGeom prst="rect">
            <a:avLst/>
          </a:prstGeom>
          <a:noFill/>
        </p:spPr>
        <p:txBody>
          <a:bodyPr wrap="square">
            <a:spAutoFit/>
          </a:bodyPr>
          <a:lstStyle/>
          <a:p>
            <a:r>
              <a:rPr lang="en-US" sz="2400" dirty="0">
                <a:solidFill>
                  <a:srgbClr val="FFC000"/>
                </a:solidFill>
              </a:rPr>
              <a:t>BASICS: For Loop</a:t>
            </a:r>
            <a:endParaRPr lang="en-US" sz="2400" dirty="0"/>
          </a:p>
        </p:txBody>
      </p:sp>
      <p:pic>
        <p:nvPicPr>
          <p:cNvPr id="2" name="Picture 1">
            <a:extLst>
              <a:ext uri="{FF2B5EF4-FFF2-40B4-BE49-F238E27FC236}">
                <a16:creationId xmlns:a16="http://schemas.microsoft.com/office/drawing/2014/main" id="{92CC021D-E306-2B5F-13BF-C16A46471324}"/>
              </a:ext>
            </a:extLst>
          </p:cNvPr>
          <p:cNvPicPr>
            <a:picLocks noChangeAspect="1"/>
          </p:cNvPicPr>
          <p:nvPr/>
        </p:nvPicPr>
        <p:blipFill>
          <a:blip r:embed="rId2"/>
          <a:stretch>
            <a:fillRect/>
          </a:stretch>
        </p:blipFill>
        <p:spPr>
          <a:xfrm>
            <a:off x="3387969" y="218426"/>
            <a:ext cx="7772400" cy="6421148"/>
          </a:xfrm>
          <a:prstGeom prst="rect">
            <a:avLst/>
          </a:prstGeom>
        </p:spPr>
      </p:pic>
    </p:spTree>
    <p:extLst>
      <p:ext uri="{BB962C8B-B14F-4D97-AF65-F5344CB8AC3E}">
        <p14:creationId xmlns:p14="http://schemas.microsoft.com/office/powerpoint/2010/main" val="11678375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FA480C2-FE69-0477-7B36-926AFFFD5619}"/>
              </a:ext>
            </a:extLst>
          </p:cNvPr>
          <p:cNvSpPr txBox="1"/>
          <p:nvPr/>
        </p:nvSpPr>
        <p:spPr>
          <a:xfrm>
            <a:off x="339969" y="372181"/>
            <a:ext cx="6096000" cy="461665"/>
          </a:xfrm>
          <a:prstGeom prst="rect">
            <a:avLst/>
          </a:prstGeom>
          <a:noFill/>
        </p:spPr>
        <p:txBody>
          <a:bodyPr wrap="square">
            <a:spAutoFit/>
          </a:bodyPr>
          <a:lstStyle/>
          <a:p>
            <a:r>
              <a:rPr lang="en-US" sz="2400" dirty="0">
                <a:solidFill>
                  <a:srgbClr val="FFC000"/>
                </a:solidFill>
              </a:rPr>
              <a:t>BASICS: For Loop</a:t>
            </a:r>
            <a:endParaRPr lang="en-US" sz="2400" dirty="0"/>
          </a:p>
        </p:txBody>
      </p:sp>
      <p:pic>
        <p:nvPicPr>
          <p:cNvPr id="5" name="Picture 4">
            <a:extLst>
              <a:ext uri="{FF2B5EF4-FFF2-40B4-BE49-F238E27FC236}">
                <a16:creationId xmlns:a16="http://schemas.microsoft.com/office/drawing/2014/main" id="{1585B9FA-C13A-AA19-7C9D-54146BDA37DF}"/>
              </a:ext>
            </a:extLst>
          </p:cNvPr>
          <p:cNvPicPr>
            <a:picLocks noChangeAspect="1"/>
          </p:cNvPicPr>
          <p:nvPr/>
        </p:nvPicPr>
        <p:blipFill>
          <a:blip r:embed="rId2"/>
          <a:stretch>
            <a:fillRect/>
          </a:stretch>
        </p:blipFill>
        <p:spPr>
          <a:xfrm>
            <a:off x="2209800" y="1439957"/>
            <a:ext cx="7772400" cy="3978085"/>
          </a:xfrm>
          <a:prstGeom prst="rect">
            <a:avLst/>
          </a:prstGeom>
        </p:spPr>
      </p:pic>
    </p:spTree>
    <p:extLst>
      <p:ext uri="{BB962C8B-B14F-4D97-AF65-F5344CB8AC3E}">
        <p14:creationId xmlns:p14="http://schemas.microsoft.com/office/powerpoint/2010/main" val="39445819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FA480C2-FE69-0477-7B36-926AFFFD5619}"/>
              </a:ext>
            </a:extLst>
          </p:cNvPr>
          <p:cNvSpPr txBox="1"/>
          <p:nvPr/>
        </p:nvSpPr>
        <p:spPr>
          <a:xfrm>
            <a:off x="339969" y="372181"/>
            <a:ext cx="6096000" cy="461665"/>
          </a:xfrm>
          <a:prstGeom prst="rect">
            <a:avLst/>
          </a:prstGeom>
          <a:noFill/>
        </p:spPr>
        <p:txBody>
          <a:bodyPr wrap="square">
            <a:spAutoFit/>
          </a:bodyPr>
          <a:lstStyle/>
          <a:p>
            <a:r>
              <a:rPr lang="en-US" sz="2400" dirty="0">
                <a:solidFill>
                  <a:srgbClr val="FFC000"/>
                </a:solidFill>
              </a:rPr>
              <a:t>BASICS: While Loop</a:t>
            </a:r>
            <a:endParaRPr lang="en-US" sz="2400" dirty="0"/>
          </a:p>
        </p:txBody>
      </p:sp>
      <p:pic>
        <p:nvPicPr>
          <p:cNvPr id="2" name="Picture 1">
            <a:extLst>
              <a:ext uri="{FF2B5EF4-FFF2-40B4-BE49-F238E27FC236}">
                <a16:creationId xmlns:a16="http://schemas.microsoft.com/office/drawing/2014/main" id="{C8E792C2-B6D1-D8FF-5C8B-45BAFEA7E894}"/>
              </a:ext>
            </a:extLst>
          </p:cNvPr>
          <p:cNvPicPr>
            <a:picLocks noChangeAspect="1"/>
          </p:cNvPicPr>
          <p:nvPr/>
        </p:nvPicPr>
        <p:blipFill>
          <a:blip r:embed="rId2"/>
          <a:stretch>
            <a:fillRect/>
          </a:stretch>
        </p:blipFill>
        <p:spPr>
          <a:xfrm>
            <a:off x="2209800" y="2580414"/>
            <a:ext cx="7772400" cy="1697172"/>
          </a:xfrm>
          <a:prstGeom prst="rect">
            <a:avLst/>
          </a:prstGeom>
        </p:spPr>
      </p:pic>
    </p:spTree>
    <p:extLst>
      <p:ext uri="{BB962C8B-B14F-4D97-AF65-F5344CB8AC3E}">
        <p14:creationId xmlns:p14="http://schemas.microsoft.com/office/powerpoint/2010/main" val="21102972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FA480C2-FE69-0477-7B36-926AFFFD5619}"/>
              </a:ext>
            </a:extLst>
          </p:cNvPr>
          <p:cNvSpPr txBox="1"/>
          <p:nvPr/>
        </p:nvSpPr>
        <p:spPr>
          <a:xfrm>
            <a:off x="339969" y="372181"/>
            <a:ext cx="6096000" cy="461665"/>
          </a:xfrm>
          <a:prstGeom prst="rect">
            <a:avLst/>
          </a:prstGeom>
          <a:noFill/>
        </p:spPr>
        <p:txBody>
          <a:bodyPr wrap="square">
            <a:spAutoFit/>
          </a:bodyPr>
          <a:lstStyle/>
          <a:p>
            <a:r>
              <a:rPr lang="en-US" sz="2400" dirty="0">
                <a:solidFill>
                  <a:srgbClr val="FFC000"/>
                </a:solidFill>
              </a:rPr>
              <a:t>BASICS: while-loop: Reading File examples</a:t>
            </a:r>
            <a:endParaRPr lang="en-US" sz="2400" dirty="0"/>
          </a:p>
        </p:txBody>
      </p:sp>
      <p:pic>
        <p:nvPicPr>
          <p:cNvPr id="5" name="Picture 4">
            <a:extLst>
              <a:ext uri="{FF2B5EF4-FFF2-40B4-BE49-F238E27FC236}">
                <a16:creationId xmlns:a16="http://schemas.microsoft.com/office/drawing/2014/main" id="{B8F52A2A-FE07-ECC4-C5E2-39F56CD4B759}"/>
              </a:ext>
            </a:extLst>
          </p:cNvPr>
          <p:cNvPicPr>
            <a:picLocks noChangeAspect="1"/>
          </p:cNvPicPr>
          <p:nvPr/>
        </p:nvPicPr>
        <p:blipFill>
          <a:blip r:embed="rId2"/>
          <a:stretch>
            <a:fillRect/>
          </a:stretch>
        </p:blipFill>
        <p:spPr>
          <a:xfrm>
            <a:off x="6189297" y="940285"/>
            <a:ext cx="5850304" cy="4266287"/>
          </a:xfrm>
          <a:prstGeom prst="rect">
            <a:avLst/>
          </a:prstGeom>
        </p:spPr>
      </p:pic>
      <p:sp>
        <p:nvSpPr>
          <p:cNvPr id="9" name="TextBox 8">
            <a:extLst>
              <a:ext uri="{FF2B5EF4-FFF2-40B4-BE49-F238E27FC236}">
                <a16:creationId xmlns:a16="http://schemas.microsoft.com/office/drawing/2014/main" id="{0827EF28-1217-E4B6-E333-6F7FF579B38D}"/>
              </a:ext>
            </a:extLst>
          </p:cNvPr>
          <p:cNvSpPr txBox="1"/>
          <p:nvPr/>
        </p:nvSpPr>
        <p:spPr>
          <a:xfrm>
            <a:off x="489203" y="965638"/>
            <a:ext cx="5513501" cy="5632311"/>
          </a:xfrm>
          <a:prstGeom prst="rect">
            <a:avLst/>
          </a:prstGeom>
          <a:noFill/>
        </p:spPr>
        <p:txBody>
          <a:bodyPr wrap="square">
            <a:spAutoFit/>
          </a:bodyPr>
          <a:lstStyle/>
          <a:p>
            <a:pPr marL="285750" indent="-285750">
              <a:buFont typeface="Arial" panose="020B0604020202020204" pitchFamily="34" charset="0"/>
              <a:buChar char="•"/>
            </a:pPr>
            <a:r>
              <a:rPr lang="en-US" dirty="0">
                <a:solidFill>
                  <a:srgbClr val="FFC000"/>
                </a:solidFill>
              </a:rPr>
              <a:t>#!/bin/bash: </a:t>
            </a:r>
            <a:r>
              <a:rPr lang="en-US" dirty="0">
                <a:solidFill>
                  <a:srgbClr val="FFFF00"/>
                </a:solidFill>
              </a:rPr>
              <a:t>This is known as a shebang or </a:t>
            </a:r>
            <a:r>
              <a:rPr lang="en-US" dirty="0" err="1">
                <a:solidFill>
                  <a:srgbClr val="FFFF00"/>
                </a:solidFill>
              </a:rPr>
              <a:t>hashbang</a:t>
            </a:r>
            <a:r>
              <a:rPr lang="en-US" dirty="0">
                <a:solidFill>
                  <a:srgbClr val="FFFF00"/>
                </a:solidFill>
              </a:rPr>
              <a:t>. It specifies the path to the Bash interpreter that should be used to execute the script. This line tells the operating system to run this script with /bin/bash, ensuring it's interpreted as a Bash script regardless of the executing shell.</a:t>
            </a:r>
          </a:p>
          <a:p>
            <a:pPr marL="285750" indent="-285750">
              <a:buFont typeface="Arial" panose="020B0604020202020204" pitchFamily="34" charset="0"/>
              <a:buChar char="•"/>
            </a:pPr>
            <a:endParaRPr lang="en-US" dirty="0">
              <a:solidFill>
                <a:srgbClr val="FFC000"/>
              </a:solidFill>
            </a:endParaRPr>
          </a:p>
          <a:p>
            <a:pPr marL="285750" indent="-285750">
              <a:buFont typeface="Arial" panose="020B0604020202020204" pitchFamily="34" charset="0"/>
              <a:buChar char="•"/>
            </a:pPr>
            <a:r>
              <a:rPr lang="en-US" dirty="0">
                <a:solidFill>
                  <a:srgbClr val="FFC000"/>
                </a:solidFill>
              </a:rPr>
              <a:t>IFS=</a:t>
            </a:r>
            <a:r>
              <a:rPr lang="en-US" dirty="0">
                <a:solidFill>
                  <a:srgbClr val="FFFF00"/>
                </a:solidFill>
              </a:rPr>
              <a:t>: This temporarily sets the Internal Field Separator (IFS) to an empty value for the read command. </a:t>
            </a:r>
          </a:p>
          <a:p>
            <a:pPr marL="285750" indent="-285750">
              <a:buFont typeface="Arial" panose="020B0604020202020204" pitchFamily="34" charset="0"/>
              <a:buChar char="•"/>
            </a:pPr>
            <a:r>
              <a:rPr lang="en-US" dirty="0">
                <a:solidFill>
                  <a:srgbClr val="FFC000"/>
                </a:solidFill>
              </a:rPr>
              <a:t>read -r line:</a:t>
            </a:r>
            <a:r>
              <a:rPr lang="en-US" dirty="0">
                <a:solidFill>
                  <a:srgbClr val="FFFF00"/>
                </a:solidFill>
              </a:rPr>
              <a:t> This command reads input from standard input (stdin). The -r option prevents backslash escapes from being interpreted, which means that backslashes are treated as literal characters.</a:t>
            </a:r>
          </a:p>
          <a:p>
            <a:pPr marL="285750" indent="-285750">
              <a:buFont typeface="Arial" panose="020B0604020202020204" pitchFamily="34" charset="0"/>
              <a:buChar char="•"/>
            </a:pPr>
            <a:r>
              <a:rPr lang="en-US" dirty="0">
                <a:solidFill>
                  <a:srgbClr val="FFC000"/>
                </a:solidFill>
              </a:rPr>
              <a:t>do echo "$line"; done:</a:t>
            </a:r>
            <a:r>
              <a:rPr lang="en-US" dirty="0">
                <a:solidFill>
                  <a:srgbClr val="FFFF00"/>
                </a:solidFill>
              </a:rPr>
              <a:t> For each iteration of the loop, the script executes the echo "$line" command, which prints the content of the line</a:t>
            </a:r>
          </a:p>
          <a:p>
            <a:pPr marL="285750" indent="-285750">
              <a:buFont typeface="Arial" panose="020B0604020202020204" pitchFamily="34" charset="0"/>
              <a:buChar char="•"/>
            </a:pPr>
            <a:r>
              <a:rPr lang="en-US" dirty="0">
                <a:solidFill>
                  <a:srgbClr val="FFC000"/>
                </a:solidFill>
              </a:rPr>
              <a:t>&lt; </a:t>
            </a:r>
            <a:r>
              <a:rPr lang="en-US" dirty="0" err="1">
                <a:solidFill>
                  <a:srgbClr val="FFC000"/>
                </a:solidFill>
              </a:rPr>
              <a:t>file.txt</a:t>
            </a:r>
            <a:r>
              <a:rPr lang="en-US" dirty="0">
                <a:solidFill>
                  <a:srgbClr val="FFC000"/>
                </a:solidFill>
              </a:rPr>
              <a:t>:</a:t>
            </a:r>
            <a:r>
              <a:rPr lang="en-US" dirty="0">
                <a:solidFill>
                  <a:srgbClr val="FFFF00"/>
                </a:solidFill>
              </a:rPr>
              <a:t> This redirects the contents of </a:t>
            </a:r>
            <a:r>
              <a:rPr lang="en-US" dirty="0" err="1">
                <a:solidFill>
                  <a:srgbClr val="FFFF00"/>
                </a:solidFill>
              </a:rPr>
              <a:t>file.txt</a:t>
            </a:r>
            <a:r>
              <a:rPr lang="en-US" dirty="0">
                <a:solidFill>
                  <a:srgbClr val="FFFF00"/>
                </a:solidFill>
              </a:rPr>
              <a:t> to the while loop</a:t>
            </a:r>
          </a:p>
        </p:txBody>
      </p:sp>
      <p:sp>
        <p:nvSpPr>
          <p:cNvPr id="10" name="TextBox 9">
            <a:extLst>
              <a:ext uri="{FF2B5EF4-FFF2-40B4-BE49-F238E27FC236}">
                <a16:creationId xmlns:a16="http://schemas.microsoft.com/office/drawing/2014/main" id="{33F95C5F-444B-DD98-68D1-F1AECA030548}"/>
              </a:ext>
            </a:extLst>
          </p:cNvPr>
          <p:cNvSpPr txBox="1"/>
          <p:nvPr/>
        </p:nvSpPr>
        <p:spPr>
          <a:xfrm>
            <a:off x="6096000" y="5206572"/>
            <a:ext cx="1328056" cy="369332"/>
          </a:xfrm>
          <a:prstGeom prst="rect">
            <a:avLst/>
          </a:prstGeom>
          <a:noFill/>
        </p:spPr>
        <p:txBody>
          <a:bodyPr wrap="none" rtlCol="0">
            <a:spAutoFit/>
          </a:bodyPr>
          <a:lstStyle/>
          <a:p>
            <a:r>
              <a:rPr lang="en-US" dirty="0">
                <a:solidFill>
                  <a:srgbClr val="FFC000"/>
                </a:solidFill>
              </a:rPr>
              <a:t>Note on IFS</a:t>
            </a:r>
          </a:p>
        </p:txBody>
      </p:sp>
      <p:pic>
        <p:nvPicPr>
          <p:cNvPr id="11" name="Picture 10">
            <a:extLst>
              <a:ext uri="{FF2B5EF4-FFF2-40B4-BE49-F238E27FC236}">
                <a16:creationId xmlns:a16="http://schemas.microsoft.com/office/drawing/2014/main" id="{B734AA3D-3EB6-0EDF-931D-BCB2277F6622}"/>
              </a:ext>
            </a:extLst>
          </p:cNvPr>
          <p:cNvPicPr>
            <a:picLocks noChangeAspect="1"/>
          </p:cNvPicPr>
          <p:nvPr/>
        </p:nvPicPr>
        <p:blipFill rotWithShape="1">
          <a:blip r:embed="rId3"/>
          <a:srcRect r="32519"/>
          <a:stretch/>
        </p:blipFill>
        <p:spPr>
          <a:xfrm>
            <a:off x="6189297" y="5536771"/>
            <a:ext cx="4528673" cy="1193700"/>
          </a:xfrm>
          <a:prstGeom prst="rect">
            <a:avLst/>
          </a:prstGeom>
        </p:spPr>
      </p:pic>
    </p:spTree>
    <p:extLst>
      <p:ext uri="{BB962C8B-B14F-4D97-AF65-F5344CB8AC3E}">
        <p14:creationId xmlns:p14="http://schemas.microsoft.com/office/powerpoint/2010/main" val="21125737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FA480C2-FE69-0477-7B36-926AFFFD5619}"/>
              </a:ext>
            </a:extLst>
          </p:cNvPr>
          <p:cNvSpPr txBox="1"/>
          <p:nvPr/>
        </p:nvSpPr>
        <p:spPr>
          <a:xfrm>
            <a:off x="330825" y="2813629"/>
            <a:ext cx="6096000" cy="830997"/>
          </a:xfrm>
          <a:prstGeom prst="rect">
            <a:avLst/>
          </a:prstGeom>
          <a:noFill/>
        </p:spPr>
        <p:txBody>
          <a:bodyPr wrap="square">
            <a:spAutoFit/>
          </a:bodyPr>
          <a:lstStyle/>
          <a:p>
            <a:r>
              <a:rPr lang="en-US" sz="2400" dirty="0">
                <a:solidFill>
                  <a:srgbClr val="FFC000"/>
                </a:solidFill>
              </a:rPr>
              <a:t>BASICS: System Monitoring and Management</a:t>
            </a:r>
            <a:endParaRPr lang="en-US" sz="2400" dirty="0"/>
          </a:p>
        </p:txBody>
      </p:sp>
      <p:pic>
        <p:nvPicPr>
          <p:cNvPr id="6" name="Picture 5">
            <a:extLst>
              <a:ext uri="{FF2B5EF4-FFF2-40B4-BE49-F238E27FC236}">
                <a16:creationId xmlns:a16="http://schemas.microsoft.com/office/drawing/2014/main" id="{E4A65AA6-4A2D-3DA7-F7BE-28A6EB1B863B}"/>
              </a:ext>
            </a:extLst>
          </p:cNvPr>
          <p:cNvPicPr>
            <a:picLocks noChangeAspect="1"/>
          </p:cNvPicPr>
          <p:nvPr/>
        </p:nvPicPr>
        <p:blipFill>
          <a:blip r:embed="rId2"/>
          <a:stretch>
            <a:fillRect/>
          </a:stretch>
        </p:blipFill>
        <p:spPr>
          <a:xfrm>
            <a:off x="4943181" y="0"/>
            <a:ext cx="7060518" cy="6858000"/>
          </a:xfrm>
          <a:prstGeom prst="rect">
            <a:avLst/>
          </a:prstGeom>
        </p:spPr>
      </p:pic>
    </p:spTree>
    <p:extLst>
      <p:ext uri="{BB962C8B-B14F-4D97-AF65-F5344CB8AC3E}">
        <p14:creationId xmlns:p14="http://schemas.microsoft.com/office/powerpoint/2010/main" val="41382407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FA480C2-FE69-0477-7B36-926AFFFD5619}"/>
              </a:ext>
            </a:extLst>
          </p:cNvPr>
          <p:cNvSpPr txBox="1"/>
          <p:nvPr/>
        </p:nvSpPr>
        <p:spPr>
          <a:xfrm>
            <a:off x="330825" y="2813629"/>
            <a:ext cx="3783975" cy="830997"/>
          </a:xfrm>
          <a:prstGeom prst="rect">
            <a:avLst/>
          </a:prstGeom>
          <a:noFill/>
        </p:spPr>
        <p:txBody>
          <a:bodyPr wrap="square">
            <a:spAutoFit/>
          </a:bodyPr>
          <a:lstStyle/>
          <a:p>
            <a:r>
              <a:rPr lang="en-US" sz="2400" dirty="0">
                <a:solidFill>
                  <a:srgbClr val="FFC000"/>
                </a:solidFill>
              </a:rPr>
              <a:t>BASICS: Process Management</a:t>
            </a:r>
            <a:endParaRPr lang="en-US" sz="2400" dirty="0"/>
          </a:p>
        </p:txBody>
      </p:sp>
      <p:pic>
        <p:nvPicPr>
          <p:cNvPr id="2" name="Picture 1">
            <a:extLst>
              <a:ext uri="{FF2B5EF4-FFF2-40B4-BE49-F238E27FC236}">
                <a16:creationId xmlns:a16="http://schemas.microsoft.com/office/drawing/2014/main" id="{03D1F551-CC1C-10AA-4B8D-2DC313F526E2}"/>
              </a:ext>
            </a:extLst>
          </p:cNvPr>
          <p:cNvPicPr>
            <a:picLocks noChangeAspect="1"/>
          </p:cNvPicPr>
          <p:nvPr/>
        </p:nvPicPr>
        <p:blipFill>
          <a:blip r:embed="rId2"/>
          <a:stretch>
            <a:fillRect/>
          </a:stretch>
        </p:blipFill>
        <p:spPr>
          <a:xfrm>
            <a:off x="4581073" y="722376"/>
            <a:ext cx="7610927" cy="5586638"/>
          </a:xfrm>
          <a:prstGeom prst="rect">
            <a:avLst/>
          </a:prstGeom>
        </p:spPr>
      </p:pic>
    </p:spTree>
    <p:extLst>
      <p:ext uri="{BB962C8B-B14F-4D97-AF65-F5344CB8AC3E}">
        <p14:creationId xmlns:p14="http://schemas.microsoft.com/office/powerpoint/2010/main" val="680948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FA480C2-FE69-0477-7B36-926AFFFD5619}"/>
              </a:ext>
            </a:extLst>
          </p:cNvPr>
          <p:cNvSpPr txBox="1"/>
          <p:nvPr/>
        </p:nvSpPr>
        <p:spPr>
          <a:xfrm>
            <a:off x="330825" y="2813629"/>
            <a:ext cx="3783975" cy="461665"/>
          </a:xfrm>
          <a:prstGeom prst="rect">
            <a:avLst/>
          </a:prstGeom>
          <a:noFill/>
        </p:spPr>
        <p:txBody>
          <a:bodyPr wrap="square">
            <a:spAutoFit/>
          </a:bodyPr>
          <a:lstStyle/>
          <a:p>
            <a:r>
              <a:rPr lang="en-US" sz="2400" dirty="0">
                <a:solidFill>
                  <a:srgbClr val="FFC000"/>
                </a:solidFill>
              </a:rPr>
              <a:t>BASICS: Networking</a:t>
            </a:r>
            <a:endParaRPr lang="en-US" sz="2400" dirty="0"/>
          </a:p>
        </p:txBody>
      </p:sp>
      <p:pic>
        <p:nvPicPr>
          <p:cNvPr id="3" name="Picture 2">
            <a:extLst>
              <a:ext uri="{FF2B5EF4-FFF2-40B4-BE49-F238E27FC236}">
                <a16:creationId xmlns:a16="http://schemas.microsoft.com/office/drawing/2014/main" id="{2F144B24-3522-C7EE-AC96-F5EDAC16A324}"/>
              </a:ext>
            </a:extLst>
          </p:cNvPr>
          <p:cNvPicPr>
            <a:picLocks noChangeAspect="1"/>
          </p:cNvPicPr>
          <p:nvPr/>
        </p:nvPicPr>
        <p:blipFill>
          <a:blip r:embed="rId2"/>
          <a:stretch>
            <a:fillRect/>
          </a:stretch>
        </p:blipFill>
        <p:spPr>
          <a:xfrm>
            <a:off x="4191002" y="236945"/>
            <a:ext cx="7772400" cy="6384109"/>
          </a:xfrm>
          <a:prstGeom prst="rect">
            <a:avLst/>
          </a:prstGeom>
        </p:spPr>
      </p:pic>
    </p:spTree>
    <p:extLst>
      <p:ext uri="{BB962C8B-B14F-4D97-AF65-F5344CB8AC3E}">
        <p14:creationId xmlns:p14="http://schemas.microsoft.com/office/powerpoint/2010/main" val="35267874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FA480C2-FE69-0477-7B36-926AFFFD5619}"/>
              </a:ext>
            </a:extLst>
          </p:cNvPr>
          <p:cNvSpPr txBox="1"/>
          <p:nvPr/>
        </p:nvSpPr>
        <p:spPr>
          <a:xfrm>
            <a:off x="330825" y="2813629"/>
            <a:ext cx="3783975" cy="461665"/>
          </a:xfrm>
          <a:prstGeom prst="rect">
            <a:avLst/>
          </a:prstGeom>
          <a:noFill/>
        </p:spPr>
        <p:txBody>
          <a:bodyPr wrap="square">
            <a:spAutoFit/>
          </a:bodyPr>
          <a:lstStyle/>
          <a:p>
            <a:r>
              <a:rPr lang="en-US" sz="2400" dirty="0">
                <a:solidFill>
                  <a:srgbClr val="FFC000"/>
                </a:solidFill>
              </a:rPr>
              <a:t>BASICS: File Transfers</a:t>
            </a:r>
            <a:endParaRPr lang="en-US" sz="2400" dirty="0"/>
          </a:p>
        </p:txBody>
      </p:sp>
      <p:pic>
        <p:nvPicPr>
          <p:cNvPr id="2" name="Picture 1">
            <a:extLst>
              <a:ext uri="{FF2B5EF4-FFF2-40B4-BE49-F238E27FC236}">
                <a16:creationId xmlns:a16="http://schemas.microsoft.com/office/drawing/2014/main" id="{44E66B2C-D9E6-90EE-A72D-E0DDD93E7FCB}"/>
              </a:ext>
            </a:extLst>
          </p:cNvPr>
          <p:cNvPicPr>
            <a:picLocks noChangeAspect="1"/>
          </p:cNvPicPr>
          <p:nvPr/>
        </p:nvPicPr>
        <p:blipFill>
          <a:blip r:embed="rId2"/>
          <a:stretch>
            <a:fillRect/>
          </a:stretch>
        </p:blipFill>
        <p:spPr>
          <a:xfrm>
            <a:off x="4088775" y="1245229"/>
            <a:ext cx="7772400" cy="4367541"/>
          </a:xfrm>
          <a:prstGeom prst="rect">
            <a:avLst/>
          </a:prstGeom>
        </p:spPr>
      </p:pic>
    </p:spTree>
    <p:extLst>
      <p:ext uri="{BB962C8B-B14F-4D97-AF65-F5344CB8AC3E}">
        <p14:creationId xmlns:p14="http://schemas.microsoft.com/office/powerpoint/2010/main" val="42046552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FA480C2-FE69-0477-7B36-926AFFFD5619}"/>
              </a:ext>
            </a:extLst>
          </p:cNvPr>
          <p:cNvSpPr txBox="1"/>
          <p:nvPr/>
        </p:nvSpPr>
        <p:spPr>
          <a:xfrm>
            <a:off x="330825" y="2813629"/>
            <a:ext cx="3783975" cy="830997"/>
          </a:xfrm>
          <a:prstGeom prst="rect">
            <a:avLst/>
          </a:prstGeom>
          <a:noFill/>
        </p:spPr>
        <p:txBody>
          <a:bodyPr wrap="square">
            <a:spAutoFit/>
          </a:bodyPr>
          <a:lstStyle/>
          <a:p>
            <a:r>
              <a:rPr lang="en-US" sz="2400" dirty="0">
                <a:solidFill>
                  <a:srgbClr val="FFC000"/>
                </a:solidFill>
              </a:rPr>
              <a:t>BASICS: System Information</a:t>
            </a:r>
            <a:endParaRPr lang="en-US" sz="2400" dirty="0"/>
          </a:p>
        </p:txBody>
      </p:sp>
      <p:pic>
        <p:nvPicPr>
          <p:cNvPr id="3" name="Picture 2">
            <a:extLst>
              <a:ext uri="{FF2B5EF4-FFF2-40B4-BE49-F238E27FC236}">
                <a16:creationId xmlns:a16="http://schemas.microsoft.com/office/drawing/2014/main" id="{C33A0D5A-5155-54D5-CB54-41F070184912}"/>
              </a:ext>
            </a:extLst>
          </p:cNvPr>
          <p:cNvPicPr>
            <a:picLocks noChangeAspect="1"/>
          </p:cNvPicPr>
          <p:nvPr/>
        </p:nvPicPr>
        <p:blipFill>
          <a:blip r:embed="rId2"/>
          <a:stretch>
            <a:fillRect/>
          </a:stretch>
        </p:blipFill>
        <p:spPr>
          <a:xfrm>
            <a:off x="4419600" y="1245229"/>
            <a:ext cx="7772400" cy="4367541"/>
          </a:xfrm>
          <a:prstGeom prst="rect">
            <a:avLst/>
          </a:prstGeom>
        </p:spPr>
      </p:pic>
    </p:spTree>
    <p:extLst>
      <p:ext uri="{BB962C8B-B14F-4D97-AF65-F5344CB8AC3E}">
        <p14:creationId xmlns:p14="http://schemas.microsoft.com/office/powerpoint/2010/main" val="32795194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FA480C2-FE69-0477-7B36-926AFFFD5619}"/>
              </a:ext>
            </a:extLst>
          </p:cNvPr>
          <p:cNvSpPr txBox="1"/>
          <p:nvPr/>
        </p:nvSpPr>
        <p:spPr>
          <a:xfrm>
            <a:off x="330825" y="2813629"/>
            <a:ext cx="5996823" cy="830997"/>
          </a:xfrm>
          <a:prstGeom prst="rect">
            <a:avLst/>
          </a:prstGeom>
          <a:noFill/>
        </p:spPr>
        <p:txBody>
          <a:bodyPr wrap="square">
            <a:spAutoFit/>
          </a:bodyPr>
          <a:lstStyle/>
          <a:p>
            <a:r>
              <a:rPr lang="en-US" sz="2400" dirty="0">
                <a:solidFill>
                  <a:srgbClr val="FFC000"/>
                </a:solidFill>
              </a:rPr>
              <a:t>BASICS: Web Service: WGET &amp; CURL</a:t>
            </a:r>
          </a:p>
          <a:p>
            <a:r>
              <a:rPr lang="en-US" sz="2400" dirty="0">
                <a:solidFill>
                  <a:srgbClr val="FFC000"/>
                </a:solidFill>
              </a:rPr>
              <a:t>(self explore… </a:t>
            </a:r>
            <a:r>
              <a:rPr lang="en-US" sz="2400" dirty="0">
                <a:solidFill>
                  <a:srgbClr val="FFFF00"/>
                </a:solidFill>
              </a:rPr>
              <a:t>out of scope</a:t>
            </a:r>
            <a:r>
              <a:rPr lang="en-US" sz="2400" dirty="0">
                <a:solidFill>
                  <a:srgbClr val="FFC000"/>
                </a:solidFill>
              </a:rPr>
              <a:t>)</a:t>
            </a:r>
            <a:endParaRPr lang="en-US" sz="2400" dirty="0"/>
          </a:p>
        </p:txBody>
      </p:sp>
    </p:spTree>
    <p:extLst>
      <p:ext uri="{BB962C8B-B14F-4D97-AF65-F5344CB8AC3E}">
        <p14:creationId xmlns:p14="http://schemas.microsoft.com/office/powerpoint/2010/main" val="22010509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FA480C2-FE69-0477-7B36-926AFFFD5619}"/>
              </a:ext>
            </a:extLst>
          </p:cNvPr>
          <p:cNvSpPr txBox="1"/>
          <p:nvPr/>
        </p:nvSpPr>
        <p:spPr>
          <a:xfrm>
            <a:off x="330825" y="2813629"/>
            <a:ext cx="5996823" cy="830997"/>
          </a:xfrm>
          <a:prstGeom prst="rect">
            <a:avLst/>
          </a:prstGeom>
          <a:noFill/>
        </p:spPr>
        <p:txBody>
          <a:bodyPr wrap="square">
            <a:spAutoFit/>
          </a:bodyPr>
          <a:lstStyle/>
          <a:p>
            <a:r>
              <a:rPr lang="en-US" sz="2400" dirty="0">
                <a:solidFill>
                  <a:srgbClr val="FFC000"/>
                </a:solidFill>
              </a:rPr>
              <a:t>BASICS: Web Service: WGET &amp; CURL</a:t>
            </a:r>
          </a:p>
          <a:p>
            <a:r>
              <a:rPr lang="en-US" sz="2400" dirty="0">
                <a:solidFill>
                  <a:srgbClr val="FFC000"/>
                </a:solidFill>
              </a:rPr>
              <a:t>(self explore… </a:t>
            </a:r>
            <a:r>
              <a:rPr lang="en-US" sz="2400" dirty="0">
                <a:solidFill>
                  <a:srgbClr val="FFFF00"/>
                </a:solidFill>
              </a:rPr>
              <a:t>out of scope</a:t>
            </a:r>
            <a:r>
              <a:rPr lang="en-US" sz="2400" dirty="0">
                <a:solidFill>
                  <a:srgbClr val="FFC000"/>
                </a:solidFill>
              </a:rPr>
              <a:t>)</a:t>
            </a:r>
            <a:endParaRPr lang="en-US" sz="2400" dirty="0"/>
          </a:p>
        </p:txBody>
      </p:sp>
    </p:spTree>
    <p:extLst>
      <p:ext uri="{BB962C8B-B14F-4D97-AF65-F5344CB8AC3E}">
        <p14:creationId xmlns:p14="http://schemas.microsoft.com/office/powerpoint/2010/main" val="34642512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FA480C2-FE69-0477-7B36-926AFFFD5619}"/>
              </a:ext>
            </a:extLst>
          </p:cNvPr>
          <p:cNvSpPr txBox="1"/>
          <p:nvPr/>
        </p:nvSpPr>
        <p:spPr>
          <a:xfrm>
            <a:off x="99177" y="207589"/>
            <a:ext cx="5996823" cy="461665"/>
          </a:xfrm>
          <a:prstGeom prst="rect">
            <a:avLst/>
          </a:prstGeom>
          <a:noFill/>
        </p:spPr>
        <p:txBody>
          <a:bodyPr wrap="square">
            <a:spAutoFit/>
          </a:bodyPr>
          <a:lstStyle/>
          <a:p>
            <a:r>
              <a:rPr lang="en-US" sz="2400" dirty="0">
                <a:solidFill>
                  <a:srgbClr val="FFC000"/>
                </a:solidFill>
              </a:rPr>
              <a:t>GREP: Powerful Command line utility</a:t>
            </a:r>
            <a:endParaRPr lang="en-US" sz="2400" dirty="0"/>
          </a:p>
        </p:txBody>
      </p:sp>
      <p:sp>
        <p:nvSpPr>
          <p:cNvPr id="6" name="TextBox 5">
            <a:extLst>
              <a:ext uri="{FF2B5EF4-FFF2-40B4-BE49-F238E27FC236}">
                <a16:creationId xmlns:a16="http://schemas.microsoft.com/office/drawing/2014/main" id="{ABBF627D-7396-9409-47C4-9E66269EC2EA}"/>
              </a:ext>
            </a:extLst>
          </p:cNvPr>
          <p:cNvSpPr txBox="1"/>
          <p:nvPr/>
        </p:nvSpPr>
        <p:spPr>
          <a:xfrm>
            <a:off x="99176" y="669254"/>
            <a:ext cx="12092823" cy="1323439"/>
          </a:xfrm>
          <a:prstGeom prst="rect">
            <a:avLst/>
          </a:prstGeom>
          <a:noFill/>
        </p:spPr>
        <p:txBody>
          <a:bodyPr wrap="square">
            <a:spAutoFit/>
          </a:bodyPr>
          <a:lstStyle/>
          <a:p>
            <a:pPr algn="just"/>
            <a:r>
              <a:rPr lang="en-US" sz="2000" dirty="0">
                <a:solidFill>
                  <a:srgbClr val="FFC000"/>
                </a:solidFill>
              </a:rPr>
              <a:t>grep</a:t>
            </a:r>
            <a:r>
              <a:rPr lang="en-US" sz="2000" dirty="0">
                <a:solidFill>
                  <a:schemeClr val="bg1"/>
                </a:solidFill>
              </a:rPr>
              <a:t> is a command-line utility in Unix and Linux used for searching plain-text data sets for lines that match a regular expression. Its name comes from the ed command </a:t>
            </a:r>
            <a:r>
              <a:rPr lang="en-US" sz="2000" dirty="0">
                <a:solidFill>
                  <a:srgbClr val="FFC000"/>
                </a:solidFill>
              </a:rPr>
              <a:t>g/re/p </a:t>
            </a:r>
            <a:r>
              <a:rPr lang="en-US" sz="2000" dirty="0">
                <a:solidFill>
                  <a:srgbClr val="00B0F0"/>
                </a:solidFill>
              </a:rPr>
              <a:t>(globally search a regular expression and print)</a:t>
            </a:r>
            <a:r>
              <a:rPr lang="en-US" sz="2000" dirty="0">
                <a:solidFill>
                  <a:schemeClr val="bg1"/>
                </a:solidFill>
              </a:rPr>
              <a:t>. Here's a cheat sheet covering common grep usage scenarios:</a:t>
            </a:r>
          </a:p>
          <a:p>
            <a:pPr algn="just"/>
            <a:endParaRPr lang="en-US" sz="2000" dirty="0">
              <a:solidFill>
                <a:schemeClr val="bg1"/>
              </a:solidFill>
            </a:endParaRPr>
          </a:p>
        </p:txBody>
      </p:sp>
      <p:pic>
        <p:nvPicPr>
          <p:cNvPr id="7" name="Picture 6">
            <a:extLst>
              <a:ext uri="{FF2B5EF4-FFF2-40B4-BE49-F238E27FC236}">
                <a16:creationId xmlns:a16="http://schemas.microsoft.com/office/drawing/2014/main" id="{6BF207D7-73D0-220F-102C-5DAF15B19021}"/>
              </a:ext>
            </a:extLst>
          </p:cNvPr>
          <p:cNvPicPr>
            <a:picLocks noChangeAspect="1"/>
          </p:cNvPicPr>
          <p:nvPr/>
        </p:nvPicPr>
        <p:blipFill>
          <a:blip r:embed="rId2"/>
          <a:stretch>
            <a:fillRect/>
          </a:stretch>
        </p:blipFill>
        <p:spPr>
          <a:xfrm>
            <a:off x="204034" y="1645920"/>
            <a:ext cx="3460799" cy="5102352"/>
          </a:xfrm>
          <a:prstGeom prst="rect">
            <a:avLst/>
          </a:prstGeom>
        </p:spPr>
      </p:pic>
      <p:pic>
        <p:nvPicPr>
          <p:cNvPr id="9" name="Picture 8">
            <a:extLst>
              <a:ext uri="{FF2B5EF4-FFF2-40B4-BE49-F238E27FC236}">
                <a16:creationId xmlns:a16="http://schemas.microsoft.com/office/drawing/2014/main" id="{BCEDDA16-E024-7F8F-9F9D-5AF341A2D233}"/>
              </a:ext>
            </a:extLst>
          </p:cNvPr>
          <p:cNvPicPr>
            <a:picLocks noChangeAspect="1"/>
          </p:cNvPicPr>
          <p:nvPr/>
        </p:nvPicPr>
        <p:blipFill>
          <a:blip r:embed="rId3"/>
          <a:stretch>
            <a:fillRect/>
          </a:stretch>
        </p:blipFill>
        <p:spPr>
          <a:xfrm>
            <a:off x="3928872" y="1645920"/>
            <a:ext cx="7772400" cy="3109660"/>
          </a:xfrm>
          <a:prstGeom prst="rect">
            <a:avLst/>
          </a:prstGeom>
        </p:spPr>
      </p:pic>
      <p:pic>
        <p:nvPicPr>
          <p:cNvPr id="10" name="Picture 9">
            <a:extLst>
              <a:ext uri="{FF2B5EF4-FFF2-40B4-BE49-F238E27FC236}">
                <a16:creationId xmlns:a16="http://schemas.microsoft.com/office/drawing/2014/main" id="{DDFAFF4C-618A-88FF-1B64-D72E48CDF66F}"/>
              </a:ext>
            </a:extLst>
          </p:cNvPr>
          <p:cNvPicPr>
            <a:picLocks noChangeAspect="1"/>
          </p:cNvPicPr>
          <p:nvPr/>
        </p:nvPicPr>
        <p:blipFill>
          <a:blip r:embed="rId4"/>
          <a:stretch>
            <a:fillRect/>
          </a:stretch>
        </p:blipFill>
        <p:spPr>
          <a:xfrm>
            <a:off x="3928872" y="4843753"/>
            <a:ext cx="7772400" cy="1943444"/>
          </a:xfrm>
          <a:prstGeom prst="rect">
            <a:avLst/>
          </a:prstGeom>
        </p:spPr>
      </p:pic>
    </p:spTree>
    <p:extLst>
      <p:ext uri="{BB962C8B-B14F-4D97-AF65-F5344CB8AC3E}">
        <p14:creationId xmlns:p14="http://schemas.microsoft.com/office/powerpoint/2010/main" val="30115203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FA480C2-FE69-0477-7B36-926AFFFD5619}"/>
              </a:ext>
            </a:extLst>
          </p:cNvPr>
          <p:cNvSpPr txBox="1"/>
          <p:nvPr/>
        </p:nvSpPr>
        <p:spPr>
          <a:xfrm>
            <a:off x="99177" y="207589"/>
            <a:ext cx="7772400" cy="461665"/>
          </a:xfrm>
          <a:prstGeom prst="rect">
            <a:avLst/>
          </a:prstGeom>
          <a:noFill/>
        </p:spPr>
        <p:txBody>
          <a:bodyPr wrap="square">
            <a:spAutoFit/>
          </a:bodyPr>
          <a:lstStyle/>
          <a:p>
            <a:r>
              <a:rPr lang="en-US" sz="2400" dirty="0">
                <a:solidFill>
                  <a:srgbClr val="FFC000"/>
                </a:solidFill>
              </a:rPr>
              <a:t>GREP: Powerful Command line utility…. more</a:t>
            </a:r>
            <a:endParaRPr lang="en-US" sz="2400" dirty="0"/>
          </a:p>
        </p:txBody>
      </p:sp>
      <p:pic>
        <p:nvPicPr>
          <p:cNvPr id="2" name="Picture 1">
            <a:extLst>
              <a:ext uri="{FF2B5EF4-FFF2-40B4-BE49-F238E27FC236}">
                <a16:creationId xmlns:a16="http://schemas.microsoft.com/office/drawing/2014/main" id="{A91E4906-C6FF-B091-F1C0-C371E71749CD}"/>
              </a:ext>
            </a:extLst>
          </p:cNvPr>
          <p:cNvPicPr>
            <a:picLocks noChangeAspect="1"/>
          </p:cNvPicPr>
          <p:nvPr/>
        </p:nvPicPr>
        <p:blipFill>
          <a:blip r:embed="rId2"/>
          <a:stretch>
            <a:fillRect/>
          </a:stretch>
        </p:blipFill>
        <p:spPr>
          <a:xfrm>
            <a:off x="2209800" y="1174562"/>
            <a:ext cx="7772400" cy="5112380"/>
          </a:xfrm>
          <a:prstGeom prst="rect">
            <a:avLst/>
          </a:prstGeom>
        </p:spPr>
      </p:pic>
    </p:spTree>
    <p:extLst>
      <p:ext uri="{BB962C8B-B14F-4D97-AF65-F5344CB8AC3E}">
        <p14:creationId xmlns:p14="http://schemas.microsoft.com/office/powerpoint/2010/main" val="16888079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FA480C2-FE69-0477-7B36-926AFFFD5619}"/>
              </a:ext>
            </a:extLst>
          </p:cNvPr>
          <p:cNvSpPr txBox="1"/>
          <p:nvPr/>
        </p:nvSpPr>
        <p:spPr>
          <a:xfrm>
            <a:off x="99177" y="207589"/>
            <a:ext cx="7772400" cy="461665"/>
          </a:xfrm>
          <a:prstGeom prst="rect">
            <a:avLst/>
          </a:prstGeom>
          <a:noFill/>
        </p:spPr>
        <p:txBody>
          <a:bodyPr wrap="square">
            <a:spAutoFit/>
          </a:bodyPr>
          <a:lstStyle/>
          <a:p>
            <a:r>
              <a:rPr lang="en-US" sz="2400" dirty="0">
                <a:solidFill>
                  <a:srgbClr val="FFC000"/>
                </a:solidFill>
              </a:rPr>
              <a:t>GREP: Powerful Command line utility…. more</a:t>
            </a:r>
            <a:endParaRPr lang="en-US" sz="2400" dirty="0"/>
          </a:p>
        </p:txBody>
      </p:sp>
      <p:pic>
        <p:nvPicPr>
          <p:cNvPr id="3" name="Picture 2">
            <a:extLst>
              <a:ext uri="{FF2B5EF4-FFF2-40B4-BE49-F238E27FC236}">
                <a16:creationId xmlns:a16="http://schemas.microsoft.com/office/drawing/2014/main" id="{8636658D-176B-D1DE-B483-76C19AAABCC2}"/>
              </a:ext>
            </a:extLst>
          </p:cNvPr>
          <p:cNvPicPr>
            <a:picLocks noChangeAspect="1"/>
          </p:cNvPicPr>
          <p:nvPr/>
        </p:nvPicPr>
        <p:blipFill>
          <a:blip r:embed="rId2"/>
          <a:stretch>
            <a:fillRect/>
          </a:stretch>
        </p:blipFill>
        <p:spPr>
          <a:xfrm>
            <a:off x="2209800" y="1209021"/>
            <a:ext cx="7772400" cy="4439958"/>
          </a:xfrm>
          <a:prstGeom prst="rect">
            <a:avLst/>
          </a:prstGeom>
        </p:spPr>
      </p:pic>
    </p:spTree>
    <p:extLst>
      <p:ext uri="{BB962C8B-B14F-4D97-AF65-F5344CB8AC3E}">
        <p14:creationId xmlns:p14="http://schemas.microsoft.com/office/powerpoint/2010/main" val="11990047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FA480C2-FE69-0477-7B36-926AFFFD5619}"/>
              </a:ext>
            </a:extLst>
          </p:cNvPr>
          <p:cNvSpPr txBox="1"/>
          <p:nvPr/>
        </p:nvSpPr>
        <p:spPr>
          <a:xfrm>
            <a:off x="99177" y="207589"/>
            <a:ext cx="7772400" cy="461665"/>
          </a:xfrm>
          <a:prstGeom prst="rect">
            <a:avLst/>
          </a:prstGeom>
          <a:noFill/>
        </p:spPr>
        <p:txBody>
          <a:bodyPr wrap="square">
            <a:spAutoFit/>
          </a:bodyPr>
          <a:lstStyle/>
          <a:p>
            <a:r>
              <a:rPr lang="en-US" sz="2400" dirty="0">
                <a:solidFill>
                  <a:srgbClr val="FFC000"/>
                </a:solidFill>
              </a:rPr>
              <a:t>GREP: Powerful Command line utility…. more</a:t>
            </a:r>
            <a:endParaRPr lang="en-US" sz="2400" dirty="0"/>
          </a:p>
        </p:txBody>
      </p:sp>
      <p:pic>
        <p:nvPicPr>
          <p:cNvPr id="2" name="Picture 1">
            <a:extLst>
              <a:ext uri="{FF2B5EF4-FFF2-40B4-BE49-F238E27FC236}">
                <a16:creationId xmlns:a16="http://schemas.microsoft.com/office/drawing/2014/main" id="{D745D999-6D65-64F4-EF08-4930559F4080}"/>
              </a:ext>
            </a:extLst>
          </p:cNvPr>
          <p:cNvPicPr>
            <a:picLocks noChangeAspect="1"/>
          </p:cNvPicPr>
          <p:nvPr/>
        </p:nvPicPr>
        <p:blipFill>
          <a:blip r:embed="rId2"/>
          <a:stretch>
            <a:fillRect/>
          </a:stretch>
        </p:blipFill>
        <p:spPr>
          <a:xfrm>
            <a:off x="2209800" y="737059"/>
            <a:ext cx="7772400" cy="5913352"/>
          </a:xfrm>
          <a:prstGeom prst="rect">
            <a:avLst/>
          </a:prstGeom>
        </p:spPr>
      </p:pic>
    </p:spTree>
    <p:extLst>
      <p:ext uri="{BB962C8B-B14F-4D97-AF65-F5344CB8AC3E}">
        <p14:creationId xmlns:p14="http://schemas.microsoft.com/office/powerpoint/2010/main" val="21822285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FA480C2-FE69-0477-7B36-926AFFFD5619}"/>
              </a:ext>
            </a:extLst>
          </p:cNvPr>
          <p:cNvSpPr txBox="1"/>
          <p:nvPr/>
        </p:nvSpPr>
        <p:spPr>
          <a:xfrm>
            <a:off x="99177" y="207589"/>
            <a:ext cx="7772400" cy="461665"/>
          </a:xfrm>
          <a:prstGeom prst="rect">
            <a:avLst/>
          </a:prstGeom>
          <a:noFill/>
        </p:spPr>
        <p:txBody>
          <a:bodyPr wrap="square">
            <a:spAutoFit/>
          </a:bodyPr>
          <a:lstStyle/>
          <a:p>
            <a:r>
              <a:rPr lang="en-US" sz="2400" dirty="0">
                <a:solidFill>
                  <a:srgbClr val="FFC000"/>
                </a:solidFill>
              </a:rPr>
              <a:t>GREP: Powerful Command line utility…. more</a:t>
            </a:r>
            <a:endParaRPr lang="en-US" sz="2400" dirty="0"/>
          </a:p>
        </p:txBody>
      </p:sp>
      <p:pic>
        <p:nvPicPr>
          <p:cNvPr id="3" name="Picture 2">
            <a:extLst>
              <a:ext uri="{FF2B5EF4-FFF2-40B4-BE49-F238E27FC236}">
                <a16:creationId xmlns:a16="http://schemas.microsoft.com/office/drawing/2014/main" id="{C024BED8-BC5F-0E6A-1A2C-7439FEE2FF97}"/>
              </a:ext>
            </a:extLst>
          </p:cNvPr>
          <p:cNvPicPr>
            <a:picLocks noChangeAspect="1"/>
          </p:cNvPicPr>
          <p:nvPr/>
        </p:nvPicPr>
        <p:blipFill>
          <a:blip r:embed="rId2"/>
          <a:stretch>
            <a:fillRect/>
          </a:stretch>
        </p:blipFill>
        <p:spPr>
          <a:xfrm>
            <a:off x="2209800" y="2217653"/>
            <a:ext cx="7772400" cy="2422694"/>
          </a:xfrm>
          <a:prstGeom prst="rect">
            <a:avLst/>
          </a:prstGeom>
        </p:spPr>
      </p:pic>
    </p:spTree>
    <p:extLst>
      <p:ext uri="{BB962C8B-B14F-4D97-AF65-F5344CB8AC3E}">
        <p14:creationId xmlns:p14="http://schemas.microsoft.com/office/powerpoint/2010/main" val="40693816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FA480C2-FE69-0477-7B36-926AFFFD5619}"/>
              </a:ext>
            </a:extLst>
          </p:cNvPr>
          <p:cNvSpPr txBox="1"/>
          <p:nvPr/>
        </p:nvSpPr>
        <p:spPr>
          <a:xfrm>
            <a:off x="99177" y="207589"/>
            <a:ext cx="7772400" cy="461665"/>
          </a:xfrm>
          <a:prstGeom prst="rect">
            <a:avLst/>
          </a:prstGeom>
          <a:noFill/>
        </p:spPr>
        <p:txBody>
          <a:bodyPr wrap="square">
            <a:spAutoFit/>
          </a:bodyPr>
          <a:lstStyle/>
          <a:p>
            <a:r>
              <a:rPr lang="en-US" sz="2400" dirty="0">
                <a:solidFill>
                  <a:srgbClr val="FFC000"/>
                </a:solidFill>
              </a:rPr>
              <a:t>GREP: Extended Regular Expressions</a:t>
            </a:r>
            <a:endParaRPr lang="en-US" sz="2400" dirty="0"/>
          </a:p>
        </p:txBody>
      </p:sp>
      <p:pic>
        <p:nvPicPr>
          <p:cNvPr id="3" name="Picture 2">
            <a:extLst>
              <a:ext uri="{FF2B5EF4-FFF2-40B4-BE49-F238E27FC236}">
                <a16:creationId xmlns:a16="http://schemas.microsoft.com/office/drawing/2014/main" id="{45369E81-9618-58C2-4F8C-20C1FA1C7C15}"/>
              </a:ext>
            </a:extLst>
          </p:cNvPr>
          <p:cNvPicPr>
            <a:picLocks noChangeAspect="1"/>
          </p:cNvPicPr>
          <p:nvPr/>
        </p:nvPicPr>
        <p:blipFill>
          <a:blip r:embed="rId2"/>
          <a:stretch>
            <a:fillRect/>
          </a:stretch>
        </p:blipFill>
        <p:spPr>
          <a:xfrm>
            <a:off x="2209800" y="669254"/>
            <a:ext cx="7772400" cy="6101235"/>
          </a:xfrm>
          <a:prstGeom prst="rect">
            <a:avLst/>
          </a:prstGeom>
        </p:spPr>
      </p:pic>
    </p:spTree>
    <p:extLst>
      <p:ext uri="{BB962C8B-B14F-4D97-AF65-F5344CB8AC3E}">
        <p14:creationId xmlns:p14="http://schemas.microsoft.com/office/powerpoint/2010/main" val="321976307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FA480C2-FE69-0477-7B36-926AFFFD5619}"/>
              </a:ext>
            </a:extLst>
          </p:cNvPr>
          <p:cNvSpPr txBox="1"/>
          <p:nvPr/>
        </p:nvSpPr>
        <p:spPr>
          <a:xfrm>
            <a:off x="99177" y="207589"/>
            <a:ext cx="7772400" cy="461665"/>
          </a:xfrm>
          <a:prstGeom prst="rect">
            <a:avLst/>
          </a:prstGeom>
          <a:noFill/>
        </p:spPr>
        <p:txBody>
          <a:bodyPr wrap="square">
            <a:spAutoFit/>
          </a:bodyPr>
          <a:lstStyle/>
          <a:p>
            <a:r>
              <a:rPr lang="en-US" sz="2400" dirty="0">
                <a:solidFill>
                  <a:srgbClr val="FFC000"/>
                </a:solidFill>
              </a:rPr>
              <a:t>GREP: Extended Regular Expressions</a:t>
            </a:r>
            <a:endParaRPr lang="en-US" sz="2400" dirty="0"/>
          </a:p>
        </p:txBody>
      </p:sp>
      <p:pic>
        <p:nvPicPr>
          <p:cNvPr id="2" name="Picture 1">
            <a:extLst>
              <a:ext uri="{FF2B5EF4-FFF2-40B4-BE49-F238E27FC236}">
                <a16:creationId xmlns:a16="http://schemas.microsoft.com/office/drawing/2014/main" id="{0D8DAAFF-3D73-167F-B94D-D8BC905A2C10}"/>
              </a:ext>
            </a:extLst>
          </p:cNvPr>
          <p:cNvPicPr>
            <a:picLocks noChangeAspect="1"/>
          </p:cNvPicPr>
          <p:nvPr/>
        </p:nvPicPr>
        <p:blipFill>
          <a:blip r:embed="rId2"/>
          <a:stretch>
            <a:fillRect/>
          </a:stretch>
        </p:blipFill>
        <p:spPr>
          <a:xfrm>
            <a:off x="2209800" y="697505"/>
            <a:ext cx="7772400" cy="5952906"/>
          </a:xfrm>
          <a:prstGeom prst="rect">
            <a:avLst/>
          </a:prstGeom>
        </p:spPr>
      </p:pic>
    </p:spTree>
    <p:extLst>
      <p:ext uri="{BB962C8B-B14F-4D97-AF65-F5344CB8AC3E}">
        <p14:creationId xmlns:p14="http://schemas.microsoft.com/office/powerpoint/2010/main" val="13981701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FA480C2-FE69-0477-7B36-926AFFFD5619}"/>
              </a:ext>
            </a:extLst>
          </p:cNvPr>
          <p:cNvSpPr txBox="1"/>
          <p:nvPr/>
        </p:nvSpPr>
        <p:spPr>
          <a:xfrm>
            <a:off x="99177" y="207589"/>
            <a:ext cx="7772400" cy="461665"/>
          </a:xfrm>
          <a:prstGeom prst="rect">
            <a:avLst/>
          </a:prstGeom>
          <a:noFill/>
        </p:spPr>
        <p:txBody>
          <a:bodyPr wrap="square">
            <a:spAutoFit/>
          </a:bodyPr>
          <a:lstStyle/>
          <a:p>
            <a:r>
              <a:rPr lang="en-US" sz="2400" dirty="0">
                <a:solidFill>
                  <a:srgbClr val="FFC000"/>
                </a:solidFill>
              </a:rPr>
              <a:t>GREP: Functions</a:t>
            </a:r>
            <a:endParaRPr lang="en-US" sz="2400" dirty="0"/>
          </a:p>
        </p:txBody>
      </p:sp>
      <p:pic>
        <p:nvPicPr>
          <p:cNvPr id="3" name="Picture 2">
            <a:extLst>
              <a:ext uri="{FF2B5EF4-FFF2-40B4-BE49-F238E27FC236}">
                <a16:creationId xmlns:a16="http://schemas.microsoft.com/office/drawing/2014/main" id="{C4D7EF97-BB74-247B-8683-4947C2199D87}"/>
              </a:ext>
            </a:extLst>
          </p:cNvPr>
          <p:cNvPicPr>
            <a:picLocks noChangeAspect="1"/>
          </p:cNvPicPr>
          <p:nvPr/>
        </p:nvPicPr>
        <p:blipFill>
          <a:blip r:embed="rId2"/>
          <a:stretch>
            <a:fillRect/>
          </a:stretch>
        </p:blipFill>
        <p:spPr>
          <a:xfrm>
            <a:off x="2209800" y="2149306"/>
            <a:ext cx="7772400" cy="2422694"/>
          </a:xfrm>
          <a:prstGeom prst="rect">
            <a:avLst/>
          </a:prstGeom>
        </p:spPr>
      </p:pic>
    </p:spTree>
    <p:extLst>
      <p:ext uri="{BB962C8B-B14F-4D97-AF65-F5344CB8AC3E}">
        <p14:creationId xmlns:p14="http://schemas.microsoft.com/office/powerpoint/2010/main" val="316858361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FA480C2-FE69-0477-7B36-926AFFFD5619}"/>
              </a:ext>
            </a:extLst>
          </p:cNvPr>
          <p:cNvSpPr txBox="1"/>
          <p:nvPr/>
        </p:nvSpPr>
        <p:spPr>
          <a:xfrm>
            <a:off x="1306185" y="2967335"/>
            <a:ext cx="7772400" cy="461665"/>
          </a:xfrm>
          <a:prstGeom prst="rect">
            <a:avLst/>
          </a:prstGeom>
          <a:noFill/>
        </p:spPr>
        <p:txBody>
          <a:bodyPr wrap="square">
            <a:spAutoFit/>
          </a:bodyPr>
          <a:lstStyle/>
          <a:p>
            <a:r>
              <a:rPr lang="en-US" sz="2400" dirty="0">
                <a:solidFill>
                  <a:srgbClr val="FFC000"/>
                </a:solidFill>
              </a:rPr>
              <a:t>What next?? … awk and sed??   </a:t>
            </a:r>
            <a:r>
              <a:rPr lang="en-US" sz="2400" dirty="0">
                <a:solidFill>
                  <a:srgbClr val="00B0F0"/>
                </a:solidFill>
              </a:rPr>
              <a:t>[LOL out of scope]</a:t>
            </a:r>
          </a:p>
        </p:txBody>
      </p:sp>
    </p:spTree>
    <p:extLst>
      <p:ext uri="{BB962C8B-B14F-4D97-AF65-F5344CB8AC3E}">
        <p14:creationId xmlns:p14="http://schemas.microsoft.com/office/powerpoint/2010/main" val="135378298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FA480C2-FE69-0477-7B36-926AFFFD5619}"/>
              </a:ext>
            </a:extLst>
          </p:cNvPr>
          <p:cNvSpPr txBox="1"/>
          <p:nvPr/>
        </p:nvSpPr>
        <p:spPr>
          <a:xfrm>
            <a:off x="80889" y="86975"/>
            <a:ext cx="7772400" cy="461665"/>
          </a:xfrm>
          <a:prstGeom prst="rect">
            <a:avLst/>
          </a:prstGeom>
          <a:noFill/>
        </p:spPr>
        <p:txBody>
          <a:bodyPr wrap="square">
            <a:spAutoFit/>
          </a:bodyPr>
          <a:lstStyle/>
          <a:p>
            <a:r>
              <a:rPr lang="en-US" sz="2400" dirty="0">
                <a:solidFill>
                  <a:srgbClr val="FFC000"/>
                </a:solidFill>
              </a:rPr>
              <a:t>Some helpful stuff…</a:t>
            </a:r>
            <a:endParaRPr lang="en-US" sz="2400" dirty="0">
              <a:solidFill>
                <a:srgbClr val="00B0F0"/>
              </a:solidFill>
            </a:endParaRPr>
          </a:p>
        </p:txBody>
      </p:sp>
      <p:pic>
        <p:nvPicPr>
          <p:cNvPr id="2" name="Picture 1">
            <a:extLst>
              <a:ext uri="{FF2B5EF4-FFF2-40B4-BE49-F238E27FC236}">
                <a16:creationId xmlns:a16="http://schemas.microsoft.com/office/drawing/2014/main" id="{129C38A0-D6EC-F987-FF76-FCCE6D6DDF54}"/>
              </a:ext>
            </a:extLst>
          </p:cNvPr>
          <p:cNvPicPr>
            <a:picLocks noChangeAspect="1"/>
          </p:cNvPicPr>
          <p:nvPr/>
        </p:nvPicPr>
        <p:blipFill>
          <a:blip r:embed="rId2"/>
          <a:stretch>
            <a:fillRect/>
          </a:stretch>
        </p:blipFill>
        <p:spPr>
          <a:xfrm>
            <a:off x="874776" y="797695"/>
            <a:ext cx="7772400" cy="5536929"/>
          </a:xfrm>
          <a:prstGeom prst="rect">
            <a:avLst/>
          </a:prstGeom>
        </p:spPr>
      </p:pic>
    </p:spTree>
    <p:extLst>
      <p:ext uri="{BB962C8B-B14F-4D97-AF65-F5344CB8AC3E}">
        <p14:creationId xmlns:p14="http://schemas.microsoft.com/office/powerpoint/2010/main" val="203695374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FA480C2-FE69-0477-7B36-926AFFFD5619}"/>
              </a:ext>
            </a:extLst>
          </p:cNvPr>
          <p:cNvSpPr txBox="1"/>
          <p:nvPr/>
        </p:nvSpPr>
        <p:spPr>
          <a:xfrm>
            <a:off x="80889" y="86975"/>
            <a:ext cx="7772400" cy="461665"/>
          </a:xfrm>
          <a:prstGeom prst="rect">
            <a:avLst/>
          </a:prstGeom>
          <a:noFill/>
        </p:spPr>
        <p:txBody>
          <a:bodyPr wrap="square">
            <a:spAutoFit/>
          </a:bodyPr>
          <a:lstStyle/>
          <a:p>
            <a:r>
              <a:rPr lang="en-US" sz="2400" dirty="0">
                <a:solidFill>
                  <a:srgbClr val="FFC000"/>
                </a:solidFill>
              </a:rPr>
              <a:t>Some helpful stuff…</a:t>
            </a:r>
            <a:endParaRPr lang="en-US" sz="2400" dirty="0">
              <a:solidFill>
                <a:srgbClr val="00B0F0"/>
              </a:solidFill>
            </a:endParaRPr>
          </a:p>
        </p:txBody>
      </p:sp>
      <p:pic>
        <p:nvPicPr>
          <p:cNvPr id="3" name="Picture 2">
            <a:extLst>
              <a:ext uri="{FF2B5EF4-FFF2-40B4-BE49-F238E27FC236}">
                <a16:creationId xmlns:a16="http://schemas.microsoft.com/office/drawing/2014/main" id="{1E0811A1-0085-CC6C-09D1-D7999ADFFDEA}"/>
              </a:ext>
            </a:extLst>
          </p:cNvPr>
          <p:cNvPicPr>
            <a:picLocks noChangeAspect="1"/>
          </p:cNvPicPr>
          <p:nvPr/>
        </p:nvPicPr>
        <p:blipFill>
          <a:blip r:embed="rId2"/>
          <a:stretch>
            <a:fillRect/>
          </a:stretch>
        </p:blipFill>
        <p:spPr>
          <a:xfrm>
            <a:off x="2209800" y="1493662"/>
            <a:ext cx="7772400" cy="3870675"/>
          </a:xfrm>
          <a:prstGeom prst="rect">
            <a:avLst/>
          </a:prstGeom>
        </p:spPr>
      </p:pic>
    </p:spTree>
    <p:extLst>
      <p:ext uri="{BB962C8B-B14F-4D97-AF65-F5344CB8AC3E}">
        <p14:creationId xmlns:p14="http://schemas.microsoft.com/office/powerpoint/2010/main" val="201999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16037</TotalTime>
  <Words>896</Words>
  <Application>Microsoft Macintosh PowerPoint</Application>
  <PresentationFormat>Widescreen</PresentationFormat>
  <Paragraphs>72</Paragraphs>
  <Slides>49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49</vt:i4>
      </vt:variant>
    </vt:vector>
  </HeadingPairs>
  <TitlesOfParts>
    <vt:vector size="54" baseType="lpstr">
      <vt:lpstr>Aptos</vt:lpstr>
      <vt:lpstr>Aptos Display</vt:lpstr>
      <vt:lpstr>Arial</vt:lpstr>
      <vt:lpstr>Söhne</vt:lpstr>
      <vt:lpstr>Office Theme</vt:lpstr>
      <vt:lpstr>UNIX-Programming BASH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Functions, Arrays, Vectors, Lists and for-loops</dc:title>
  <dc:creator>Bhandari, Keshav</dc:creator>
  <cp:lastModifiedBy>Bhandari, Keshav</cp:lastModifiedBy>
  <cp:revision>71</cp:revision>
  <dcterms:created xsi:type="dcterms:W3CDTF">2024-01-18T13:32:16Z</dcterms:created>
  <dcterms:modified xsi:type="dcterms:W3CDTF">2024-03-19T18:54:22Z</dcterms:modified>
</cp:coreProperties>
</file>
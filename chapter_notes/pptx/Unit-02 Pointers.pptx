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72" r:id="rId3"/>
    <p:sldId id="274" r:id="rId4"/>
    <p:sldId id="277" r:id="rId5"/>
    <p:sldId id="279" r:id="rId6"/>
    <p:sldId id="280" r:id="rId7"/>
    <p:sldId id="281" r:id="rId8"/>
    <p:sldId id="282" r:id="rId9"/>
    <p:sldId id="284" r:id="rId10"/>
    <p:sldId id="283" r:id="rId11"/>
    <p:sldId id="285" r:id="rId12"/>
    <p:sldId id="286" r:id="rId13"/>
    <p:sldId id="287" r:id="rId14"/>
    <p:sldId id="288" r:id="rId15"/>
    <p:sldId id="289" r:id="rId16"/>
    <p:sldId id="291" r:id="rId17"/>
    <p:sldId id="292" r:id="rId18"/>
    <p:sldId id="293" r:id="rId19"/>
    <p:sldId id="296" r:id="rId20"/>
    <p:sldId id="295" r:id="rId21"/>
    <p:sldId id="297" r:id="rId22"/>
    <p:sldId id="298" r:id="rId23"/>
    <p:sldId id="299" r:id="rId24"/>
    <p:sldId id="300"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B89C4"/>
    <a:srgbClr val="3435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612"/>
    <p:restoredTop sz="94719"/>
  </p:normalViewPr>
  <p:slideViewPr>
    <p:cSldViewPr snapToGrid="0">
      <p:cViewPr varScale="1">
        <p:scale>
          <a:sx n="148" d="100"/>
          <a:sy n="148" d="100"/>
        </p:scale>
        <p:origin x="366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735D1C-2DAE-A844-AB28-6D356E73EE8D}" type="datetimeFigureOut">
              <a:rPr lang="en-US" smtClean="0"/>
              <a:t>2/13/24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8AF8E0-C54F-AA4C-9564-2FD33EE1C5D9}" type="slidenum">
              <a:rPr lang="en-US" smtClean="0"/>
              <a:t>‹#›</a:t>
            </a:fld>
            <a:endParaRPr lang="en-US"/>
          </a:p>
        </p:txBody>
      </p:sp>
    </p:spTree>
    <p:extLst>
      <p:ext uri="{BB962C8B-B14F-4D97-AF65-F5344CB8AC3E}">
        <p14:creationId xmlns:p14="http://schemas.microsoft.com/office/powerpoint/2010/main" val="26213317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C76257-958B-09D6-92F7-5B0310B8E47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0CB69D8-EB61-F9A8-5D1A-1F94741B9EF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9E573C1-CC5F-0B20-19D7-E42F24682F61}"/>
              </a:ext>
            </a:extLst>
          </p:cNvPr>
          <p:cNvSpPr>
            <a:spLocks noGrp="1"/>
          </p:cNvSpPr>
          <p:nvPr>
            <p:ph type="dt" sz="half" idx="10"/>
          </p:nvPr>
        </p:nvSpPr>
        <p:spPr/>
        <p:txBody>
          <a:bodyPr/>
          <a:lstStyle/>
          <a:p>
            <a:fld id="{5FABD409-7894-914B-8B56-CBEFCA3FA783}" type="datetimeFigureOut">
              <a:rPr lang="en-US" smtClean="0"/>
              <a:t>2/13/24</a:t>
            </a:fld>
            <a:endParaRPr lang="en-US"/>
          </a:p>
        </p:txBody>
      </p:sp>
      <p:sp>
        <p:nvSpPr>
          <p:cNvPr id="5" name="Footer Placeholder 4">
            <a:extLst>
              <a:ext uri="{FF2B5EF4-FFF2-40B4-BE49-F238E27FC236}">
                <a16:creationId xmlns:a16="http://schemas.microsoft.com/office/drawing/2014/main" id="{2945A4A3-6948-F153-3318-377D94D70E5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AB17D5C-E654-81BE-EC72-D4253B501030}"/>
              </a:ext>
            </a:extLst>
          </p:cNvPr>
          <p:cNvSpPr>
            <a:spLocks noGrp="1"/>
          </p:cNvSpPr>
          <p:nvPr>
            <p:ph type="sldNum" sz="quarter" idx="12"/>
          </p:nvPr>
        </p:nvSpPr>
        <p:spPr/>
        <p:txBody>
          <a:bodyPr/>
          <a:lstStyle/>
          <a:p>
            <a:fld id="{407B0DCE-EB0D-B345-B55B-5E162699D54F}" type="slidenum">
              <a:rPr lang="en-US" smtClean="0"/>
              <a:t>‹#›</a:t>
            </a:fld>
            <a:endParaRPr lang="en-US"/>
          </a:p>
        </p:txBody>
      </p:sp>
    </p:spTree>
    <p:extLst>
      <p:ext uri="{BB962C8B-B14F-4D97-AF65-F5344CB8AC3E}">
        <p14:creationId xmlns:p14="http://schemas.microsoft.com/office/powerpoint/2010/main" val="34729335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21C2A-904F-BFB4-AF47-8225BDBC140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A7645F5-62D0-0F7C-7C71-CE300895496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1ED2AA-D3CB-6A87-F6F4-742C557D4621}"/>
              </a:ext>
            </a:extLst>
          </p:cNvPr>
          <p:cNvSpPr>
            <a:spLocks noGrp="1"/>
          </p:cNvSpPr>
          <p:nvPr>
            <p:ph type="dt" sz="half" idx="10"/>
          </p:nvPr>
        </p:nvSpPr>
        <p:spPr/>
        <p:txBody>
          <a:bodyPr/>
          <a:lstStyle/>
          <a:p>
            <a:fld id="{5FABD409-7894-914B-8B56-CBEFCA3FA783}" type="datetimeFigureOut">
              <a:rPr lang="en-US" smtClean="0"/>
              <a:t>2/13/24</a:t>
            </a:fld>
            <a:endParaRPr lang="en-US"/>
          </a:p>
        </p:txBody>
      </p:sp>
      <p:sp>
        <p:nvSpPr>
          <p:cNvPr id="5" name="Footer Placeholder 4">
            <a:extLst>
              <a:ext uri="{FF2B5EF4-FFF2-40B4-BE49-F238E27FC236}">
                <a16:creationId xmlns:a16="http://schemas.microsoft.com/office/drawing/2014/main" id="{8EBBA9E1-EAA3-B453-5B8B-652839EACC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7FC1C9-53BA-938B-7D77-CAB8D9688DEB}"/>
              </a:ext>
            </a:extLst>
          </p:cNvPr>
          <p:cNvSpPr>
            <a:spLocks noGrp="1"/>
          </p:cNvSpPr>
          <p:nvPr>
            <p:ph type="sldNum" sz="quarter" idx="12"/>
          </p:nvPr>
        </p:nvSpPr>
        <p:spPr/>
        <p:txBody>
          <a:bodyPr/>
          <a:lstStyle/>
          <a:p>
            <a:fld id="{407B0DCE-EB0D-B345-B55B-5E162699D54F}" type="slidenum">
              <a:rPr lang="en-US" smtClean="0"/>
              <a:t>‹#›</a:t>
            </a:fld>
            <a:endParaRPr lang="en-US"/>
          </a:p>
        </p:txBody>
      </p:sp>
    </p:spTree>
    <p:extLst>
      <p:ext uri="{BB962C8B-B14F-4D97-AF65-F5344CB8AC3E}">
        <p14:creationId xmlns:p14="http://schemas.microsoft.com/office/powerpoint/2010/main" val="25004473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BB4A2-72E8-94B2-0D40-76DCD8C5A45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EA2FA4D-2759-214F-7B15-F7D3CECC422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33F4A3E-16E9-9B32-F980-9BEE83C98C08}"/>
              </a:ext>
            </a:extLst>
          </p:cNvPr>
          <p:cNvSpPr>
            <a:spLocks noGrp="1"/>
          </p:cNvSpPr>
          <p:nvPr>
            <p:ph type="dt" sz="half" idx="10"/>
          </p:nvPr>
        </p:nvSpPr>
        <p:spPr/>
        <p:txBody>
          <a:bodyPr/>
          <a:lstStyle/>
          <a:p>
            <a:fld id="{5FABD409-7894-914B-8B56-CBEFCA3FA783}" type="datetimeFigureOut">
              <a:rPr lang="en-US" smtClean="0"/>
              <a:t>2/13/24</a:t>
            </a:fld>
            <a:endParaRPr lang="en-US"/>
          </a:p>
        </p:txBody>
      </p:sp>
      <p:sp>
        <p:nvSpPr>
          <p:cNvPr id="5" name="Footer Placeholder 4">
            <a:extLst>
              <a:ext uri="{FF2B5EF4-FFF2-40B4-BE49-F238E27FC236}">
                <a16:creationId xmlns:a16="http://schemas.microsoft.com/office/drawing/2014/main" id="{7F6C2826-3EB8-8571-8075-773114DBC7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ACEE87-4B22-4F89-0EED-CB2BFB2B6F9B}"/>
              </a:ext>
            </a:extLst>
          </p:cNvPr>
          <p:cNvSpPr>
            <a:spLocks noGrp="1"/>
          </p:cNvSpPr>
          <p:nvPr>
            <p:ph type="sldNum" sz="quarter" idx="12"/>
          </p:nvPr>
        </p:nvSpPr>
        <p:spPr/>
        <p:txBody>
          <a:bodyPr/>
          <a:lstStyle/>
          <a:p>
            <a:fld id="{407B0DCE-EB0D-B345-B55B-5E162699D54F}" type="slidenum">
              <a:rPr lang="en-US" smtClean="0"/>
              <a:t>‹#›</a:t>
            </a:fld>
            <a:endParaRPr lang="en-US"/>
          </a:p>
        </p:txBody>
      </p:sp>
    </p:spTree>
    <p:extLst>
      <p:ext uri="{BB962C8B-B14F-4D97-AF65-F5344CB8AC3E}">
        <p14:creationId xmlns:p14="http://schemas.microsoft.com/office/powerpoint/2010/main" val="14095977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2A06D-3A94-9587-31F9-927848D5AA9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8FD2124-1628-6087-F974-BFC7A6A9CCF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84D2039-E8F0-87D2-C366-1116E08EC99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A380AFC-7D20-8F02-3AA6-BA3103765FCB}"/>
              </a:ext>
            </a:extLst>
          </p:cNvPr>
          <p:cNvSpPr>
            <a:spLocks noGrp="1"/>
          </p:cNvSpPr>
          <p:nvPr>
            <p:ph type="dt" sz="half" idx="10"/>
          </p:nvPr>
        </p:nvSpPr>
        <p:spPr/>
        <p:txBody>
          <a:bodyPr/>
          <a:lstStyle/>
          <a:p>
            <a:fld id="{5FABD409-7894-914B-8B56-CBEFCA3FA783}" type="datetimeFigureOut">
              <a:rPr lang="en-US" smtClean="0"/>
              <a:t>2/13/24</a:t>
            </a:fld>
            <a:endParaRPr lang="en-US"/>
          </a:p>
        </p:txBody>
      </p:sp>
      <p:sp>
        <p:nvSpPr>
          <p:cNvPr id="6" name="Footer Placeholder 5">
            <a:extLst>
              <a:ext uri="{FF2B5EF4-FFF2-40B4-BE49-F238E27FC236}">
                <a16:creationId xmlns:a16="http://schemas.microsoft.com/office/drawing/2014/main" id="{F6D5B6E6-EE80-CD45-575B-FC3411EB4B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471D726-870A-E31F-7BE9-68A6B559EF47}"/>
              </a:ext>
            </a:extLst>
          </p:cNvPr>
          <p:cNvSpPr>
            <a:spLocks noGrp="1"/>
          </p:cNvSpPr>
          <p:nvPr>
            <p:ph type="sldNum" sz="quarter" idx="12"/>
          </p:nvPr>
        </p:nvSpPr>
        <p:spPr/>
        <p:txBody>
          <a:bodyPr/>
          <a:lstStyle/>
          <a:p>
            <a:fld id="{407B0DCE-EB0D-B345-B55B-5E162699D54F}" type="slidenum">
              <a:rPr lang="en-US" smtClean="0"/>
              <a:t>‹#›</a:t>
            </a:fld>
            <a:endParaRPr lang="en-US"/>
          </a:p>
        </p:txBody>
      </p:sp>
    </p:spTree>
    <p:extLst>
      <p:ext uri="{BB962C8B-B14F-4D97-AF65-F5344CB8AC3E}">
        <p14:creationId xmlns:p14="http://schemas.microsoft.com/office/powerpoint/2010/main" val="34547044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88248-201E-1071-490C-E2B0F03432E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AA88978-DF11-33E9-1476-F9EA8A0F87F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DD38A99-0E1F-72D2-C53C-B460A7A2FD4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BDEB125-AAAB-196F-2350-8919EFFE0FF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E9DBE02-FA8F-0337-80CA-1B3A3BA26DD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7E06BCB-093A-41AE-D8AE-FB27B505FB62}"/>
              </a:ext>
            </a:extLst>
          </p:cNvPr>
          <p:cNvSpPr>
            <a:spLocks noGrp="1"/>
          </p:cNvSpPr>
          <p:nvPr>
            <p:ph type="dt" sz="half" idx="10"/>
          </p:nvPr>
        </p:nvSpPr>
        <p:spPr/>
        <p:txBody>
          <a:bodyPr/>
          <a:lstStyle/>
          <a:p>
            <a:fld id="{5FABD409-7894-914B-8B56-CBEFCA3FA783}" type="datetimeFigureOut">
              <a:rPr lang="en-US" smtClean="0"/>
              <a:t>2/13/24</a:t>
            </a:fld>
            <a:endParaRPr lang="en-US"/>
          </a:p>
        </p:txBody>
      </p:sp>
      <p:sp>
        <p:nvSpPr>
          <p:cNvPr id="8" name="Footer Placeholder 7">
            <a:extLst>
              <a:ext uri="{FF2B5EF4-FFF2-40B4-BE49-F238E27FC236}">
                <a16:creationId xmlns:a16="http://schemas.microsoft.com/office/drawing/2014/main" id="{4E4B73D1-5555-1D92-5FD0-BC4AD4F8F91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DF417B4-3D69-508D-BF7B-2ECFF6F8F34A}"/>
              </a:ext>
            </a:extLst>
          </p:cNvPr>
          <p:cNvSpPr>
            <a:spLocks noGrp="1"/>
          </p:cNvSpPr>
          <p:nvPr>
            <p:ph type="sldNum" sz="quarter" idx="12"/>
          </p:nvPr>
        </p:nvSpPr>
        <p:spPr/>
        <p:txBody>
          <a:bodyPr/>
          <a:lstStyle/>
          <a:p>
            <a:fld id="{407B0DCE-EB0D-B345-B55B-5E162699D54F}" type="slidenum">
              <a:rPr lang="en-US" smtClean="0"/>
              <a:t>‹#›</a:t>
            </a:fld>
            <a:endParaRPr lang="en-US"/>
          </a:p>
        </p:txBody>
      </p:sp>
    </p:spTree>
    <p:extLst>
      <p:ext uri="{BB962C8B-B14F-4D97-AF65-F5344CB8AC3E}">
        <p14:creationId xmlns:p14="http://schemas.microsoft.com/office/powerpoint/2010/main" val="19158793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7F3093-AC16-170B-1304-22A6DAB64BF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A99E668-1077-D884-04D6-9966E1589BAC}"/>
              </a:ext>
            </a:extLst>
          </p:cNvPr>
          <p:cNvSpPr>
            <a:spLocks noGrp="1"/>
          </p:cNvSpPr>
          <p:nvPr>
            <p:ph type="dt" sz="half" idx="10"/>
          </p:nvPr>
        </p:nvSpPr>
        <p:spPr/>
        <p:txBody>
          <a:bodyPr/>
          <a:lstStyle/>
          <a:p>
            <a:fld id="{5FABD409-7894-914B-8B56-CBEFCA3FA783}" type="datetimeFigureOut">
              <a:rPr lang="en-US" smtClean="0"/>
              <a:t>2/13/24</a:t>
            </a:fld>
            <a:endParaRPr lang="en-US"/>
          </a:p>
        </p:txBody>
      </p:sp>
      <p:sp>
        <p:nvSpPr>
          <p:cNvPr id="4" name="Footer Placeholder 3">
            <a:extLst>
              <a:ext uri="{FF2B5EF4-FFF2-40B4-BE49-F238E27FC236}">
                <a16:creationId xmlns:a16="http://schemas.microsoft.com/office/drawing/2014/main" id="{61E0396F-41FD-2200-1696-26C4E6AC018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E5B8B63-BC1B-A7AE-B6CC-F5772ACA91BE}"/>
              </a:ext>
            </a:extLst>
          </p:cNvPr>
          <p:cNvSpPr>
            <a:spLocks noGrp="1"/>
          </p:cNvSpPr>
          <p:nvPr>
            <p:ph type="sldNum" sz="quarter" idx="12"/>
          </p:nvPr>
        </p:nvSpPr>
        <p:spPr/>
        <p:txBody>
          <a:bodyPr/>
          <a:lstStyle/>
          <a:p>
            <a:fld id="{407B0DCE-EB0D-B345-B55B-5E162699D54F}" type="slidenum">
              <a:rPr lang="en-US" smtClean="0"/>
              <a:t>‹#›</a:t>
            </a:fld>
            <a:endParaRPr lang="en-US"/>
          </a:p>
        </p:txBody>
      </p:sp>
    </p:spTree>
    <p:extLst>
      <p:ext uri="{BB962C8B-B14F-4D97-AF65-F5344CB8AC3E}">
        <p14:creationId xmlns:p14="http://schemas.microsoft.com/office/powerpoint/2010/main" val="9354660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0A44726-2BA3-55F8-0AC6-9D30DBE7F582}"/>
              </a:ext>
            </a:extLst>
          </p:cNvPr>
          <p:cNvSpPr>
            <a:spLocks noGrp="1"/>
          </p:cNvSpPr>
          <p:nvPr>
            <p:ph type="dt" sz="half" idx="10"/>
          </p:nvPr>
        </p:nvSpPr>
        <p:spPr/>
        <p:txBody>
          <a:bodyPr/>
          <a:lstStyle/>
          <a:p>
            <a:fld id="{5FABD409-7894-914B-8B56-CBEFCA3FA783}" type="datetimeFigureOut">
              <a:rPr lang="en-US" smtClean="0"/>
              <a:t>2/13/24</a:t>
            </a:fld>
            <a:endParaRPr lang="en-US"/>
          </a:p>
        </p:txBody>
      </p:sp>
      <p:sp>
        <p:nvSpPr>
          <p:cNvPr id="3" name="Footer Placeholder 2">
            <a:extLst>
              <a:ext uri="{FF2B5EF4-FFF2-40B4-BE49-F238E27FC236}">
                <a16:creationId xmlns:a16="http://schemas.microsoft.com/office/drawing/2014/main" id="{F2D660CA-9103-B6B8-F1D1-3B6BF891352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5816655-419F-7504-3B29-E35A841B92CA}"/>
              </a:ext>
            </a:extLst>
          </p:cNvPr>
          <p:cNvSpPr>
            <a:spLocks noGrp="1"/>
          </p:cNvSpPr>
          <p:nvPr>
            <p:ph type="sldNum" sz="quarter" idx="12"/>
          </p:nvPr>
        </p:nvSpPr>
        <p:spPr/>
        <p:txBody>
          <a:bodyPr/>
          <a:lstStyle/>
          <a:p>
            <a:fld id="{407B0DCE-EB0D-B345-B55B-5E162699D54F}" type="slidenum">
              <a:rPr lang="en-US" smtClean="0"/>
              <a:t>‹#›</a:t>
            </a:fld>
            <a:endParaRPr lang="en-US"/>
          </a:p>
        </p:txBody>
      </p:sp>
    </p:spTree>
    <p:extLst>
      <p:ext uri="{BB962C8B-B14F-4D97-AF65-F5344CB8AC3E}">
        <p14:creationId xmlns:p14="http://schemas.microsoft.com/office/powerpoint/2010/main" val="21859921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A5877F-AC36-8E35-4BE0-FD9F07582A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8B48E8E-19CC-FE91-8EB8-5C6522CFE37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148FD99-AC54-EF58-38DC-685D17EE54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A77FE06-565E-0B54-17B9-C2347ABBDC81}"/>
              </a:ext>
            </a:extLst>
          </p:cNvPr>
          <p:cNvSpPr>
            <a:spLocks noGrp="1"/>
          </p:cNvSpPr>
          <p:nvPr>
            <p:ph type="dt" sz="half" idx="10"/>
          </p:nvPr>
        </p:nvSpPr>
        <p:spPr/>
        <p:txBody>
          <a:bodyPr/>
          <a:lstStyle/>
          <a:p>
            <a:fld id="{5FABD409-7894-914B-8B56-CBEFCA3FA783}" type="datetimeFigureOut">
              <a:rPr lang="en-US" smtClean="0"/>
              <a:t>2/13/24</a:t>
            </a:fld>
            <a:endParaRPr lang="en-US"/>
          </a:p>
        </p:txBody>
      </p:sp>
      <p:sp>
        <p:nvSpPr>
          <p:cNvPr id="6" name="Footer Placeholder 5">
            <a:extLst>
              <a:ext uri="{FF2B5EF4-FFF2-40B4-BE49-F238E27FC236}">
                <a16:creationId xmlns:a16="http://schemas.microsoft.com/office/drawing/2014/main" id="{30E50E3F-AD08-9417-121D-D3416D6A50F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A0ACD8C-7008-0A11-6165-AED7670492CF}"/>
              </a:ext>
            </a:extLst>
          </p:cNvPr>
          <p:cNvSpPr>
            <a:spLocks noGrp="1"/>
          </p:cNvSpPr>
          <p:nvPr>
            <p:ph type="sldNum" sz="quarter" idx="12"/>
          </p:nvPr>
        </p:nvSpPr>
        <p:spPr/>
        <p:txBody>
          <a:bodyPr/>
          <a:lstStyle/>
          <a:p>
            <a:fld id="{407B0DCE-EB0D-B345-B55B-5E162699D54F}" type="slidenum">
              <a:rPr lang="en-US" smtClean="0"/>
              <a:t>‹#›</a:t>
            </a:fld>
            <a:endParaRPr lang="en-US"/>
          </a:p>
        </p:txBody>
      </p:sp>
    </p:spTree>
    <p:extLst>
      <p:ext uri="{BB962C8B-B14F-4D97-AF65-F5344CB8AC3E}">
        <p14:creationId xmlns:p14="http://schemas.microsoft.com/office/powerpoint/2010/main" val="31613049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0780B-49AA-3089-8278-C4E57A9F18C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B109CF7-752F-4095-BE92-E00EEA8FABF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0428BCA-DB5F-6B57-92BA-4981C4D1FE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D84446-CE70-3231-1445-DB3A29FCF22D}"/>
              </a:ext>
            </a:extLst>
          </p:cNvPr>
          <p:cNvSpPr>
            <a:spLocks noGrp="1"/>
          </p:cNvSpPr>
          <p:nvPr>
            <p:ph type="dt" sz="half" idx="10"/>
          </p:nvPr>
        </p:nvSpPr>
        <p:spPr/>
        <p:txBody>
          <a:bodyPr/>
          <a:lstStyle/>
          <a:p>
            <a:fld id="{5FABD409-7894-914B-8B56-CBEFCA3FA783}" type="datetimeFigureOut">
              <a:rPr lang="en-US" smtClean="0"/>
              <a:t>2/13/24</a:t>
            </a:fld>
            <a:endParaRPr lang="en-US"/>
          </a:p>
        </p:txBody>
      </p:sp>
      <p:sp>
        <p:nvSpPr>
          <p:cNvPr id="6" name="Footer Placeholder 5">
            <a:extLst>
              <a:ext uri="{FF2B5EF4-FFF2-40B4-BE49-F238E27FC236}">
                <a16:creationId xmlns:a16="http://schemas.microsoft.com/office/drawing/2014/main" id="{12DD26CD-E88D-0741-149E-3349634769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6B4273E-225F-8B5C-0845-68E63BC32676}"/>
              </a:ext>
            </a:extLst>
          </p:cNvPr>
          <p:cNvSpPr>
            <a:spLocks noGrp="1"/>
          </p:cNvSpPr>
          <p:nvPr>
            <p:ph type="sldNum" sz="quarter" idx="12"/>
          </p:nvPr>
        </p:nvSpPr>
        <p:spPr/>
        <p:txBody>
          <a:bodyPr/>
          <a:lstStyle/>
          <a:p>
            <a:fld id="{407B0DCE-EB0D-B345-B55B-5E162699D54F}" type="slidenum">
              <a:rPr lang="en-US" smtClean="0"/>
              <a:t>‹#›</a:t>
            </a:fld>
            <a:endParaRPr lang="en-US"/>
          </a:p>
        </p:txBody>
      </p:sp>
    </p:spTree>
    <p:extLst>
      <p:ext uri="{BB962C8B-B14F-4D97-AF65-F5344CB8AC3E}">
        <p14:creationId xmlns:p14="http://schemas.microsoft.com/office/powerpoint/2010/main" val="7088069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6DDFCF-812F-3892-08F6-D30690D39D7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F312774-DB26-BAE7-8990-17134632905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40DB4A-BD60-EC40-DE4F-66B96A97D82D}"/>
              </a:ext>
            </a:extLst>
          </p:cNvPr>
          <p:cNvSpPr>
            <a:spLocks noGrp="1"/>
          </p:cNvSpPr>
          <p:nvPr>
            <p:ph type="dt" sz="half" idx="10"/>
          </p:nvPr>
        </p:nvSpPr>
        <p:spPr/>
        <p:txBody>
          <a:bodyPr/>
          <a:lstStyle/>
          <a:p>
            <a:fld id="{5FABD409-7894-914B-8B56-CBEFCA3FA783}" type="datetimeFigureOut">
              <a:rPr lang="en-US" smtClean="0"/>
              <a:t>2/13/24</a:t>
            </a:fld>
            <a:endParaRPr lang="en-US"/>
          </a:p>
        </p:txBody>
      </p:sp>
      <p:sp>
        <p:nvSpPr>
          <p:cNvPr id="5" name="Footer Placeholder 4">
            <a:extLst>
              <a:ext uri="{FF2B5EF4-FFF2-40B4-BE49-F238E27FC236}">
                <a16:creationId xmlns:a16="http://schemas.microsoft.com/office/drawing/2014/main" id="{51271122-CEF0-6CE1-D304-347F6FC9CD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71BFB4-DF8B-2FF4-59E7-DA7875D50502}"/>
              </a:ext>
            </a:extLst>
          </p:cNvPr>
          <p:cNvSpPr>
            <a:spLocks noGrp="1"/>
          </p:cNvSpPr>
          <p:nvPr>
            <p:ph type="sldNum" sz="quarter" idx="12"/>
          </p:nvPr>
        </p:nvSpPr>
        <p:spPr/>
        <p:txBody>
          <a:bodyPr/>
          <a:lstStyle/>
          <a:p>
            <a:fld id="{407B0DCE-EB0D-B345-B55B-5E162699D54F}" type="slidenum">
              <a:rPr lang="en-US" smtClean="0"/>
              <a:t>‹#›</a:t>
            </a:fld>
            <a:endParaRPr lang="en-US"/>
          </a:p>
        </p:txBody>
      </p:sp>
    </p:spTree>
    <p:extLst>
      <p:ext uri="{BB962C8B-B14F-4D97-AF65-F5344CB8AC3E}">
        <p14:creationId xmlns:p14="http://schemas.microsoft.com/office/powerpoint/2010/main" val="42607731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CA505B1-2185-FE8C-6683-8010CE9CA4F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6CDFD91-1410-7EAE-CD08-F36286AAE4F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BF0B78F-B99D-2CAE-DE86-4A87A3C44CC8}"/>
              </a:ext>
            </a:extLst>
          </p:cNvPr>
          <p:cNvSpPr>
            <a:spLocks noGrp="1"/>
          </p:cNvSpPr>
          <p:nvPr>
            <p:ph type="dt" sz="half" idx="10"/>
          </p:nvPr>
        </p:nvSpPr>
        <p:spPr/>
        <p:txBody>
          <a:bodyPr/>
          <a:lstStyle/>
          <a:p>
            <a:fld id="{5FABD409-7894-914B-8B56-CBEFCA3FA783}" type="datetimeFigureOut">
              <a:rPr lang="en-US" smtClean="0"/>
              <a:t>2/13/24</a:t>
            </a:fld>
            <a:endParaRPr lang="en-US"/>
          </a:p>
        </p:txBody>
      </p:sp>
      <p:sp>
        <p:nvSpPr>
          <p:cNvPr id="5" name="Footer Placeholder 4">
            <a:extLst>
              <a:ext uri="{FF2B5EF4-FFF2-40B4-BE49-F238E27FC236}">
                <a16:creationId xmlns:a16="http://schemas.microsoft.com/office/drawing/2014/main" id="{ED420540-874A-9F7F-A083-57DC2D85D8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70CACF-7BAD-4BE5-E54B-C0344BED898D}"/>
              </a:ext>
            </a:extLst>
          </p:cNvPr>
          <p:cNvSpPr>
            <a:spLocks noGrp="1"/>
          </p:cNvSpPr>
          <p:nvPr>
            <p:ph type="sldNum" sz="quarter" idx="12"/>
          </p:nvPr>
        </p:nvSpPr>
        <p:spPr/>
        <p:txBody>
          <a:bodyPr/>
          <a:lstStyle/>
          <a:p>
            <a:fld id="{407B0DCE-EB0D-B345-B55B-5E162699D54F}" type="slidenum">
              <a:rPr lang="en-US" smtClean="0"/>
              <a:t>‹#›</a:t>
            </a:fld>
            <a:endParaRPr lang="en-US"/>
          </a:p>
        </p:txBody>
      </p:sp>
    </p:spTree>
    <p:extLst>
      <p:ext uri="{BB962C8B-B14F-4D97-AF65-F5344CB8AC3E}">
        <p14:creationId xmlns:p14="http://schemas.microsoft.com/office/powerpoint/2010/main" val="3613851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1DCD04D-E994-0BCB-BE4C-C4CC95F5087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340DE37-3E3C-A2A2-66FC-5D147A979C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DEBDE9-86C6-6702-4539-53AD87CF29B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FABD409-7894-914B-8B56-CBEFCA3FA783}" type="datetimeFigureOut">
              <a:rPr lang="en-US" smtClean="0"/>
              <a:t>2/13/24</a:t>
            </a:fld>
            <a:endParaRPr lang="en-US"/>
          </a:p>
        </p:txBody>
      </p:sp>
      <p:sp>
        <p:nvSpPr>
          <p:cNvPr id="5" name="Footer Placeholder 4">
            <a:extLst>
              <a:ext uri="{FF2B5EF4-FFF2-40B4-BE49-F238E27FC236}">
                <a16:creationId xmlns:a16="http://schemas.microsoft.com/office/drawing/2014/main" id="{980A18CB-38A8-D83F-9344-AAEEE77D9F2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50B643C-D221-1074-2881-456D09D9C54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07B0DCE-EB0D-B345-B55B-5E162699D54F}" type="slidenum">
              <a:rPr lang="en-US" smtClean="0"/>
              <a:t>‹#›</a:t>
            </a:fld>
            <a:endParaRPr lang="en-US"/>
          </a:p>
        </p:txBody>
      </p:sp>
    </p:spTree>
    <p:extLst>
      <p:ext uri="{BB962C8B-B14F-4D97-AF65-F5344CB8AC3E}">
        <p14:creationId xmlns:p14="http://schemas.microsoft.com/office/powerpoint/2010/main" val="40744748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790E4-F9DC-82AF-75ED-0A354BC07D39}"/>
              </a:ext>
            </a:extLst>
          </p:cNvPr>
          <p:cNvSpPr>
            <a:spLocks noGrp="1"/>
          </p:cNvSpPr>
          <p:nvPr>
            <p:ph type="ctrTitle"/>
          </p:nvPr>
        </p:nvSpPr>
        <p:spPr/>
        <p:txBody>
          <a:bodyPr>
            <a:normAutofit/>
          </a:bodyPr>
          <a:lstStyle/>
          <a:p>
            <a:r>
              <a:rPr lang="en-US" sz="4800" dirty="0">
                <a:solidFill>
                  <a:srgbClr val="FFC000"/>
                </a:solidFill>
              </a:rPr>
              <a:t>Pointers &amp; Dynamic Memory Allocation</a:t>
            </a:r>
          </a:p>
        </p:txBody>
      </p:sp>
      <p:sp>
        <p:nvSpPr>
          <p:cNvPr id="3" name="Subtitle 2">
            <a:extLst>
              <a:ext uri="{FF2B5EF4-FFF2-40B4-BE49-F238E27FC236}">
                <a16:creationId xmlns:a16="http://schemas.microsoft.com/office/drawing/2014/main" id="{B6DC56E5-B860-CE21-CA7A-DA4228912DE3}"/>
              </a:ext>
            </a:extLst>
          </p:cNvPr>
          <p:cNvSpPr>
            <a:spLocks noGrp="1"/>
          </p:cNvSpPr>
          <p:nvPr>
            <p:ph type="subTitle" idx="1"/>
          </p:nvPr>
        </p:nvSpPr>
        <p:spPr/>
        <p:txBody>
          <a:bodyPr/>
          <a:lstStyle/>
          <a:p>
            <a:r>
              <a:rPr lang="en-US" dirty="0">
                <a:solidFill>
                  <a:schemeClr val="bg1"/>
                </a:solidFill>
              </a:rPr>
              <a:t>Unit-02</a:t>
            </a:r>
          </a:p>
        </p:txBody>
      </p:sp>
    </p:spTree>
    <p:extLst>
      <p:ext uri="{BB962C8B-B14F-4D97-AF65-F5344CB8AC3E}">
        <p14:creationId xmlns:p14="http://schemas.microsoft.com/office/powerpoint/2010/main" val="4522913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5CE399D4-01D7-E457-F2D9-A666286AD5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62853A-AF41-E6AF-D451-C7BC81F9860E}"/>
              </a:ext>
            </a:extLst>
          </p:cNvPr>
          <p:cNvSpPr>
            <a:spLocks noGrp="1"/>
          </p:cNvSpPr>
          <p:nvPr>
            <p:ph type="ctrTitle"/>
          </p:nvPr>
        </p:nvSpPr>
        <p:spPr/>
        <p:txBody>
          <a:bodyPr>
            <a:normAutofit/>
          </a:bodyPr>
          <a:lstStyle/>
          <a:p>
            <a:r>
              <a:rPr lang="en-US" sz="4800" dirty="0">
                <a:solidFill>
                  <a:srgbClr val="FFC000"/>
                </a:solidFill>
              </a:rPr>
              <a:t>Address Operator</a:t>
            </a:r>
          </a:p>
        </p:txBody>
      </p:sp>
      <p:sp>
        <p:nvSpPr>
          <p:cNvPr id="3" name="Subtitle 2">
            <a:extLst>
              <a:ext uri="{FF2B5EF4-FFF2-40B4-BE49-F238E27FC236}">
                <a16:creationId xmlns:a16="http://schemas.microsoft.com/office/drawing/2014/main" id="{284AF2B6-36F1-E11E-A29D-81E4763385C1}"/>
              </a:ext>
            </a:extLst>
          </p:cNvPr>
          <p:cNvSpPr>
            <a:spLocks noGrp="1"/>
          </p:cNvSpPr>
          <p:nvPr>
            <p:ph type="subTitle" idx="1"/>
          </p:nvPr>
        </p:nvSpPr>
        <p:spPr/>
        <p:txBody>
          <a:bodyPr/>
          <a:lstStyle/>
          <a:p>
            <a:r>
              <a:rPr lang="en-US" dirty="0">
                <a:solidFill>
                  <a:schemeClr val="bg1"/>
                </a:solidFill>
              </a:rPr>
              <a:t>Unit-02.1</a:t>
            </a:r>
          </a:p>
        </p:txBody>
      </p:sp>
    </p:spTree>
    <p:extLst>
      <p:ext uri="{BB962C8B-B14F-4D97-AF65-F5344CB8AC3E}">
        <p14:creationId xmlns:p14="http://schemas.microsoft.com/office/powerpoint/2010/main" val="36841352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D07A1283-6304-15D9-082A-047320F85985}"/>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1BEBD548-A566-77AA-29A2-48E5957F93A3}"/>
              </a:ext>
            </a:extLst>
          </p:cNvPr>
          <p:cNvPicPr>
            <a:picLocks noChangeAspect="1"/>
          </p:cNvPicPr>
          <p:nvPr/>
        </p:nvPicPr>
        <p:blipFill>
          <a:blip r:embed="rId2"/>
          <a:stretch>
            <a:fillRect/>
          </a:stretch>
        </p:blipFill>
        <p:spPr>
          <a:xfrm>
            <a:off x="213744" y="1147672"/>
            <a:ext cx="7563320" cy="4562655"/>
          </a:xfrm>
          <a:prstGeom prst="rect">
            <a:avLst/>
          </a:prstGeom>
        </p:spPr>
      </p:pic>
      <p:pic>
        <p:nvPicPr>
          <p:cNvPr id="9" name="Picture 8">
            <a:extLst>
              <a:ext uri="{FF2B5EF4-FFF2-40B4-BE49-F238E27FC236}">
                <a16:creationId xmlns:a16="http://schemas.microsoft.com/office/drawing/2014/main" id="{E47BCF16-A579-1843-8991-DFD7314E4A5D}"/>
              </a:ext>
            </a:extLst>
          </p:cNvPr>
          <p:cNvPicPr>
            <a:picLocks noChangeAspect="1"/>
          </p:cNvPicPr>
          <p:nvPr/>
        </p:nvPicPr>
        <p:blipFill>
          <a:blip r:embed="rId3"/>
          <a:stretch>
            <a:fillRect/>
          </a:stretch>
        </p:blipFill>
        <p:spPr>
          <a:xfrm>
            <a:off x="5143260" y="4315044"/>
            <a:ext cx="6834996" cy="2284523"/>
          </a:xfrm>
          <a:prstGeom prst="rect">
            <a:avLst/>
          </a:prstGeom>
        </p:spPr>
      </p:pic>
    </p:spTree>
    <p:extLst>
      <p:ext uri="{BB962C8B-B14F-4D97-AF65-F5344CB8AC3E}">
        <p14:creationId xmlns:p14="http://schemas.microsoft.com/office/powerpoint/2010/main" val="1673982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17D86775-56B6-A2C9-F5F1-72B56AF53104}"/>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8EB88B52-E2D4-3D1E-FFA2-803F1C2A50CF}"/>
              </a:ext>
            </a:extLst>
          </p:cNvPr>
          <p:cNvPicPr>
            <a:picLocks noChangeAspect="1"/>
          </p:cNvPicPr>
          <p:nvPr/>
        </p:nvPicPr>
        <p:blipFill>
          <a:blip r:embed="rId2"/>
          <a:stretch>
            <a:fillRect/>
          </a:stretch>
        </p:blipFill>
        <p:spPr>
          <a:xfrm>
            <a:off x="221549" y="2070313"/>
            <a:ext cx="5759861" cy="3208618"/>
          </a:xfrm>
          <a:prstGeom prst="rect">
            <a:avLst/>
          </a:prstGeom>
        </p:spPr>
      </p:pic>
      <p:pic>
        <p:nvPicPr>
          <p:cNvPr id="8" name="Picture 7">
            <a:extLst>
              <a:ext uri="{FF2B5EF4-FFF2-40B4-BE49-F238E27FC236}">
                <a16:creationId xmlns:a16="http://schemas.microsoft.com/office/drawing/2014/main" id="{ECBA5636-FBC8-857C-EECD-9785D21EDBA1}"/>
              </a:ext>
            </a:extLst>
          </p:cNvPr>
          <p:cNvPicPr>
            <a:picLocks noChangeAspect="1"/>
          </p:cNvPicPr>
          <p:nvPr/>
        </p:nvPicPr>
        <p:blipFill>
          <a:blip r:embed="rId3"/>
          <a:stretch>
            <a:fillRect/>
          </a:stretch>
        </p:blipFill>
        <p:spPr>
          <a:xfrm>
            <a:off x="6215282" y="1478643"/>
            <a:ext cx="5755169" cy="3800288"/>
          </a:xfrm>
          <a:prstGeom prst="rect">
            <a:avLst/>
          </a:prstGeom>
        </p:spPr>
      </p:pic>
      <p:sp>
        <p:nvSpPr>
          <p:cNvPr id="10" name="Title 1">
            <a:extLst>
              <a:ext uri="{FF2B5EF4-FFF2-40B4-BE49-F238E27FC236}">
                <a16:creationId xmlns:a16="http://schemas.microsoft.com/office/drawing/2014/main" id="{E27EF22E-4431-5955-493B-1DB3DA670820}"/>
              </a:ext>
            </a:extLst>
          </p:cNvPr>
          <p:cNvSpPr>
            <a:spLocks noGrp="1"/>
          </p:cNvSpPr>
          <p:nvPr>
            <p:ph type="ctrTitle"/>
          </p:nvPr>
        </p:nvSpPr>
        <p:spPr>
          <a:xfrm>
            <a:off x="-781210" y="1010164"/>
            <a:ext cx="5115005" cy="936958"/>
          </a:xfrm>
        </p:spPr>
        <p:txBody>
          <a:bodyPr>
            <a:normAutofit/>
          </a:bodyPr>
          <a:lstStyle/>
          <a:p>
            <a:r>
              <a:rPr lang="en-US" sz="2400" dirty="0">
                <a:solidFill>
                  <a:srgbClr val="FFC000"/>
                </a:solidFill>
              </a:rPr>
              <a:t>Things you should know…</a:t>
            </a:r>
          </a:p>
        </p:txBody>
      </p:sp>
    </p:spTree>
    <p:extLst>
      <p:ext uri="{BB962C8B-B14F-4D97-AF65-F5344CB8AC3E}">
        <p14:creationId xmlns:p14="http://schemas.microsoft.com/office/powerpoint/2010/main" val="23727283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B81816B3-A033-25BC-0792-FF5B34CCBC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9560D4-E279-43A5-AB17-A14E768AEC1F}"/>
              </a:ext>
            </a:extLst>
          </p:cNvPr>
          <p:cNvSpPr>
            <a:spLocks noGrp="1"/>
          </p:cNvSpPr>
          <p:nvPr>
            <p:ph type="ctrTitle"/>
          </p:nvPr>
        </p:nvSpPr>
        <p:spPr/>
        <p:txBody>
          <a:bodyPr>
            <a:normAutofit/>
          </a:bodyPr>
          <a:lstStyle/>
          <a:p>
            <a:r>
              <a:rPr lang="en-US" sz="4800" dirty="0">
                <a:solidFill>
                  <a:srgbClr val="FFC000"/>
                </a:solidFill>
              </a:rPr>
              <a:t>Pointer Operator</a:t>
            </a:r>
          </a:p>
        </p:txBody>
      </p:sp>
      <p:sp>
        <p:nvSpPr>
          <p:cNvPr id="3" name="Subtitle 2">
            <a:extLst>
              <a:ext uri="{FF2B5EF4-FFF2-40B4-BE49-F238E27FC236}">
                <a16:creationId xmlns:a16="http://schemas.microsoft.com/office/drawing/2014/main" id="{B9CAFA87-D95C-179A-ED6E-05FCAB19424F}"/>
              </a:ext>
            </a:extLst>
          </p:cNvPr>
          <p:cNvSpPr>
            <a:spLocks noGrp="1"/>
          </p:cNvSpPr>
          <p:nvPr>
            <p:ph type="subTitle" idx="1"/>
          </p:nvPr>
        </p:nvSpPr>
        <p:spPr/>
        <p:txBody>
          <a:bodyPr/>
          <a:lstStyle/>
          <a:p>
            <a:r>
              <a:rPr lang="en-US" dirty="0">
                <a:solidFill>
                  <a:schemeClr val="bg1"/>
                </a:solidFill>
              </a:rPr>
              <a:t>Unit-02.2</a:t>
            </a:r>
          </a:p>
        </p:txBody>
      </p:sp>
    </p:spTree>
    <p:extLst>
      <p:ext uri="{BB962C8B-B14F-4D97-AF65-F5344CB8AC3E}">
        <p14:creationId xmlns:p14="http://schemas.microsoft.com/office/powerpoint/2010/main" val="38815056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87CBC819-041E-29D9-C042-C54FDFAF72A3}"/>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ACF71887-FA06-E959-0684-481D6111F096}"/>
              </a:ext>
            </a:extLst>
          </p:cNvPr>
          <p:cNvPicPr>
            <a:picLocks noChangeAspect="1"/>
          </p:cNvPicPr>
          <p:nvPr/>
        </p:nvPicPr>
        <p:blipFill>
          <a:blip r:embed="rId2"/>
          <a:stretch>
            <a:fillRect/>
          </a:stretch>
        </p:blipFill>
        <p:spPr>
          <a:xfrm>
            <a:off x="345017" y="1926167"/>
            <a:ext cx="3989270" cy="2230966"/>
          </a:xfrm>
          <a:prstGeom prst="rect">
            <a:avLst/>
          </a:prstGeom>
        </p:spPr>
      </p:pic>
      <p:pic>
        <p:nvPicPr>
          <p:cNvPr id="9" name="Picture 8">
            <a:extLst>
              <a:ext uri="{FF2B5EF4-FFF2-40B4-BE49-F238E27FC236}">
                <a16:creationId xmlns:a16="http://schemas.microsoft.com/office/drawing/2014/main" id="{E513B162-0E28-2048-1B3B-506541F4A006}"/>
              </a:ext>
            </a:extLst>
          </p:cNvPr>
          <p:cNvPicPr>
            <a:picLocks noChangeAspect="1"/>
          </p:cNvPicPr>
          <p:nvPr/>
        </p:nvPicPr>
        <p:blipFill>
          <a:blip r:embed="rId3"/>
          <a:stretch>
            <a:fillRect/>
          </a:stretch>
        </p:blipFill>
        <p:spPr>
          <a:xfrm>
            <a:off x="7787216" y="1926167"/>
            <a:ext cx="3989268" cy="2230965"/>
          </a:xfrm>
          <a:prstGeom prst="rect">
            <a:avLst/>
          </a:prstGeom>
        </p:spPr>
      </p:pic>
      <p:sp>
        <p:nvSpPr>
          <p:cNvPr id="12" name="TextBox 11">
            <a:extLst>
              <a:ext uri="{FF2B5EF4-FFF2-40B4-BE49-F238E27FC236}">
                <a16:creationId xmlns:a16="http://schemas.microsoft.com/office/drawing/2014/main" id="{284DCDF6-2BFA-24A2-7F1F-BF3FB3629BE2}"/>
              </a:ext>
            </a:extLst>
          </p:cNvPr>
          <p:cNvSpPr txBox="1"/>
          <p:nvPr/>
        </p:nvSpPr>
        <p:spPr>
          <a:xfrm>
            <a:off x="4583318" y="2856983"/>
            <a:ext cx="2954867" cy="646331"/>
          </a:xfrm>
          <a:prstGeom prst="rect">
            <a:avLst/>
          </a:prstGeom>
          <a:noFill/>
        </p:spPr>
        <p:txBody>
          <a:bodyPr wrap="square">
            <a:spAutoFit/>
          </a:bodyPr>
          <a:lstStyle/>
          <a:p>
            <a:pPr algn="ctr"/>
            <a:r>
              <a:rPr lang="en-US" sz="1800" dirty="0">
                <a:solidFill>
                  <a:srgbClr val="FFC000"/>
                </a:solidFill>
              </a:rPr>
              <a:t>Let’s Compare These Two Blocks of Codes</a:t>
            </a:r>
            <a:endParaRPr lang="en-US" dirty="0"/>
          </a:p>
        </p:txBody>
      </p:sp>
    </p:spTree>
    <p:extLst>
      <p:ext uri="{BB962C8B-B14F-4D97-AF65-F5344CB8AC3E}">
        <p14:creationId xmlns:p14="http://schemas.microsoft.com/office/powerpoint/2010/main" val="2171059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D04AA5BD-599A-ECB9-0543-0CCA8DF3B860}"/>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67A1D56A-2FF6-2969-3CA6-DCDA2566C264}"/>
              </a:ext>
            </a:extLst>
          </p:cNvPr>
          <p:cNvPicPr>
            <a:picLocks noChangeAspect="1"/>
          </p:cNvPicPr>
          <p:nvPr/>
        </p:nvPicPr>
        <p:blipFill>
          <a:blip r:embed="rId2"/>
          <a:stretch>
            <a:fillRect/>
          </a:stretch>
        </p:blipFill>
        <p:spPr>
          <a:xfrm>
            <a:off x="345017" y="1926167"/>
            <a:ext cx="3989270" cy="2230966"/>
          </a:xfrm>
          <a:prstGeom prst="rect">
            <a:avLst/>
          </a:prstGeom>
        </p:spPr>
      </p:pic>
      <p:pic>
        <p:nvPicPr>
          <p:cNvPr id="9" name="Picture 8">
            <a:extLst>
              <a:ext uri="{FF2B5EF4-FFF2-40B4-BE49-F238E27FC236}">
                <a16:creationId xmlns:a16="http://schemas.microsoft.com/office/drawing/2014/main" id="{D9DE22C3-7759-C1CF-2357-808C53930EB9}"/>
              </a:ext>
            </a:extLst>
          </p:cNvPr>
          <p:cNvPicPr>
            <a:picLocks noChangeAspect="1"/>
          </p:cNvPicPr>
          <p:nvPr/>
        </p:nvPicPr>
        <p:blipFill>
          <a:blip r:embed="rId3"/>
          <a:stretch>
            <a:fillRect/>
          </a:stretch>
        </p:blipFill>
        <p:spPr>
          <a:xfrm>
            <a:off x="7787216" y="1926167"/>
            <a:ext cx="3989268" cy="2230965"/>
          </a:xfrm>
          <a:prstGeom prst="rect">
            <a:avLst/>
          </a:prstGeom>
        </p:spPr>
      </p:pic>
      <p:sp>
        <p:nvSpPr>
          <p:cNvPr id="12" name="TextBox 11">
            <a:extLst>
              <a:ext uri="{FF2B5EF4-FFF2-40B4-BE49-F238E27FC236}">
                <a16:creationId xmlns:a16="http://schemas.microsoft.com/office/drawing/2014/main" id="{A383A4A0-89E2-C0E0-64CE-C5742D08579D}"/>
              </a:ext>
            </a:extLst>
          </p:cNvPr>
          <p:cNvSpPr txBox="1"/>
          <p:nvPr/>
        </p:nvSpPr>
        <p:spPr>
          <a:xfrm>
            <a:off x="4618566" y="537117"/>
            <a:ext cx="2954867" cy="369332"/>
          </a:xfrm>
          <a:prstGeom prst="rect">
            <a:avLst/>
          </a:prstGeom>
          <a:noFill/>
        </p:spPr>
        <p:txBody>
          <a:bodyPr wrap="square">
            <a:spAutoFit/>
          </a:bodyPr>
          <a:lstStyle/>
          <a:p>
            <a:pPr algn="ctr"/>
            <a:r>
              <a:rPr lang="en-US" sz="1800" dirty="0">
                <a:solidFill>
                  <a:srgbClr val="FFC000"/>
                </a:solidFill>
              </a:rPr>
              <a:t>What is different here?</a:t>
            </a:r>
            <a:endParaRPr lang="en-US" dirty="0"/>
          </a:p>
        </p:txBody>
      </p:sp>
      <p:pic>
        <p:nvPicPr>
          <p:cNvPr id="2" name="Picture 1">
            <a:extLst>
              <a:ext uri="{FF2B5EF4-FFF2-40B4-BE49-F238E27FC236}">
                <a16:creationId xmlns:a16="http://schemas.microsoft.com/office/drawing/2014/main" id="{6BEBBD47-04E3-1FD9-879A-5E263E4DEF56}"/>
              </a:ext>
            </a:extLst>
          </p:cNvPr>
          <p:cNvPicPr>
            <a:picLocks noChangeAspect="1"/>
          </p:cNvPicPr>
          <p:nvPr/>
        </p:nvPicPr>
        <p:blipFill>
          <a:blip r:embed="rId4"/>
          <a:stretch>
            <a:fillRect/>
          </a:stretch>
        </p:blipFill>
        <p:spPr>
          <a:xfrm>
            <a:off x="4334287" y="2435252"/>
            <a:ext cx="2585324" cy="369332"/>
          </a:xfrm>
          <a:prstGeom prst="rect">
            <a:avLst/>
          </a:prstGeom>
        </p:spPr>
      </p:pic>
      <p:pic>
        <p:nvPicPr>
          <p:cNvPr id="3" name="Picture 2">
            <a:extLst>
              <a:ext uri="{FF2B5EF4-FFF2-40B4-BE49-F238E27FC236}">
                <a16:creationId xmlns:a16="http://schemas.microsoft.com/office/drawing/2014/main" id="{569DE0F7-A19D-1D29-94BB-549E57DE09A7}"/>
              </a:ext>
            </a:extLst>
          </p:cNvPr>
          <p:cNvPicPr>
            <a:picLocks noChangeAspect="1"/>
          </p:cNvPicPr>
          <p:nvPr/>
        </p:nvPicPr>
        <p:blipFill>
          <a:blip r:embed="rId5"/>
          <a:stretch>
            <a:fillRect/>
          </a:stretch>
        </p:blipFill>
        <p:spPr>
          <a:xfrm>
            <a:off x="5272398" y="3429000"/>
            <a:ext cx="2585317" cy="369331"/>
          </a:xfrm>
          <a:prstGeom prst="rect">
            <a:avLst/>
          </a:prstGeom>
        </p:spPr>
      </p:pic>
      <p:sp>
        <p:nvSpPr>
          <p:cNvPr id="4" name="Rounded Rectangle 3">
            <a:extLst>
              <a:ext uri="{FF2B5EF4-FFF2-40B4-BE49-F238E27FC236}">
                <a16:creationId xmlns:a16="http://schemas.microsoft.com/office/drawing/2014/main" id="{9CC7ADE6-871B-FC2E-2C5E-6EBFBCD12D26}"/>
              </a:ext>
            </a:extLst>
          </p:cNvPr>
          <p:cNvSpPr/>
          <p:nvPr/>
        </p:nvSpPr>
        <p:spPr>
          <a:xfrm>
            <a:off x="8318500" y="2935816"/>
            <a:ext cx="2301045" cy="211666"/>
          </a:xfrm>
          <a:prstGeom prst="round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4">
            <a:extLst>
              <a:ext uri="{FF2B5EF4-FFF2-40B4-BE49-F238E27FC236}">
                <a16:creationId xmlns:a16="http://schemas.microsoft.com/office/drawing/2014/main" id="{D61E83B8-1212-E6D9-D4F0-638D0D919C2A}"/>
              </a:ext>
            </a:extLst>
          </p:cNvPr>
          <p:cNvSpPr/>
          <p:nvPr/>
        </p:nvSpPr>
        <p:spPr>
          <a:xfrm>
            <a:off x="867832" y="2935816"/>
            <a:ext cx="2301045" cy="211666"/>
          </a:xfrm>
          <a:prstGeom prst="round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386B48DE-85E7-C196-2A59-7847DD75C2B6}"/>
              </a:ext>
            </a:extLst>
          </p:cNvPr>
          <p:cNvSpPr txBox="1"/>
          <p:nvPr/>
        </p:nvSpPr>
        <p:spPr>
          <a:xfrm>
            <a:off x="4583318" y="2806701"/>
            <a:ext cx="2954867" cy="646331"/>
          </a:xfrm>
          <a:prstGeom prst="rect">
            <a:avLst/>
          </a:prstGeom>
          <a:noFill/>
        </p:spPr>
        <p:txBody>
          <a:bodyPr wrap="square">
            <a:spAutoFit/>
          </a:bodyPr>
          <a:lstStyle/>
          <a:p>
            <a:pPr algn="ctr"/>
            <a:r>
              <a:rPr lang="en-US" sz="1800" dirty="0">
                <a:solidFill>
                  <a:srgbClr val="FFC000"/>
                </a:solidFill>
              </a:rPr>
              <a:t>Well, this is how you define. Both ways are right.</a:t>
            </a:r>
            <a:endParaRPr lang="en-US" dirty="0"/>
          </a:p>
        </p:txBody>
      </p:sp>
      <p:sp>
        <p:nvSpPr>
          <p:cNvPr id="7" name="TextBox 6">
            <a:extLst>
              <a:ext uri="{FF2B5EF4-FFF2-40B4-BE49-F238E27FC236}">
                <a16:creationId xmlns:a16="http://schemas.microsoft.com/office/drawing/2014/main" id="{7529EA5E-00D7-B1C5-D869-FD53718A8F0E}"/>
              </a:ext>
            </a:extLst>
          </p:cNvPr>
          <p:cNvSpPr txBox="1"/>
          <p:nvPr/>
        </p:nvSpPr>
        <p:spPr>
          <a:xfrm>
            <a:off x="3383014" y="4562550"/>
            <a:ext cx="6364083" cy="2246769"/>
          </a:xfrm>
          <a:prstGeom prst="rect">
            <a:avLst/>
          </a:prstGeom>
          <a:noFill/>
        </p:spPr>
        <p:txBody>
          <a:bodyPr wrap="square">
            <a:spAutoFit/>
          </a:bodyPr>
          <a:lstStyle/>
          <a:p>
            <a:r>
              <a:rPr lang="en-US" sz="1800" dirty="0">
                <a:solidFill>
                  <a:srgbClr val="FFC000"/>
                </a:solidFill>
              </a:rPr>
              <a:t>What is happening here?</a:t>
            </a:r>
          </a:p>
          <a:p>
            <a:pPr marL="285750" indent="-285750">
              <a:buFont typeface="Arial" panose="020B0604020202020204" pitchFamily="34" charset="0"/>
              <a:buChar char="•"/>
            </a:pPr>
            <a:r>
              <a:rPr lang="en-US" sz="1600" dirty="0">
                <a:solidFill>
                  <a:schemeClr val="accent4">
                    <a:lumMod val="60000"/>
                    <a:lumOff val="40000"/>
                  </a:schemeClr>
                </a:solidFill>
              </a:rPr>
              <a:t>int* is a type here, we call it an integer-pointer</a:t>
            </a:r>
          </a:p>
          <a:p>
            <a:pPr marL="285750" indent="-285750">
              <a:buFont typeface="Arial" panose="020B0604020202020204" pitchFamily="34" charset="0"/>
              <a:buChar char="•"/>
            </a:pPr>
            <a:r>
              <a:rPr lang="en-US" sz="1600" dirty="0">
                <a:solidFill>
                  <a:schemeClr val="accent4">
                    <a:lumMod val="60000"/>
                    <a:lumOff val="40000"/>
                  </a:schemeClr>
                </a:solidFill>
              </a:rPr>
              <a:t>We see that the value of </a:t>
            </a:r>
            <a:r>
              <a:rPr lang="en-US" sz="1600" dirty="0">
                <a:solidFill>
                  <a:schemeClr val="accent5">
                    <a:lumMod val="60000"/>
                    <a:lumOff val="40000"/>
                  </a:schemeClr>
                </a:solidFill>
              </a:rPr>
              <a:t>‘a’</a:t>
            </a:r>
            <a:r>
              <a:rPr lang="en-US" sz="1600" dirty="0">
                <a:solidFill>
                  <a:schemeClr val="accent4">
                    <a:lumMod val="60000"/>
                    <a:lumOff val="40000"/>
                  </a:schemeClr>
                </a:solidFill>
              </a:rPr>
              <a:t> holds the </a:t>
            </a:r>
            <a:r>
              <a:rPr lang="en-US" sz="1600" b="1" dirty="0">
                <a:solidFill>
                  <a:schemeClr val="accent5">
                    <a:lumMod val="60000"/>
                    <a:lumOff val="40000"/>
                  </a:schemeClr>
                </a:solidFill>
              </a:rPr>
              <a:t>‘address of b’</a:t>
            </a:r>
            <a:r>
              <a:rPr lang="en-US" sz="1600" dirty="0">
                <a:solidFill>
                  <a:schemeClr val="accent4">
                    <a:lumMod val="60000"/>
                    <a:lumOff val="40000"/>
                  </a:schemeClr>
                </a:solidFill>
              </a:rPr>
              <a:t> which is </a:t>
            </a:r>
            <a:r>
              <a:rPr lang="en-US" sz="1600" dirty="0">
                <a:solidFill>
                  <a:schemeClr val="accent5">
                    <a:lumMod val="60000"/>
                    <a:lumOff val="40000"/>
                  </a:schemeClr>
                </a:solidFill>
              </a:rPr>
              <a:t>‘&amp;b’</a:t>
            </a:r>
          </a:p>
          <a:p>
            <a:pPr marL="285750" indent="-285750">
              <a:buFont typeface="Arial" panose="020B0604020202020204" pitchFamily="34" charset="0"/>
              <a:buChar char="•"/>
            </a:pPr>
            <a:r>
              <a:rPr lang="en-US" dirty="0">
                <a:solidFill>
                  <a:schemeClr val="accent4">
                    <a:lumMod val="60000"/>
                    <a:lumOff val="40000"/>
                  </a:schemeClr>
                </a:solidFill>
              </a:rPr>
              <a:t>Recommendation: Use </a:t>
            </a:r>
            <a:r>
              <a:rPr lang="en-US" dirty="0">
                <a:solidFill>
                  <a:schemeClr val="accent5">
                    <a:lumMod val="60000"/>
                    <a:lumOff val="40000"/>
                  </a:schemeClr>
                </a:solidFill>
              </a:rPr>
              <a:t>int* a = &amp;b;</a:t>
            </a:r>
            <a:r>
              <a:rPr lang="en-US" dirty="0">
                <a:solidFill>
                  <a:schemeClr val="accent4">
                    <a:lumMod val="60000"/>
                    <a:lumOff val="40000"/>
                  </a:schemeClr>
                </a:solidFill>
              </a:rPr>
              <a:t> instead of using </a:t>
            </a:r>
            <a:r>
              <a:rPr lang="en-US" dirty="0">
                <a:solidFill>
                  <a:schemeClr val="accent5">
                    <a:lumMod val="60000"/>
                    <a:lumOff val="40000"/>
                  </a:schemeClr>
                </a:solidFill>
              </a:rPr>
              <a:t>int *a = &amp;b; </a:t>
            </a:r>
            <a:r>
              <a:rPr lang="en-US" dirty="0">
                <a:solidFill>
                  <a:schemeClr val="accent4">
                    <a:lumMod val="60000"/>
                    <a:lumOff val="40000"/>
                  </a:schemeClr>
                </a:solidFill>
              </a:rPr>
              <a:t>Here semantics can be helpful, e.g., the first one you can read ‘a’ as int* type, while the later one most of the beginners get confused and read it as ‘*a’ as int</a:t>
            </a:r>
            <a:endParaRPr lang="en-US" dirty="0">
              <a:solidFill>
                <a:schemeClr val="accent5">
                  <a:lumMod val="60000"/>
                  <a:lumOff val="40000"/>
                </a:schemeClr>
              </a:solidFill>
            </a:endParaRPr>
          </a:p>
          <a:p>
            <a:pPr marL="285750" indent="-285750">
              <a:buFont typeface="Arial" panose="020B0604020202020204" pitchFamily="34" charset="0"/>
              <a:buChar char="•"/>
            </a:pPr>
            <a:endParaRPr lang="en-US" dirty="0">
              <a:solidFill>
                <a:schemeClr val="accent4">
                  <a:lumMod val="60000"/>
                  <a:lumOff val="40000"/>
                </a:schemeClr>
              </a:solidFill>
            </a:endParaRPr>
          </a:p>
        </p:txBody>
      </p:sp>
    </p:spTree>
    <p:extLst>
      <p:ext uri="{BB962C8B-B14F-4D97-AF65-F5344CB8AC3E}">
        <p14:creationId xmlns:p14="http://schemas.microsoft.com/office/powerpoint/2010/main" val="41550936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1E19DCD8-2A31-4188-3B42-8EECEB40329C}"/>
            </a:ext>
          </a:extLst>
        </p:cNvPr>
        <p:cNvGrpSpPr/>
        <p:nvPr/>
      </p:nvGrpSpPr>
      <p:grpSpPr>
        <a:xfrm>
          <a:off x="0" y="0"/>
          <a:ext cx="0" cy="0"/>
          <a:chOff x="0" y="0"/>
          <a:chExt cx="0" cy="0"/>
        </a:xfrm>
      </p:grpSpPr>
      <p:sp>
        <p:nvSpPr>
          <p:cNvPr id="12" name="TextBox 11">
            <a:extLst>
              <a:ext uri="{FF2B5EF4-FFF2-40B4-BE49-F238E27FC236}">
                <a16:creationId xmlns:a16="http://schemas.microsoft.com/office/drawing/2014/main" id="{1828AA56-DEA3-E08F-9467-A3A4AAF42C53}"/>
              </a:ext>
            </a:extLst>
          </p:cNvPr>
          <p:cNvSpPr txBox="1"/>
          <p:nvPr/>
        </p:nvSpPr>
        <p:spPr>
          <a:xfrm>
            <a:off x="4618566" y="1383784"/>
            <a:ext cx="2954867" cy="646331"/>
          </a:xfrm>
          <a:prstGeom prst="rect">
            <a:avLst/>
          </a:prstGeom>
          <a:noFill/>
        </p:spPr>
        <p:txBody>
          <a:bodyPr wrap="square">
            <a:spAutoFit/>
          </a:bodyPr>
          <a:lstStyle/>
          <a:p>
            <a:pPr algn="ctr"/>
            <a:r>
              <a:rPr lang="en-US" sz="1800" dirty="0">
                <a:solidFill>
                  <a:srgbClr val="FFC000"/>
                </a:solidFill>
              </a:rPr>
              <a:t>Do you know why this will fail?</a:t>
            </a:r>
            <a:endParaRPr lang="en-US" dirty="0"/>
          </a:p>
        </p:txBody>
      </p:sp>
      <p:pic>
        <p:nvPicPr>
          <p:cNvPr id="10" name="Picture 9">
            <a:extLst>
              <a:ext uri="{FF2B5EF4-FFF2-40B4-BE49-F238E27FC236}">
                <a16:creationId xmlns:a16="http://schemas.microsoft.com/office/drawing/2014/main" id="{8FE0FD85-5ED7-5B2B-1025-DB6A201F510A}"/>
              </a:ext>
            </a:extLst>
          </p:cNvPr>
          <p:cNvPicPr>
            <a:picLocks noChangeAspect="1"/>
          </p:cNvPicPr>
          <p:nvPr/>
        </p:nvPicPr>
        <p:blipFill>
          <a:blip r:embed="rId2"/>
          <a:stretch>
            <a:fillRect/>
          </a:stretch>
        </p:blipFill>
        <p:spPr>
          <a:xfrm>
            <a:off x="2579398" y="2364315"/>
            <a:ext cx="7033202" cy="3858683"/>
          </a:xfrm>
          <a:prstGeom prst="rect">
            <a:avLst/>
          </a:prstGeom>
        </p:spPr>
      </p:pic>
    </p:spTree>
    <p:extLst>
      <p:ext uri="{BB962C8B-B14F-4D97-AF65-F5344CB8AC3E}">
        <p14:creationId xmlns:p14="http://schemas.microsoft.com/office/powerpoint/2010/main" val="41555302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BAB1987D-744F-324B-31F1-582FA0E76C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5131D4-ADE5-9D4C-4045-74A0061817A4}"/>
              </a:ext>
            </a:extLst>
          </p:cNvPr>
          <p:cNvSpPr>
            <a:spLocks noGrp="1"/>
          </p:cNvSpPr>
          <p:nvPr>
            <p:ph type="ctrTitle"/>
          </p:nvPr>
        </p:nvSpPr>
        <p:spPr/>
        <p:txBody>
          <a:bodyPr>
            <a:normAutofit/>
          </a:bodyPr>
          <a:lstStyle/>
          <a:p>
            <a:r>
              <a:rPr lang="en-US" sz="4800" dirty="0">
                <a:solidFill>
                  <a:srgbClr val="FFC000"/>
                </a:solidFill>
              </a:rPr>
              <a:t>* as address resolution Operator</a:t>
            </a:r>
          </a:p>
        </p:txBody>
      </p:sp>
      <p:sp>
        <p:nvSpPr>
          <p:cNvPr id="3" name="Subtitle 2">
            <a:extLst>
              <a:ext uri="{FF2B5EF4-FFF2-40B4-BE49-F238E27FC236}">
                <a16:creationId xmlns:a16="http://schemas.microsoft.com/office/drawing/2014/main" id="{62BCBA59-33A0-10B2-2FD5-893927BC543D}"/>
              </a:ext>
            </a:extLst>
          </p:cNvPr>
          <p:cNvSpPr>
            <a:spLocks noGrp="1"/>
          </p:cNvSpPr>
          <p:nvPr>
            <p:ph type="subTitle" idx="1"/>
          </p:nvPr>
        </p:nvSpPr>
        <p:spPr/>
        <p:txBody>
          <a:bodyPr/>
          <a:lstStyle/>
          <a:p>
            <a:r>
              <a:rPr lang="en-US" dirty="0">
                <a:solidFill>
                  <a:schemeClr val="bg1"/>
                </a:solidFill>
              </a:rPr>
              <a:t>Unit-02.3</a:t>
            </a:r>
          </a:p>
        </p:txBody>
      </p:sp>
    </p:spTree>
    <p:extLst>
      <p:ext uri="{BB962C8B-B14F-4D97-AF65-F5344CB8AC3E}">
        <p14:creationId xmlns:p14="http://schemas.microsoft.com/office/powerpoint/2010/main" val="11759171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9CD8CB1B-9864-CFD1-635B-3B001981B607}"/>
            </a:ext>
          </a:extLst>
        </p:cNvPr>
        <p:cNvGrpSpPr/>
        <p:nvPr/>
      </p:nvGrpSpPr>
      <p:grpSpPr>
        <a:xfrm>
          <a:off x="0" y="0"/>
          <a:ext cx="0" cy="0"/>
          <a:chOff x="0" y="0"/>
          <a:chExt cx="0" cy="0"/>
        </a:xfrm>
      </p:grpSpPr>
      <p:sp>
        <p:nvSpPr>
          <p:cNvPr id="12" name="TextBox 11">
            <a:extLst>
              <a:ext uri="{FF2B5EF4-FFF2-40B4-BE49-F238E27FC236}">
                <a16:creationId xmlns:a16="http://schemas.microsoft.com/office/drawing/2014/main" id="{29746F98-8434-EE94-4A87-67F8133DAFA8}"/>
              </a:ext>
            </a:extLst>
          </p:cNvPr>
          <p:cNvSpPr txBox="1"/>
          <p:nvPr/>
        </p:nvSpPr>
        <p:spPr>
          <a:xfrm>
            <a:off x="4618566" y="1764888"/>
            <a:ext cx="2954867" cy="646331"/>
          </a:xfrm>
          <a:prstGeom prst="rect">
            <a:avLst/>
          </a:prstGeom>
          <a:noFill/>
        </p:spPr>
        <p:txBody>
          <a:bodyPr wrap="square">
            <a:spAutoFit/>
          </a:bodyPr>
          <a:lstStyle/>
          <a:p>
            <a:pPr algn="ctr"/>
            <a:r>
              <a:rPr lang="en-US" sz="1800" dirty="0">
                <a:solidFill>
                  <a:srgbClr val="FFC000"/>
                </a:solidFill>
              </a:rPr>
              <a:t>Something is happening in line-8</a:t>
            </a:r>
            <a:endParaRPr lang="en-US" dirty="0"/>
          </a:p>
        </p:txBody>
      </p:sp>
      <p:pic>
        <p:nvPicPr>
          <p:cNvPr id="3" name="Picture 2">
            <a:extLst>
              <a:ext uri="{FF2B5EF4-FFF2-40B4-BE49-F238E27FC236}">
                <a16:creationId xmlns:a16="http://schemas.microsoft.com/office/drawing/2014/main" id="{DB48D7B4-6694-9D1C-AFE7-A0AA3F7E386E}"/>
              </a:ext>
            </a:extLst>
          </p:cNvPr>
          <p:cNvPicPr>
            <a:picLocks noChangeAspect="1"/>
          </p:cNvPicPr>
          <p:nvPr/>
        </p:nvPicPr>
        <p:blipFill>
          <a:blip r:embed="rId2"/>
          <a:srcRect/>
          <a:stretch/>
        </p:blipFill>
        <p:spPr>
          <a:xfrm>
            <a:off x="2492142" y="2406612"/>
            <a:ext cx="7207716" cy="2955973"/>
          </a:xfrm>
          <a:prstGeom prst="rect">
            <a:avLst/>
          </a:prstGeom>
        </p:spPr>
      </p:pic>
      <p:sp>
        <p:nvSpPr>
          <p:cNvPr id="4" name="Rectangular Callout 3">
            <a:extLst>
              <a:ext uri="{FF2B5EF4-FFF2-40B4-BE49-F238E27FC236}">
                <a16:creationId xmlns:a16="http://schemas.microsoft.com/office/drawing/2014/main" id="{330374BB-660F-7A68-FA5B-5EAB903C32D6}"/>
              </a:ext>
            </a:extLst>
          </p:cNvPr>
          <p:cNvSpPr/>
          <p:nvPr/>
        </p:nvSpPr>
        <p:spPr>
          <a:xfrm rot="5400000" flipH="1">
            <a:off x="6544733" y="1532466"/>
            <a:ext cx="1735665" cy="4309533"/>
          </a:xfrm>
          <a:prstGeom prst="wedgeRectCallout">
            <a:avLst>
              <a:gd name="adj1" fmla="val -40484"/>
              <a:gd name="adj2" fmla="val 6994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6DBA219E-CD53-8618-14B3-971D05E65EF2}"/>
              </a:ext>
            </a:extLst>
          </p:cNvPr>
          <p:cNvSpPr txBox="1"/>
          <p:nvPr/>
        </p:nvSpPr>
        <p:spPr>
          <a:xfrm>
            <a:off x="5935131" y="2994734"/>
            <a:ext cx="2954867" cy="1384995"/>
          </a:xfrm>
          <a:prstGeom prst="rect">
            <a:avLst/>
          </a:prstGeom>
          <a:noFill/>
        </p:spPr>
        <p:txBody>
          <a:bodyPr wrap="square">
            <a:spAutoFit/>
          </a:bodyPr>
          <a:lstStyle/>
          <a:p>
            <a:pPr algn="ctr"/>
            <a:r>
              <a:rPr lang="en-US" sz="1400" dirty="0">
                <a:solidFill>
                  <a:srgbClr val="FFC000"/>
                </a:solidFill>
              </a:rPr>
              <a:t>So why? *c = 23, why not c = 23; We now know the answer. *c resolves the address to value, the value resolved is int, so you can basically use int i.e., 23 to replace whatever pointer ‘c’ points to</a:t>
            </a:r>
            <a:endParaRPr lang="en-US" sz="1400" dirty="0"/>
          </a:p>
        </p:txBody>
      </p:sp>
    </p:spTree>
    <p:extLst>
      <p:ext uri="{BB962C8B-B14F-4D97-AF65-F5344CB8AC3E}">
        <p14:creationId xmlns:p14="http://schemas.microsoft.com/office/powerpoint/2010/main" val="38225718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22DD4966-B93E-54CC-DDC3-4C216FE895A7}"/>
            </a:ext>
          </a:extLst>
        </p:cNvPr>
        <p:cNvGrpSpPr/>
        <p:nvPr/>
      </p:nvGrpSpPr>
      <p:grpSpPr>
        <a:xfrm>
          <a:off x="0" y="0"/>
          <a:ext cx="0" cy="0"/>
          <a:chOff x="0" y="0"/>
          <a:chExt cx="0" cy="0"/>
        </a:xfrm>
      </p:grpSpPr>
      <p:sp>
        <p:nvSpPr>
          <p:cNvPr id="12" name="TextBox 11">
            <a:extLst>
              <a:ext uri="{FF2B5EF4-FFF2-40B4-BE49-F238E27FC236}">
                <a16:creationId xmlns:a16="http://schemas.microsoft.com/office/drawing/2014/main" id="{C3FEA973-D2B0-781D-299A-4526CFF53632}"/>
              </a:ext>
            </a:extLst>
          </p:cNvPr>
          <p:cNvSpPr txBox="1"/>
          <p:nvPr/>
        </p:nvSpPr>
        <p:spPr>
          <a:xfrm>
            <a:off x="4618566" y="1764888"/>
            <a:ext cx="2954867" cy="646331"/>
          </a:xfrm>
          <a:prstGeom prst="rect">
            <a:avLst/>
          </a:prstGeom>
          <a:noFill/>
        </p:spPr>
        <p:txBody>
          <a:bodyPr wrap="square">
            <a:spAutoFit/>
          </a:bodyPr>
          <a:lstStyle/>
          <a:p>
            <a:pPr algn="ctr"/>
            <a:r>
              <a:rPr lang="en-US" sz="1800" dirty="0">
                <a:solidFill>
                  <a:srgbClr val="FFC000"/>
                </a:solidFill>
              </a:rPr>
              <a:t>What do you think will be the output of line 9?</a:t>
            </a:r>
            <a:endParaRPr lang="en-US" dirty="0"/>
          </a:p>
        </p:txBody>
      </p:sp>
      <p:pic>
        <p:nvPicPr>
          <p:cNvPr id="3" name="Picture 2">
            <a:extLst>
              <a:ext uri="{FF2B5EF4-FFF2-40B4-BE49-F238E27FC236}">
                <a16:creationId xmlns:a16="http://schemas.microsoft.com/office/drawing/2014/main" id="{7372C551-48CF-2683-4FCB-DCE8C61C4DB2}"/>
              </a:ext>
            </a:extLst>
          </p:cNvPr>
          <p:cNvPicPr>
            <a:picLocks noChangeAspect="1"/>
          </p:cNvPicPr>
          <p:nvPr/>
        </p:nvPicPr>
        <p:blipFill>
          <a:blip r:embed="rId2"/>
          <a:srcRect/>
          <a:stretch/>
        </p:blipFill>
        <p:spPr>
          <a:xfrm>
            <a:off x="2492142" y="2406612"/>
            <a:ext cx="7207716" cy="2955973"/>
          </a:xfrm>
          <a:prstGeom prst="rect">
            <a:avLst/>
          </a:prstGeom>
        </p:spPr>
      </p:pic>
    </p:spTree>
    <p:extLst>
      <p:ext uri="{BB962C8B-B14F-4D97-AF65-F5344CB8AC3E}">
        <p14:creationId xmlns:p14="http://schemas.microsoft.com/office/powerpoint/2010/main" val="27638519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E7BDCE95-44C9-826B-C582-51652A913AC6}"/>
            </a:ext>
          </a:extLst>
        </p:cNvPr>
        <p:cNvGrpSpPr/>
        <p:nvPr/>
      </p:nvGrpSpPr>
      <p:grpSpPr>
        <a:xfrm>
          <a:off x="0" y="0"/>
          <a:ext cx="0" cy="0"/>
          <a:chOff x="0" y="0"/>
          <a:chExt cx="0" cy="0"/>
        </a:xfrm>
      </p:grpSpPr>
      <p:sp>
        <p:nvSpPr>
          <p:cNvPr id="12" name="TextBox 11">
            <a:extLst>
              <a:ext uri="{FF2B5EF4-FFF2-40B4-BE49-F238E27FC236}">
                <a16:creationId xmlns:a16="http://schemas.microsoft.com/office/drawing/2014/main" id="{3150B595-4BFC-5314-C876-ADAB95061C61}"/>
              </a:ext>
            </a:extLst>
          </p:cNvPr>
          <p:cNvSpPr txBox="1"/>
          <p:nvPr/>
        </p:nvSpPr>
        <p:spPr>
          <a:xfrm>
            <a:off x="4618566" y="723488"/>
            <a:ext cx="2954867" cy="646331"/>
          </a:xfrm>
          <a:prstGeom prst="rect">
            <a:avLst/>
          </a:prstGeom>
          <a:noFill/>
        </p:spPr>
        <p:txBody>
          <a:bodyPr wrap="square">
            <a:spAutoFit/>
          </a:bodyPr>
          <a:lstStyle/>
          <a:p>
            <a:pPr algn="ctr"/>
            <a:r>
              <a:rPr lang="en-US" sz="1800" dirty="0">
                <a:solidFill>
                  <a:srgbClr val="FFC000"/>
                </a:solidFill>
              </a:rPr>
              <a:t>What do you think will be the </a:t>
            </a:r>
            <a:r>
              <a:rPr lang="en-US" dirty="0">
                <a:solidFill>
                  <a:srgbClr val="FFC000"/>
                </a:solidFill>
              </a:rPr>
              <a:t>last value of  will be</a:t>
            </a:r>
            <a:r>
              <a:rPr lang="en-US" sz="1800" dirty="0">
                <a:solidFill>
                  <a:srgbClr val="FFC000"/>
                </a:solidFill>
              </a:rPr>
              <a:t>?</a:t>
            </a:r>
            <a:endParaRPr lang="en-US" dirty="0"/>
          </a:p>
        </p:txBody>
      </p:sp>
      <p:pic>
        <p:nvPicPr>
          <p:cNvPr id="5" name="Picture 4">
            <a:extLst>
              <a:ext uri="{FF2B5EF4-FFF2-40B4-BE49-F238E27FC236}">
                <a16:creationId xmlns:a16="http://schemas.microsoft.com/office/drawing/2014/main" id="{18A66B21-0D50-E273-6DE6-48B27979BEF3}"/>
              </a:ext>
            </a:extLst>
          </p:cNvPr>
          <p:cNvPicPr>
            <a:picLocks noChangeAspect="1"/>
          </p:cNvPicPr>
          <p:nvPr/>
        </p:nvPicPr>
        <p:blipFill>
          <a:blip r:embed="rId2"/>
          <a:srcRect/>
          <a:stretch/>
        </p:blipFill>
        <p:spPr>
          <a:xfrm>
            <a:off x="2218267" y="1597272"/>
            <a:ext cx="7755466" cy="4765928"/>
          </a:xfrm>
          <a:prstGeom prst="rect">
            <a:avLst/>
          </a:prstGeom>
        </p:spPr>
      </p:pic>
      <p:pic>
        <p:nvPicPr>
          <p:cNvPr id="6" name="Picture 5">
            <a:extLst>
              <a:ext uri="{FF2B5EF4-FFF2-40B4-BE49-F238E27FC236}">
                <a16:creationId xmlns:a16="http://schemas.microsoft.com/office/drawing/2014/main" id="{024485BD-13AF-F4FF-DF4B-B6AEA0F6270F}"/>
              </a:ext>
            </a:extLst>
          </p:cNvPr>
          <p:cNvPicPr>
            <a:picLocks noChangeAspect="1"/>
          </p:cNvPicPr>
          <p:nvPr/>
        </p:nvPicPr>
        <p:blipFill>
          <a:blip r:embed="rId3"/>
          <a:stretch>
            <a:fillRect/>
          </a:stretch>
        </p:blipFill>
        <p:spPr>
          <a:xfrm>
            <a:off x="3047999" y="3837515"/>
            <a:ext cx="5342468" cy="2072218"/>
          </a:xfrm>
          <a:prstGeom prst="rect">
            <a:avLst/>
          </a:prstGeom>
        </p:spPr>
      </p:pic>
    </p:spTree>
    <p:extLst>
      <p:ext uri="{BB962C8B-B14F-4D97-AF65-F5344CB8AC3E}">
        <p14:creationId xmlns:p14="http://schemas.microsoft.com/office/powerpoint/2010/main" val="23505729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9AAF2379-AF95-124B-95DF-192931C9C3E9}"/>
            </a:ext>
          </a:extLst>
        </p:cNvPr>
        <p:cNvGrpSpPr/>
        <p:nvPr/>
      </p:nvGrpSpPr>
      <p:grpSpPr>
        <a:xfrm>
          <a:off x="0" y="0"/>
          <a:ext cx="0" cy="0"/>
          <a:chOff x="0" y="0"/>
          <a:chExt cx="0" cy="0"/>
        </a:xfrm>
      </p:grpSpPr>
      <p:sp>
        <p:nvSpPr>
          <p:cNvPr id="12" name="TextBox 11">
            <a:extLst>
              <a:ext uri="{FF2B5EF4-FFF2-40B4-BE49-F238E27FC236}">
                <a16:creationId xmlns:a16="http://schemas.microsoft.com/office/drawing/2014/main" id="{CDCDC333-3E9A-5C61-9E67-F76BA37E1CA2}"/>
              </a:ext>
            </a:extLst>
          </p:cNvPr>
          <p:cNvSpPr txBox="1"/>
          <p:nvPr/>
        </p:nvSpPr>
        <p:spPr>
          <a:xfrm>
            <a:off x="4618566" y="723488"/>
            <a:ext cx="2954867" cy="369332"/>
          </a:xfrm>
          <a:prstGeom prst="rect">
            <a:avLst/>
          </a:prstGeom>
          <a:noFill/>
        </p:spPr>
        <p:txBody>
          <a:bodyPr wrap="square">
            <a:spAutoFit/>
          </a:bodyPr>
          <a:lstStyle/>
          <a:p>
            <a:pPr algn="ctr"/>
            <a:r>
              <a:rPr lang="en-US" sz="1800" dirty="0">
                <a:solidFill>
                  <a:srgbClr val="FFC000"/>
                </a:solidFill>
              </a:rPr>
              <a:t>Lets inspect in more detail</a:t>
            </a:r>
            <a:endParaRPr lang="en-US" dirty="0"/>
          </a:p>
        </p:txBody>
      </p:sp>
      <p:pic>
        <p:nvPicPr>
          <p:cNvPr id="5" name="Picture 4">
            <a:extLst>
              <a:ext uri="{FF2B5EF4-FFF2-40B4-BE49-F238E27FC236}">
                <a16:creationId xmlns:a16="http://schemas.microsoft.com/office/drawing/2014/main" id="{F4046D13-7DF9-20BB-407E-77BAAEDE784F}"/>
              </a:ext>
            </a:extLst>
          </p:cNvPr>
          <p:cNvPicPr>
            <a:picLocks noChangeAspect="1"/>
          </p:cNvPicPr>
          <p:nvPr/>
        </p:nvPicPr>
        <p:blipFill>
          <a:blip r:embed="rId2"/>
          <a:srcRect/>
          <a:stretch/>
        </p:blipFill>
        <p:spPr>
          <a:xfrm>
            <a:off x="2218267" y="1597272"/>
            <a:ext cx="7755466" cy="4765928"/>
          </a:xfrm>
          <a:prstGeom prst="rect">
            <a:avLst/>
          </a:prstGeom>
        </p:spPr>
      </p:pic>
      <p:pic>
        <p:nvPicPr>
          <p:cNvPr id="2" name="Picture 1">
            <a:extLst>
              <a:ext uri="{FF2B5EF4-FFF2-40B4-BE49-F238E27FC236}">
                <a16:creationId xmlns:a16="http://schemas.microsoft.com/office/drawing/2014/main" id="{7AA6C6E0-CABD-0182-0D4E-E99BF71CB8E6}"/>
              </a:ext>
            </a:extLst>
          </p:cNvPr>
          <p:cNvPicPr>
            <a:picLocks noChangeAspect="1"/>
          </p:cNvPicPr>
          <p:nvPr/>
        </p:nvPicPr>
        <p:blipFill>
          <a:blip r:embed="rId3"/>
          <a:srcRect/>
          <a:stretch/>
        </p:blipFill>
        <p:spPr>
          <a:xfrm>
            <a:off x="8606367" y="5412317"/>
            <a:ext cx="3461532" cy="1250950"/>
          </a:xfrm>
          <a:prstGeom prst="rect">
            <a:avLst/>
          </a:prstGeom>
          <a:ln>
            <a:solidFill>
              <a:schemeClr val="accent6">
                <a:lumMod val="60000"/>
                <a:lumOff val="40000"/>
              </a:schemeClr>
            </a:solidFill>
          </a:ln>
        </p:spPr>
      </p:pic>
    </p:spTree>
    <p:extLst>
      <p:ext uri="{BB962C8B-B14F-4D97-AF65-F5344CB8AC3E}">
        <p14:creationId xmlns:p14="http://schemas.microsoft.com/office/powerpoint/2010/main" val="25786286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93BCBDCB-D75D-4783-04B2-A9324ECA2415}"/>
            </a:ext>
          </a:extLst>
        </p:cNvPr>
        <p:cNvGrpSpPr/>
        <p:nvPr/>
      </p:nvGrpSpPr>
      <p:grpSpPr>
        <a:xfrm>
          <a:off x="0" y="0"/>
          <a:ext cx="0" cy="0"/>
          <a:chOff x="0" y="0"/>
          <a:chExt cx="0" cy="0"/>
        </a:xfrm>
      </p:grpSpPr>
      <p:sp>
        <p:nvSpPr>
          <p:cNvPr id="12" name="TextBox 11">
            <a:extLst>
              <a:ext uri="{FF2B5EF4-FFF2-40B4-BE49-F238E27FC236}">
                <a16:creationId xmlns:a16="http://schemas.microsoft.com/office/drawing/2014/main" id="{35EE45CD-6425-1E3E-2ABC-406630E91B7E}"/>
              </a:ext>
            </a:extLst>
          </p:cNvPr>
          <p:cNvSpPr txBox="1"/>
          <p:nvPr/>
        </p:nvSpPr>
        <p:spPr>
          <a:xfrm>
            <a:off x="4618566" y="723488"/>
            <a:ext cx="2954867" cy="369332"/>
          </a:xfrm>
          <a:prstGeom prst="rect">
            <a:avLst/>
          </a:prstGeom>
          <a:noFill/>
        </p:spPr>
        <p:txBody>
          <a:bodyPr wrap="square">
            <a:spAutoFit/>
          </a:bodyPr>
          <a:lstStyle/>
          <a:p>
            <a:pPr algn="ctr"/>
            <a:r>
              <a:rPr lang="en-US" sz="1800" dirty="0">
                <a:solidFill>
                  <a:srgbClr val="FFC000"/>
                </a:solidFill>
              </a:rPr>
              <a:t>Lets inspect in more detail</a:t>
            </a:r>
            <a:endParaRPr lang="en-US" dirty="0"/>
          </a:p>
        </p:txBody>
      </p:sp>
      <p:pic>
        <p:nvPicPr>
          <p:cNvPr id="5" name="Picture 4">
            <a:extLst>
              <a:ext uri="{FF2B5EF4-FFF2-40B4-BE49-F238E27FC236}">
                <a16:creationId xmlns:a16="http://schemas.microsoft.com/office/drawing/2014/main" id="{7BFCDC7E-2BA9-2186-6977-AA1E1E13B844}"/>
              </a:ext>
            </a:extLst>
          </p:cNvPr>
          <p:cNvPicPr>
            <a:picLocks noChangeAspect="1"/>
          </p:cNvPicPr>
          <p:nvPr/>
        </p:nvPicPr>
        <p:blipFill>
          <a:blip r:embed="rId2"/>
          <a:srcRect/>
          <a:stretch/>
        </p:blipFill>
        <p:spPr>
          <a:xfrm>
            <a:off x="2218267" y="1597272"/>
            <a:ext cx="7755466" cy="4765928"/>
          </a:xfrm>
          <a:prstGeom prst="rect">
            <a:avLst/>
          </a:prstGeom>
        </p:spPr>
      </p:pic>
      <p:pic>
        <p:nvPicPr>
          <p:cNvPr id="2" name="Picture 1">
            <a:extLst>
              <a:ext uri="{FF2B5EF4-FFF2-40B4-BE49-F238E27FC236}">
                <a16:creationId xmlns:a16="http://schemas.microsoft.com/office/drawing/2014/main" id="{4A72FCE1-0F20-FD2E-2539-CA1FD67E6185}"/>
              </a:ext>
            </a:extLst>
          </p:cNvPr>
          <p:cNvPicPr>
            <a:picLocks noChangeAspect="1"/>
          </p:cNvPicPr>
          <p:nvPr/>
        </p:nvPicPr>
        <p:blipFill>
          <a:blip r:embed="rId3"/>
          <a:srcRect/>
          <a:stretch/>
        </p:blipFill>
        <p:spPr>
          <a:xfrm>
            <a:off x="8606367" y="5412317"/>
            <a:ext cx="3461532" cy="1250950"/>
          </a:xfrm>
          <a:prstGeom prst="rect">
            <a:avLst/>
          </a:prstGeom>
          <a:ln>
            <a:solidFill>
              <a:schemeClr val="accent6">
                <a:lumMod val="60000"/>
                <a:lumOff val="40000"/>
              </a:schemeClr>
            </a:solidFill>
          </a:ln>
        </p:spPr>
      </p:pic>
      <p:grpSp>
        <p:nvGrpSpPr>
          <p:cNvPr id="71" name="Group 70">
            <a:extLst>
              <a:ext uri="{FF2B5EF4-FFF2-40B4-BE49-F238E27FC236}">
                <a16:creationId xmlns:a16="http://schemas.microsoft.com/office/drawing/2014/main" id="{B2339942-6B5F-C0B0-BC47-16F1A8E07BCA}"/>
              </a:ext>
            </a:extLst>
          </p:cNvPr>
          <p:cNvGrpSpPr/>
          <p:nvPr/>
        </p:nvGrpSpPr>
        <p:grpSpPr>
          <a:xfrm>
            <a:off x="5329765" y="1710265"/>
            <a:ext cx="6737504" cy="3261784"/>
            <a:chOff x="5329765" y="1710265"/>
            <a:chExt cx="6737504" cy="3261784"/>
          </a:xfrm>
        </p:grpSpPr>
        <p:grpSp>
          <p:nvGrpSpPr>
            <p:cNvPr id="7" name="Group 6">
              <a:extLst>
                <a:ext uri="{FF2B5EF4-FFF2-40B4-BE49-F238E27FC236}">
                  <a16:creationId xmlns:a16="http://schemas.microsoft.com/office/drawing/2014/main" id="{C9648C1B-B327-7D50-8F46-A1055B19AAA2}"/>
                </a:ext>
              </a:extLst>
            </p:cNvPr>
            <p:cNvGrpSpPr/>
            <p:nvPr/>
          </p:nvGrpSpPr>
          <p:grpSpPr>
            <a:xfrm>
              <a:off x="5329765" y="2472268"/>
              <a:ext cx="1200151" cy="880535"/>
              <a:chOff x="6373282" y="2446867"/>
              <a:chExt cx="1200151" cy="880535"/>
            </a:xfrm>
          </p:grpSpPr>
          <p:sp>
            <p:nvSpPr>
              <p:cNvPr id="8" name="Round Same Side Corner Rectangle 7">
                <a:extLst>
                  <a:ext uri="{FF2B5EF4-FFF2-40B4-BE49-F238E27FC236}">
                    <a16:creationId xmlns:a16="http://schemas.microsoft.com/office/drawing/2014/main" id="{4F9776B8-61D7-BC42-6227-45C89CABDA50}"/>
                  </a:ext>
                </a:extLst>
              </p:cNvPr>
              <p:cNvSpPr/>
              <p:nvPr/>
            </p:nvSpPr>
            <p:spPr>
              <a:xfrm>
                <a:off x="6375400" y="2446867"/>
                <a:ext cx="1198033" cy="228600"/>
              </a:xfrm>
              <a:prstGeom prst="round2SameRect">
                <a:avLst>
                  <a:gd name="adj1" fmla="val 40378"/>
                  <a:gd name="adj2" fmla="val 0"/>
                </a:avLst>
              </a:prstGeom>
              <a:solidFill>
                <a:schemeClr val="accent2">
                  <a:alpha val="26000"/>
                </a:schemeClr>
              </a:solidFill>
              <a:ln>
                <a:no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solidFill>
                      <a:schemeClr val="bg1"/>
                    </a:solidFill>
                  </a:rPr>
                  <a:t>address</a:t>
                </a:r>
              </a:p>
            </p:txBody>
          </p:sp>
          <p:sp>
            <p:nvSpPr>
              <p:cNvPr id="9" name="Round Same Side Corner Rectangle 8">
                <a:extLst>
                  <a:ext uri="{FF2B5EF4-FFF2-40B4-BE49-F238E27FC236}">
                    <a16:creationId xmlns:a16="http://schemas.microsoft.com/office/drawing/2014/main" id="{FE2D0C55-9740-DFC6-A03A-FB8F35C7A824}"/>
                  </a:ext>
                </a:extLst>
              </p:cNvPr>
              <p:cNvSpPr/>
              <p:nvPr/>
            </p:nvSpPr>
            <p:spPr>
              <a:xfrm>
                <a:off x="6375399" y="2692401"/>
                <a:ext cx="1198033" cy="389467"/>
              </a:xfrm>
              <a:prstGeom prst="round2SameRect">
                <a:avLst>
                  <a:gd name="adj1" fmla="val 0"/>
                  <a:gd name="adj2" fmla="val 0"/>
                </a:avLst>
              </a:prstGeom>
              <a:solidFill>
                <a:schemeClr val="accent2">
                  <a:alpha val="76176"/>
                </a:schemeClr>
              </a:solidFill>
              <a:ln>
                <a:noFill/>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a:solidFill>
                      <a:schemeClr val="bg1"/>
                    </a:solidFill>
                  </a:rPr>
                  <a:t>VALUE</a:t>
                </a:r>
              </a:p>
            </p:txBody>
          </p:sp>
          <p:sp>
            <p:nvSpPr>
              <p:cNvPr id="22" name="Round Same Side Corner Rectangle 21">
                <a:extLst>
                  <a:ext uri="{FF2B5EF4-FFF2-40B4-BE49-F238E27FC236}">
                    <a16:creationId xmlns:a16="http://schemas.microsoft.com/office/drawing/2014/main" id="{D8A68DB6-E88E-6C2A-0BA5-1FA71FCD4BA2}"/>
                  </a:ext>
                </a:extLst>
              </p:cNvPr>
              <p:cNvSpPr/>
              <p:nvPr/>
            </p:nvSpPr>
            <p:spPr>
              <a:xfrm>
                <a:off x="6373282" y="3098802"/>
                <a:ext cx="1198033" cy="228600"/>
              </a:xfrm>
              <a:prstGeom prst="round2SameRect">
                <a:avLst>
                  <a:gd name="adj1" fmla="val 0"/>
                  <a:gd name="adj2" fmla="val 44444"/>
                </a:avLst>
              </a:prstGeom>
              <a:solidFill>
                <a:schemeClr val="accent4">
                  <a:alpha val="26000"/>
                </a:schemeClr>
              </a:solidFill>
              <a:ln>
                <a:no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solidFill>
                      <a:schemeClr val="bg1"/>
                    </a:solidFill>
                  </a:rPr>
                  <a:t>variable</a:t>
                </a:r>
              </a:p>
            </p:txBody>
          </p:sp>
        </p:grpSp>
        <p:cxnSp>
          <p:nvCxnSpPr>
            <p:cNvPr id="11" name="Straight Connector 10">
              <a:extLst>
                <a:ext uri="{FF2B5EF4-FFF2-40B4-BE49-F238E27FC236}">
                  <a16:creationId xmlns:a16="http://schemas.microsoft.com/office/drawing/2014/main" id="{C1208C61-C622-A6CD-52C9-4FEE3F60B3B7}"/>
                </a:ext>
              </a:extLst>
            </p:cNvPr>
            <p:cNvCxnSpPr/>
            <p:nvPr/>
          </p:nvCxnSpPr>
          <p:spPr>
            <a:xfrm>
              <a:off x="6597250" y="2120900"/>
              <a:ext cx="0" cy="1583267"/>
            </a:xfrm>
            <a:prstGeom prst="line">
              <a:avLst/>
            </a:prstGeom>
            <a:ln>
              <a:solidFill>
                <a:schemeClr val="tx2">
                  <a:lumMod val="10000"/>
                  <a:lumOff val="90000"/>
                </a:schemeClr>
              </a:solidFill>
              <a:prstDash val="sysDash"/>
            </a:ln>
          </p:spPr>
          <p:style>
            <a:lnRef idx="2">
              <a:schemeClr val="accent2"/>
            </a:lnRef>
            <a:fillRef idx="0">
              <a:schemeClr val="accent2"/>
            </a:fillRef>
            <a:effectRef idx="1">
              <a:schemeClr val="accent2"/>
            </a:effectRef>
            <a:fontRef idx="minor">
              <a:schemeClr val="tx1"/>
            </a:fontRef>
          </p:style>
        </p:cxnSp>
        <p:grpSp>
          <p:nvGrpSpPr>
            <p:cNvPr id="23" name="Group 22">
              <a:extLst>
                <a:ext uri="{FF2B5EF4-FFF2-40B4-BE49-F238E27FC236}">
                  <a16:creationId xmlns:a16="http://schemas.microsoft.com/office/drawing/2014/main" id="{FBC9A0D2-6478-E5EF-8B02-9ACA1F026175}"/>
                </a:ext>
              </a:extLst>
            </p:cNvPr>
            <p:cNvGrpSpPr/>
            <p:nvPr/>
          </p:nvGrpSpPr>
          <p:grpSpPr>
            <a:xfrm>
              <a:off x="6902450" y="2472268"/>
              <a:ext cx="1200151" cy="880535"/>
              <a:chOff x="6373282" y="2446867"/>
              <a:chExt cx="1200151" cy="880535"/>
            </a:xfrm>
          </p:grpSpPr>
          <p:sp>
            <p:nvSpPr>
              <p:cNvPr id="24" name="Round Same Side Corner Rectangle 23">
                <a:extLst>
                  <a:ext uri="{FF2B5EF4-FFF2-40B4-BE49-F238E27FC236}">
                    <a16:creationId xmlns:a16="http://schemas.microsoft.com/office/drawing/2014/main" id="{057AE12F-6B37-08BB-1BD7-B2AD1AC943B9}"/>
                  </a:ext>
                </a:extLst>
              </p:cNvPr>
              <p:cNvSpPr/>
              <p:nvPr/>
            </p:nvSpPr>
            <p:spPr>
              <a:xfrm>
                <a:off x="6375400" y="2446867"/>
                <a:ext cx="1198033" cy="228600"/>
              </a:xfrm>
              <a:prstGeom prst="round2SameRect">
                <a:avLst>
                  <a:gd name="adj1" fmla="val 40378"/>
                  <a:gd name="adj2" fmla="val 0"/>
                </a:avLst>
              </a:prstGeom>
              <a:solidFill>
                <a:schemeClr val="accent2">
                  <a:alpha val="26000"/>
                </a:schemeClr>
              </a:solidFill>
              <a:ln>
                <a:no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solidFill>
                      <a:schemeClr val="bg1"/>
                    </a:solidFill>
                  </a:rPr>
                  <a:t>0x16fa46f48</a:t>
                </a:r>
              </a:p>
            </p:txBody>
          </p:sp>
          <p:sp>
            <p:nvSpPr>
              <p:cNvPr id="25" name="Round Same Side Corner Rectangle 24">
                <a:extLst>
                  <a:ext uri="{FF2B5EF4-FFF2-40B4-BE49-F238E27FC236}">
                    <a16:creationId xmlns:a16="http://schemas.microsoft.com/office/drawing/2014/main" id="{046CC66A-A38E-09AD-17B5-4363011C44B8}"/>
                  </a:ext>
                </a:extLst>
              </p:cNvPr>
              <p:cNvSpPr/>
              <p:nvPr/>
            </p:nvSpPr>
            <p:spPr>
              <a:xfrm>
                <a:off x="6375399" y="2692401"/>
                <a:ext cx="1198033" cy="389467"/>
              </a:xfrm>
              <a:prstGeom prst="round2SameRect">
                <a:avLst>
                  <a:gd name="adj1" fmla="val 0"/>
                  <a:gd name="adj2" fmla="val 0"/>
                </a:avLst>
              </a:prstGeom>
              <a:solidFill>
                <a:schemeClr val="accent2">
                  <a:alpha val="76176"/>
                </a:schemeClr>
              </a:solidFill>
              <a:ln>
                <a:noFill/>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400" dirty="0">
                    <a:solidFill>
                      <a:schemeClr val="bg1"/>
                    </a:solidFill>
                  </a:rPr>
                  <a:t>2</a:t>
                </a:r>
              </a:p>
            </p:txBody>
          </p:sp>
          <p:sp>
            <p:nvSpPr>
              <p:cNvPr id="26" name="Round Same Side Corner Rectangle 25">
                <a:extLst>
                  <a:ext uri="{FF2B5EF4-FFF2-40B4-BE49-F238E27FC236}">
                    <a16:creationId xmlns:a16="http://schemas.microsoft.com/office/drawing/2014/main" id="{DFBB82AC-1D61-3F5D-2F86-A4AB9E8DEB69}"/>
                  </a:ext>
                </a:extLst>
              </p:cNvPr>
              <p:cNvSpPr/>
              <p:nvPr/>
            </p:nvSpPr>
            <p:spPr>
              <a:xfrm>
                <a:off x="6373282" y="3098802"/>
                <a:ext cx="1198033" cy="228600"/>
              </a:xfrm>
              <a:prstGeom prst="round2SameRect">
                <a:avLst>
                  <a:gd name="adj1" fmla="val 0"/>
                  <a:gd name="adj2" fmla="val 44444"/>
                </a:avLst>
              </a:prstGeom>
              <a:solidFill>
                <a:schemeClr val="accent4">
                  <a:alpha val="26000"/>
                </a:schemeClr>
              </a:solidFill>
              <a:ln>
                <a:no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solidFill>
                      <a:schemeClr val="bg1"/>
                    </a:solidFill>
                  </a:rPr>
                  <a:t>a [int]</a:t>
                </a:r>
              </a:p>
            </p:txBody>
          </p:sp>
        </p:grpSp>
        <p:sp>
          <p:nvSpPr>
            <p:cNvPr id="27" name="TextBox 26">
              <a:extLst>
                <a:ext uri="{FF2B5EF4-FFF2-40B4-BE49-F238E27FC236}">
                  <a16:creationId xmlns:a16="http://schemas.microsoft.com/office/drawing/2014/main" id="{D9EBFCF7-1326-D916-E834-A3C55086D1C2}"/>
                </a:ext>
              </a:extLst>
            </p:cNvPr>
            <p:cNvSpPr txBox="1"/>
            <p:nvPr/>
          </p:nvSpPr>
          <p:spPr>
            <a:xfrm rot="16200000">
              <a:off x="6312956" y="2789424"/>
              <a:ext cx="880536" cy="246221"/>
            </a:xfrm>
            <a:prstGeom prst="rect">
              <a:avLst/>
            </a:prstGeom>
            <a:solidFill>
              <a:schemeClr val="bg1"/>
            </a:solidFill>
          </p:spPr>
          <p:txBody>
            <a:bodyPr wrap="square" rtlCol="0">
              <a:spAutoFit/>
            </a:bodyPr>
            <a:lstStyle/>
            <a:p>
              <a:pPr algn="ctr"/>
              <a:r>
                <a:rPr lang="en-US" sz="1000" dirty="0"/>
                <a:t>@line 4</a:t>
              </a:r>
            </a:p>
          </p:txBody>
        </p:sp>
        <p:grpSp>
          <p:nvGrpSpPr>
            <p:cNvPr id="28" name="Group 27">
              <a:extLst>
                <a:ext uri="{FF2B5EF4-FFF2-40B4-BE49-F238E27FC236}">
                  <a16:creationId xmlns:a16="http://schemas.microsoft.com/office/drawing/2014/main" id="{505A593A-7FD9-8B3C-BD76-F76E8D533031}"/>
                </a:ext>
              </a:extLst>
            </p:cNvPr>
            <p:cNvGrpSpPr/>
            <p:nvPr/>
          </p:nvGrpSpPr>
          <p:grpSpPr>
            <a:xfrm>
              <a:off x="8307917" y="1710265"/>
              <a:ext cx="1200151" cy="880535"/>
              <a:chOff x="6373282" y="2446867"/>
              <a:chExt cx="1200151" cy="880535"/>
            </a:xfrm>
          </p:grpSpPr>
          <p:sp>
            <p:nvSpPr>
              <p:cNvPr id="29" name="Round Same Side Corner Rectangle 28">
                <a:extLst>
                  <a:ext uri="{FF2B5EF4-FFF2-40B4-BE49-F238E27FC236}">
                    <a16:creationId xmlns:a16="http://schemas.microsoft.com/office/drawing/2014/main" id="{FE35EE19-1679-A9E9-31AC-71561D089EC5}"/>
                  </a:ext>
                </a:extLst>
              </p:cNvPr>
              <p:cNvSpPr/>
              <p:nvPr/>
            </p:nvSpPr>
            <p:spPr>
              <a:xfrm>
                <a:off x="6375400" y="2446867"/>
                <a:ext cx="1198033" cy="228600"/>
              </a:xfrm>
              <a:prstGeom prst="round2SameRect">
                <a:avLst>
                  <a:gd name="adj1" fmla="val 40378"/>
                  <a:gd name="adj2" fmla="val 0"/>
                </a:avLst>
              </a:prstGeom>
              <a:solidFill>
                <a:schemeClr val="accent2">
                  <a:alpha val="26000"/>
                </a:schemeClr>
              </a:solidFill>
              <a:ln>
                <a:no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solidFill>
                      <a:schemeClr val="bg1"/>
                    </a:solidFill>
                  </a:rPr>
                  <a:t>0x16fa46f40</a:t>
                </a:r>
              </a:p>
            </p:txBody>
          </p:sp>
          <p:sp>
            <p:nvSpPr>
              <p:cNvPr id="30" name="Round Same Side Corner Rectangle 29">
                <a:extLst>
                  <a:ext uri="{FF2B5EF4-FFF2-40B4-BE49-F238E27FC236}">
                    <a16:creationId xmlns:a16="http://schemas.microsoft.com/office/drawing/2014/main" id="{05252F8A-5FFC-F39F-6732-669DCE7D2F02}"/>
                  </a:ext>
                </a:extLst>
              </p:cNvPr>
              <p:cNvSpPr/>
              <p:nvPr/>
            </p:nvSpPr>
            <p:spPr>
              <a:xfrm>
                <a:off x="6375399" y="2692401"/>
                <a:ext cx="1198033" cy="389467"/>
              </a:xfrm>
              <a:prstGeom prst="round2SameRect">
                <a:avLst>
                  <a:gd name="adj1" fmla="val 0"/>
                  <a:gd name="adj2" fmla="val 0"/>
                </a:avLst>
              </a:prstGeom>
              <a:solidFill>
                <a:schemeClr val="accent2">
                  <a:alpha val="76176"/>
                </a:schemeClr>
              </a:solidFill>
              <a:ln>
                <a:noFill/>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400" dirty="0">
                    <a:solidFill>
                      <a:schemeClr val="bg1"/>
                    </a:solidFill>
                  </a:rPr>
                  <a:t>0x16fa46f48</a:t>
                </a:r>
              </a:p>
            </p:txBody>
          </p:sp>
          <p:sp>
            <p:nvSpPr>
              <p:cNvPr id="31" name="Round Same Side Corner Rectangle 30">
                <a:extLst>
                  <a:ext uri="{FF2B5EF4-FFF2-40B4-BE49-F238E27FC236}">
                    <a16:creationId xmlns:a16="http://schemas.microsoft.com/office/drawing/2014/main" id="{2161A0E1-FBB4-A0AC-15D1-5193A2E884D0}"/>
                  </a:ext>
                </a:extLst>
              </p:cNvPr>
              <p:cNvSpPr/>
              <p:nvPr/>
            </p:nvSpPr>
            <p:spPr>
              <a:xfrm>
                <a:off x="6373282" y="3098802"/>
                <a:ext cx="1198033" cy="228600"/>
              </a:xfrm>
              <a:prstGeom prst="round2SameRect">
                <a:avLst>
                  <a:gd name="adj1" fmla="val 0"/>
                  <a:gd name="adj2" fmla="val 44444"/>
                </a:avLst>
              </a:prstGeom>
              <a:solidFill>
                <a:schemeClr val="accent4">
                  <a:alpha val="26000"/>
                </a:schemeClr>
              </a:solidFill>
              <a:ln>
                <a:no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solidFill>
                      <a:schemeClr val="bg1"/>
                    </a:solidFill>
                  </a:rPr>
                  <a:t>b [int*]</a:t>
                </a:r>
              </a:p>
            </p:txBody>
          </p:sp>
        </p:grpSp>
        <p:cxnSp>
          <p:nvCxnSpPr>
            <p:cNvPr id="34" name="Elbow Connector 33">
              <a:extLst>
                <a:ext uri="{FF2B5EF4-FFF2-40B4-BE49-F238E27FC236}">
                  <a16:creationId xmlns:a16="http://schemas.microsoft.com/office/drawing/2014/main" id="{8AFC043E-F6FE-AAB0-18C9-61A52908C000}"/>
                </a:ext>
              </a:extLst>
            </p:cNvPr>
            <p:cNvCxnSpPr>
              <a:cxnSpLocks/>
              <a:endCxn id="30" idx="2"/>
            </p:cNvCxnSpPr>
            <p:nvPr/>
          </p:nvCxnSpPr>
          <p:spPr>
            <a:xfrm flipV="1">
              <a:off x="7501465" y="2150533"/>
              <a:ext cx="808569" cy="321735"/>
            </a:xfrm>
            <a:prstGeom prst="bentConnector3">
              <a:avLst>
                <a:gd name="adj1" fmla="val -1309"/>
              </a:avLst>
            </a:prstGeom>
            <a:ln>
              <a:solidFill>
                <a:schemeClr val="tx2">
                  <a:lumMod val="10000"/>
                  <a:lumOff val="90000"/>
                </a:schemeClr>
              </a:solidFill>
              <a:tailEnd type="triangle"/>
            </a:ln>
          </p:spPr>
          <p:style>
            <a:lnRef idx="2">
              <a:schemeClr val="accent1"/>
            </a:lnRef>
            <a:fillRef idx="0">
              <a:schemeClr val="accent1"/>
            </a:fillRef>
            <a:effectRef idx="1">
              <a:schemeClr val="accent1"/>
            </a:effectRef>
            <a:fontRef idx="minor">
              <a:schemeClr val="tx1"/>
            </a:fontRef>
          </p:style>
        </p:cxnSp>
        <p:grpSp>
          <p:nvGrpSpPr>
            <p:cNvPr id="39" name="Group 38">
              <a:extLst>
                <a:ext uri="{FF2B5EF4-FFF2-40B4-BE49-F238E27FC236}">
                  <a16:creationId xmlns:a16="http://schemas.microsoft.com/office/drawing/2014/main" id="{AD18B341-10C0-90C0-6856-9C45154DA6E4}"/>
                </a:ext>
              </a:extLst>
            </p:cNvPr>
            <p:cNvGrpSpPr/>
            <p:nvPr/>
          </p:nvGrpSpPr>
          <p:grpSpPr>
            <a:xfrm>
              <a:off x="8305799" y="2912535"/>
              <a:ext cx="1200151" cy="880535"/>
              <a:chOff x="6373282" y="2446867"/>
              <a:chExt cx="1200151" cy="880535"/>
            </a:xfrm>
          </p:grpSpPr>
          <p:sp>
            <p:nvSpPr>
              <p:cNvPr id="40" name="Round Same Side Corner Rectangle 39">
                <a:extLst>
                  <a:ext uri="{FF2B5EF4-FFF2-40B4-BE49-F238E27FC236}">
                    <a16:creationId xmlns:a16="http://schemas.microsoft.com/office/drawing/2014/main" id="{A63E3AB2-ABCA-D8A6-4F66-8CD6A8567AE4}"/>
                  </a:ext>
                </a:extLst>
              </p:cNvPr>
              <p:cNvSpPr/>
              <p:nvPr/>
            </p:nvSpPr>
            <p:spPr>
              <a:xfrm>
                <a:off x="6375400" y="2446867"/>
                <a:ext cx="1198033" cy="228600"/>
              </a:xfrm>
              <a:prstGeom prst="round2SameRect">
                <a:avLst>
                  <a:gd name="adj1" fmla="val 40378"/>
                  <a:gd name="adj2" fmla="val 0"/>
                </a:avLst>
              </a:prstGeom>
              <a:solidFill>
                <a:schemeClr val="accent2">
                  <a:alpha val="26000"/>
                </a:schemeClr>
              </a:solidFill>
              <a:ln>
                <a:no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solidFill>
                      <a:schemeClr val="bg1"/>
                    </a:solidFill>
                  </a:rPr>
                  <a:t>0x16fa46f38</a:t>
                </a:r>
              </a:p>
            </p:txBody>
          </p:sp>
          <p:sp>
            <p:nvSpPr>
              <p:cNvPr id="41" name="Round Same Side Corner Rectangle 40">
                <a:extLst>
                  <a:ext uri="{FF2B5EF4-FFF2-40B4-BE49-F238E27FC236}">
                    <a16:creationId xmlns:a16="http://schemas.microsoft.com/office/drawing/2014/main" id="{0014C29D-4C12-8D3F-8358-6C8AE1CC1E13}"/>
                  </a:ext>
                </a:extLst>
              </p:cNvPr>
              <p:cNvSpPr/>
              <p:nvPr/>
            </p:nvSpPr>
            <p:spPr>
              <a:xfrm>
                <a:off x="6375399" y="2692401"/>
                <a:ext cx="1198033" cy="389467"/>
              </a:xfrm>
              <a:prstGeom prst="round2SameRect">
                <a:avLst>
                  <a:gd name="adj1" fmla="val 0"/>
                  <a:gd name="adj2" fmla="val 0"/>
                </a:avLst>
              </a:prstGeom>
              <a:solidFill>
                <a:schemeClr val="accent2">
                  <a:alpha val="76176"/>
                </a:schemeClr>
              </a:solidFill>
              <a:ln>
                <a:noFill/>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400" dirty="0" err="1">
                    <a:solidFill>
                      <a:schemeClr val="bg1"/>
                    </a:solidFill>
                  </a:rPr>
                  <a:t>xxxxxxxxxxx</a:t>
                </a:r>
                <a:endParaRPr lang="en-US" sz="1400" dirty="0">
                  <a:solidFill>
                    <a:schemeClr val="bg1"/>
                  </a:solidFill>
                </a:endParaRPr>
              </a:p>
            </p:txBody>
          </p:sp>
          <p:sp>
            <p:nvSpPr>
              <p:cNvPr id="42" name="Round Same Side Corner Rectangle 41">
                <a:extLst>
                  <a:ext uri="{FF2B5EF4-FFF2-40B4-BE49-F238E27FC236}">
                    <a16:creationId xmlns:a16="http://schemas.microsoft.com/office/drawing/2014/main" id="{8D5DAC85-9326-5E51-3FDF-B518BAD9741A}"/>
                  </a:ext>
                </a:extLst>
              </p:cNvPr>
              <p:cNvSpPr/>
              <p:nvPr/>
            </p:nvSpPr>
            <p:spPr>
              <a:xfrm>
                <a:off x="6373282" y="3098802"/>
                <a:ext cx="1198033" cy="228600"/>
              </a:xfrm>
              <a:prstGeom prst="round2SameRect">
                <a:avLst>
                  <a:gd name="adj1" fmla="val 0"/>
                  <a:gd name="adj2" fmla="val 44444"/>
                </a:avLst>
              </a:prstGeom>
              <a:solidFill>
                <a:schemeClr val="accent4">
                  <a:alpha val="26000"/>
                </a:schemeClr>
              </a:solidFill>
              <a:ln>
                <a:no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solidFill>
                      <a:schemeClr val="bg1"/>
                    </a:solidFill>
                  </a:rPr>
                  <a:t>c [int*]</a:t>
                </a:r>
              </a:p>
            </p:txBody>
          </p:sp>
        </p:grpSp>
        <p:sp>
          <p:nvSpPr>
            <p:cNvPr id="43" name="TextBox 42">
              <a:extLst>
                <a:ext uri="{FF2B5EF4-FFF2-40B4-BE49-F238E27FC236}">
                  <a16:creationId xmlns:a16="http://schemas.microsoft.com/office/drawing/2014/main" id="{ADB0DD61-CC79-68A8-BA53-E12CF0C3CCE6}"/>
                </a:ext>
              </a:extLst>
            </p:cNvPr>
            <p:cNvSpPr txBox="1"/>
            <p:nvPr/>
          </p:nvSpPr>
          <p:spPr>
            <a:xfrm rot="5400000">
              <a:off x="9246365" y="3229691"/>
              <a:ext cx="880534" cy="246221"/>
            </a:xfrm>
            <a:prstGeom prst="rect">
              <a:avLst/>
            </a:prstGeom>
            <a:solidFill>
              <a:schemeClr val="bg1"/>
            </a:solidFill>
          </p:spPr>
          <p:txBody>
            <a:bodyPr wrap="square" rtlCol="0">
              <a:spAutoFit/>
            </a:bodyPr>
            <a:lstStyle/>
            <a:p>
              <a:pPr algn="ctr"/>
              <a:r>
                <a:rPr lang="en-US" sz="1000" dirty="0"/>
                <a:t>@line 6</a:t>
              </a:r>
            </a:p>
          </p:txBody>
        </p:sp>
        <p:grpSp>
          <p:nvGrpSpPr>
            <p:cNvPr id="44" name="Group 43">
              <a:extLst>
                <a:ext uri="{FF2B5EF4-FFF2-40B4-BE49-F238E27FC236}">
                  <a16:creationId xmlns:a16="http://schemas.microsoft.com/office/drawing/2014/main" id="{740B6FE9-058D-093B-6B07-D41610EC7239}"/>
                </a:ext>
              </a:extLst>
            </p:cNvPr>
            <p:cNvGrpSpPr/>
            <p:nvPr/>
          </p:nvGrpSpPr>
          <p:grpSpPr>
            <a:xfrm>
              <a:off x="10105175" y="2912536"/>
              <a:ext cx="1200151" cy="880535"/>
              <a:chOff x="6373282" y="2446867"/>
              <a:chExt cx="1200151" cy="880535"/>
            </a:xfrm>
          </p:grpSpPr>
          <p:sp>
            <p:nvSpPr>
              <p:cNvPr id="45" name="Round Same Side Corner Rectangle 44">
                <a:extLst>
                  <a:ext uri="{FF2B5EF4-FFF2-40B4-BE49-F238E27FC236}">
                    <a16:creationId xmlns:a16="http://schemas.microsoft.com/office/drawing/2014/main" id="{CBCA0065-8D55-891E-B9A8-E6ED0B3197DF}"/>
                  </a:ext>
                </a:extLst>
              </p:cNvPr>
              <p:cNvSpPr/>
              <p:nvPr/>
            </p:nvSpPr>
            <p:spPr>
              <a:xfrm>
                <a:off x="6375400" y="2446867"/>
                <a:ext cx="1198033" cy="228600"/>
              </a:xfrm>
              <a:prstGeom prst="round2SameRect">
                <a:avLst>
                  <a:gd name="adj1" fmla="val 40378"/>
                  <a:gd name="adj2" fmla="val 0"/>
                </a:avLst>
              </a:prstGeom>
              <a:solidFill>
                <a:schemeClr val="accent2">
                  <a:alpha val="26000"/>
                </a:schemeClr>
              </a:solidFill>
              <a:ln>
                <a:no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solidFill>
                      <a:schemeClr val="bg1"/>
                    </a:solidFill>
                  </a:rPr>
                  <a:t>0x16fa46f38</a:t>
                </a:r>
              </a:p>
            </p:txBody>
          </p:sp>
          <p:sp>
            <p:nvSpPr>
              <p:cNvPr id="46" name="Round Same Side Corner Rectangle 45">
                <a:extLst>
                  <a:ext uri="{FF2B5EF4-FFF2-40B4-BE49-F238E27FC236}">
                    <a16:creationId xmlns:a16="http://schemas.microsoft.com/office/drawing/2014/main" id="{853DA38D-5502-B2FF-86D7-CEE42B93EF05}"/>
                  </a:ext>
                </a:extLst>
              </p:cNvPr>
              <p:cNvSpPr/>
              <p:nvPr/>
            </p:nvSpPr>
            <p:spPr>
              <a:xfrm>
                <a:off x="6375399" y="2692401"/>
                <a:ext cx="1198033" cy="389467"/>
              </a:xfrm>
              <a:prstGeom prst="round2SameRect">
                <a:avLst>
                  <a:gd name="adj1" fmla="val 0"/>
                  <a:gd name="adj2" fmla="val 0"/>
                </a:avLst>
              </a:prstGeom>
              <a:solidFill>
                <a:schemeClr val="accent2">
                  <a:alpha val="76176"/>
                </a:schemeClr>
              </a:solidFill>
              <a:ln>
                <a:noFill/>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400" dirty="0">
                    <a:solidFill>
                      <a:schemeClr val="bg1"/>
                    </a:solidFill>
                  </a:rPr>
                  <a:t>0x16fa46f48</a:t>
                </a:r>
              </a:p>
            </p:txBody>
          </p:sp>
          <p:sp>
            <p:nvSpPr>
              <p:cNvPr id="47" name="Round Same Side Corner Rectangle 46">
                <a:extLst>
                  <a:ext uri="{FF2B5EF4-FFF2-40B4-BE49-F238E27FC236}">
                    <a16:creationId xmlns:a16="http://schemas.microsoft.com/office/drawing/2014/main" id="{1F6C641E-22F8-7DDB-120C-49B3F1DFC1AA}"/>
                  </a:ext>
                </a:extLst>
              </p:cNvPr>
              <p:cNvSpPr/>
              <p:nvPr/>
            </p:nvSpPr>
            <p:spPr>
              <a:xfrm>
                <a:off x="6373282" y="3098802"/>
                <a:ext cx="1198033" cy="228600"/>
              </a:xfrm>
              <a:prstGeom prst="round2SameRect">
                <a:avLst>
                  <a:gd name="adj1" fmla="val 0"/>
                  <a:gd name="adj2" fmla="val 44444"/>
                </a:avLst>
              </a:prstGeom>
              <a:solidFill>
                <a:schemeClr val="accent4">
                  <a:alpha val="26000"/>
                </a:schemeClr>
              </a:solidFill>
              <a:ln>
                <a:no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solidFill>
                      <a:schemeClr val="bg1"/>
                    </a:solidFill>
                  </a:rPr>
                  <a:t>c [int*]</a:t>
                </a:r>
              </a:p>
            </p:txBody>
          </p:sp>
        </p:grpSp>
        <p:sp>
          <p:nvSpPr>
            <p:cNvPr id="48" name="TextBox 47">
              <a:extLst>
                <a:ext uri="{FF2B5EF4-FFF2-40B4-BE49-F238E27FC236}">
                  <a16:creationId xmlns:a16="http://schemas.microsoft.com/office/drawing/2014/main" id="{B3DBAAE0-732A-5479-EE78-11158E3FCE4A}"/>
                </a:ext>
              </a:extLst>
            </p:cNvPr>
            <p:cNvSpPr txBox="1"/>
            <p:nvPr/>
          </p:nvSpPr>
          <p:spPr>
            <a:xfrm rot="5400000">
              <a:off x="11045741" y="3229692"/>
              <a:ext cx="880534" cy="246221"/>
            </a:xfrm>
            <a:prstGeom prst="rect">
              <a:avLst/>
            </a:prstGeom>
            <a:solidFill>
              <a:schemeClr val="bg1"/>
            </a:solidFill>
          </p:spPr>
          <p:txBody>
            <a:bodyPr wrap="square" rtlCol="0">
              <a:spAutoFit/>
            </a:bodyPr>
            <a:lstStyle/>
            <a:p>
              <a:pPr algn="ctr"/>
              <a:r>
                <a:rPr lang="en-US" sz="1000" dirty="0"/>
                <a:t>@line 7</a:t>
              </a:r>
            </a:p>
          </p:txBody>
        </p:sp>
        <p:cxnSp>
          <p:nvCxnSpPr>
            <p:cNvPr id="54" name="Elbow Connector 53">
              <a:extLst>
                <a:ext uri="{FF2B5EF4-FFF2-40B4-BE49-F238E27FC236}">
                  <a16:creationId xmlns:a16="http://schemas.microsoft.com/office/drawing/2014/main" id="{7BEAEC93-BE64-55CF-7055-DB7D081C4762}"/>
                </a:ext>
              </a:extLst>
            </p:cNvPr>
            <p:cNvCxnSpPr>
              <a:cxnSpLocks/>
              <a:stCxn id="30" idx="0"/>
              <a:endCxn id="45" idx="3"/>
            </p:cNvCxnSpPr>
            <p:nvPr/>
          </p:nvCxnSpPr>
          <p:spPr>
            <a:xfrm>
              <a:off x="9508067" y="2150533"/>
              <a:ext cx="1198243" cy="762003"/>
            </a:xfrm>
            <a:prstGeom prst="bentConnector2">
              <a:avLst/>
            </a:prstGeom>
            <a:ln>
              <a:solidFill>
                <a:schemeClr val="tx2">
                  <a:lumMod val="10000"/>
                  <a:lumOff val="9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65" name="TextBox 64">
              <a:extLst>
                <a:ext uri="{FF2B5EF4-FFF2-40B4-BE49-F238E27FC236}">
                  <a16:creationId xmlns:a16="http://schemas.microsoft.com/office/drawing/2014/main" id="{14114D6E-179A-B122-C911-0349C467E97D}"/>
                </a:ext>
              </a:extLst>
            </p:cNvPr>
            <p:cNvSpPr txBox="1"/>
            <p:nvPr/>
          </p:nvSpPr>
          <p:spPr>
            <a:xfrm rot="5400000">
              <a:off x="9270865" y="2031659"/>
              <a:ext cx="880534" cy="246221"/>
            </a:xfrm>
            <a:prstGeom prst="rect">
              <a:avLst/>
            </a:prstGeom>
            <a:solidFill>
              <a:schemeClr val="bg1"/>
            </a:solidFill>
          </p:spPr>
          <p:txBody>
            <a:bodyPr wrap="square" rtlCol="0">
              <a:spAutoFit/>
            </a:bodyPr>
            <a:lstStyle/>
            <a:p>
              <a:pPr algn="ctr"/>
              <a:r>
                <a:rPr lang="en-US" sz="1000" dirty="0"/>
                <a:t>@line 5</a:t>
              </a:r>
            </a:p>
          </p:txBody>
        </p:sp>
        <p:grpSp>
          <p:nvGrpSpPr>
            <p:cNvPr id="66" name="Group 65">
              <a:extLst>
                <a:ext uri="{FF2B5EF4-FFF2-40B4-BE49-F238E27FC236}">
                  <a16:creationId xmlns:a16="http://schemas.microsoft.com/office/drawing/2014/main" id="{1B078B50-B7A4-18AB-F5F2-093F81550416}"/>
                </a:ext>
              </a:extLst>
            </p:cNvPr>
            <p:cNvGrpSpPr/>
            <p:nvPr/>
          </p:nvGrpSpPr>
          <p:grpSpPr>
            <a:xfrm>
              <a:off x="10867118" y="4091514"/>
              <a:ext cx="1200151" cy="880535"/>
              <a:chOff x="6373282" y="2446867"/>
              <a:chExt cx="1200151" cy="880535"/>
            </a:xfrm>
          </p:grpSpPr>
          <p:sp>
            <p:nvSpPr>
              <p:cNvPr id="67" name="Round Same Side Corner Rectangle 66">
                <a:extLst>
                  <a:ext uri="{FF2B5EF4-FFF2-40B4-BE49-F238E27FC236}">
                    <a16:creationId xmlns:a16="http://schemas.microsoft.com/office/drawing/2014/main" id="{48476641-1550-6736-CF56-545D438611AE}"/>
                  </a:ext>
                </a:extLst>
              </p:cNvPr>
              <p:cNvSpPr/>
              <p:nvPr/>
            </p:nvSpPr>
            <p:spPr>
              <a:xfrm>
                <a:off x="6375400" y="2446867"/>
                <a:ext cx="1198033" cy="228600"/>
              </a:xfrm>
              <a:prstGeom prst="round2SameRect">
                <a:avLst>
                  <a:gd name="adj1" fmla="val 40378"/>
                  <a:gd name="adj2" fmla="val 0"/>
                </a:avLst>
              </a:prstGeom>
              <a:solidFill>
                <a:schemeClr val="accent2">
                  <a:alpha val="26000"/>
                </a:schemeClr>
              </a:solidFill>
              <a:ln>
                <a:no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solidFill>
                      <a:schemeClr val="bg1"/>
                    </a:solidFill>
                  </a:rPr>
                  <a:t>0x16fa46f48</a:t>
                </a:r>
              </a:p>
            </p:txBody>
          </p:sp>
          <p:sp>
            <p:nvSpPr>
              <p:cNvPr id="68" name="Round Same Side Corner Rectangle 67">
                <a:extLst>
                  <a:ext uri="{FF2B5EF4-FFF2-40B4-BE49-F238E27FC236}">
                    <a16:creationId xmlns:a16="http://schemas.microsoft.com/office/drawing/2014/main" id="{C5FEA5C0-F52D-DEC1-40B2-3CF217074EDA}"/>
                  </a:ext>
                </a:extLst>
              </p:cNvPr>
              <p:cNvSpPr/>
              <p:nvPr/>
            </p:nvSpPr>
            <p:spPr>
              <a:xfrm>
                <a:off x="6375399" y="2692401"/>
                <a:ext cx="1198033" cy="389467"/>
              </a:xfrm>
              <a:prstGeom prst="round2SameRect">
                <a:avLst>
                  <a:gd name="adj1" fmla="val 0"/>
                  <a:gd name="adj2" fmla="val 0"/>
                </a:avLst>
              </a:prstGeom>
              <a:solidFill>
                <a:schemeClr val="accent2">
                  <a:alpha val="76176"/>
                </a:schemeClr>
              </a:solidFill>
              <a:ln>
                <a:noFill/>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400" dirty="0">
                    <a:solidFill>
                      <a:schemeClr val="bg1"/>
                    </a:solidFill>
                  </a:rPr>
                  <a:t>23</a:t>
                </a:r>
              </a:p>
            </p:txBody>
          </p:sp>
          <p:sp>
            <p:nvSpPr>
              <p:cNvPr id="69" name="Round Same Side Corner Rectangle 68">
                <a:extLst>
                  <a:ext uri="{FF2B5EF4-FFF2-40B4-BE49-F238E27FC236}">
                    <a16:creationId xmlns:a16="http://schemas.microsoft.com/office/drawing/2014/main" id="{41FF5FCC-37FF-AE4A-BC0E-CCFB062227AC}"/>
                  </a:ext>
                </a:extLst>
              </p:cNvPr>
              <p:cNvSpPr/>
              <p:nvPr/>
            </p:nvSpPr>
            <p:spPr>
              <a:xfrm>
                <a:off x="6373282" y="3098802"/>
                <a:ext cx="1198033" cy="228600"/>
              </a:xfrm>
              <a:prstGeom prst="round2SameRect">
                <a:avLst>
                  <a:gd name="adj1" fmla="val 0"/>
                  <a:gd name="adj2" fmla="val 44444"/>
                </a:avLst>
              </a:prstGeom>
              <a:solidFill>
                <a:schemeClr val="accent4">
                  <a:alpha val="26000"/>
                </a:schemeClr>
              </a:solidFill>
              <a:ln>
                <a:no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solidFill>
                      <a:schemeClr val="bg1"/>
                    </a:solidFill>
                  </a:rPr>
                  <a:t>a [int]</a:t>
                </a:r>
              </a:p>
            </p:txBody>
          </p:sp>
        </p:grpSp>
        <p:sp>
          <p:nvSpPr>
            <p:cNvPr id="70" name="TextBox 69">
              <a:extLst>
                <a:ext uri="{FF2B5EF4-FFF2-40B4-BE49-F238E27FC236}">
                  <a16:creationId xmlns:a16="http://schemas.microsoft.com/office/drawing/2014/main" id="{47686E14-AD8A-8BA2-A8BE-E350F274C61B}"/>
                </a:ext>
              </a:extLst>
            </p:cNvPr>
            <p:cNvSpPr txBox="1"/>
            <p:nvPr/>
          </p:nvSpPr>
          <p:spPr>
            <a:xfrm rot="16200000">
              <a:off x="10277624" y="4408670"/>
              <a:ext cx="880536" cy="246221"/>
            </a:xfrm>
            <a:prstGeom prst="rect">
              <a:avLst/>
            </a:prstGeom>
            <a:solidFill>
              <a:schemeClr val="bg1"/>
            </a:solidFill>
          </p:spPr>
          <p:txBody>
            <a:bodyPr wrap="square" rtlCol="0">
              <a:spAutoFit/>
            </a:bodyPr>
            <a:lstStyle/>
            <a:p>
              <a:pPr algn="ctr"/>
              <a:r>
                <a:rPr lang="en-US" sz="1000" dirty="0"/>
                <a:t>@line 8</a:t>
              </a:r>
            </a:p>
          </p:txBody>
        </p:sp>
      </p:grpSp>
    </p:spTree>
    <p:extLst>
      <p:ext uri="{BB962C8B-B14F-4D97-AF65-F5344CB8AC3E}">
        <p14:creationId xmlns:p14="http://schemas.microsoft.com/office/powerpoint/2010/main" val="13577620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D55A75A6-410A-9414-BE9B-DF75A58CB5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E14539-E285-3161-FA15-2647C5F2EE1E}"/>
              </a:ext>
            </a:extLst>
          </p:cNvPr>
          <p:cNvSpPr>
            <a:spLocks noGrp="1"/>
          </p:cNvSpPr>
          <p:nvPr>
            <p:ph type="ctrTitle"/>
          </p:nvPr>
        </p:nvSpPr>
        <p:spPr/>
        <p:txBody>
          <a:bodyPr>
            <a:normAutofit/>
          </a:bodyPr>
          <a:lstStyle/>
          <a:p>
            <a:r>
              <a:rPr lang="en-US" sz="4800" dirty="0">
                <a:solidFill>
                  <a:srgbClr val="FFC000"/>
                </a:solidFill>
              </a:rPr>
              <a:t>Thought!!!</a:t>
            </a:r>
            <a:br>
              <a:rPr lang="en-US" sz="4800" dirty="0">
                <a:solidFill>
                  <a:srgbClr val="FFC000"/>
                </a:solidFill>
              </a:rPr>
            </a:br>
            <a:r>
              <a:rPr lang="en-US" sz="4800" dirty="0">
                <a:solidFill>
                  <a:srgbClr val="FFC000"/>
                </a:solidFill>
              </a:rPr>
              <a:t>Pointers as natural choice for array?</a:t>
            </a:r>
          </a:p>
        </p:txBody>
      </p:sp>
      <p:sp>
        <p:nvSpPr>
          <p:cNvPr id="3" name="Subtitle 2">
            <a:extLst>
              <a:ext uri="{FF2B5EF4-FFF2-40B4-BE49-F238E27FC236}">
                <a16:creationId xmlns:a16="http://schemas.microsoft.com/office/drawing/2014/main" id="{BCAB2CAD-C44D-40FB-155E-13EE203A8EB1}"/>
              </a:ext>
            </a:extLst>
          </p:cNvPr>
          <p:cNvSpPr>
            <a:spLocks noGrp="1"/>
          </p:cNvSpPr>
          <p:nvPr>
            <p:ph type="subTitle" idx="1"/>
          </p:nvPr>
        </p:nvSpPr>
        <p:spPr/>
        <p:txBody>
          <a:bodyPr/>
          <a:lstStyle/>
          <a:p>
            <a:r>
              <a:rPr lang="en-US" dirty="0">
                <a:solidFill>
                  <a:schemeClr val="bg1"/>
                </a:solidFill>
              </a:rPr>
              <a:t>Unit-02.4</a:t>
            </a:r>
          </a:p>
        </p:txBody>
      </p:sp>
    </p:spTree>
    <p:extLst>
      <p:ext uri="{BB962C8B-B14F-4D97-AF65-F5344CB8AC3E}">
        <p14:creationId xmlns:p14="http://schemas.microsoft.com/office/powerpoint/2010/main" val="41801923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A4C04F56-E0A5-3BAB-BC12-638283897A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8B8B32-0161-F97C-E26E-6286C40B0869}"/>
              </a:ext>
            </a:extLst>
          </p:cNvPr>
          <p:cNvSpPr>
            <a:spLocks noGrp="1"/>
          </p:cNvSpPr>
          <p:nvPr>
            <p:ph type="ctrTitle"/>
          </p:nvPr>
        </p:nvSpPr>
        <p:spPr>
          <a:xfrm>
            <a:off x="1066800" y="1007533"/>
            <a:ext cx="2607733" cy="521230"/>
          </a:xfrm>
        </p:spPr>
        <p:txBody>
          <a:bodyPr>
            <a:normAutofit fontScale="90000"/>
          </a:bodyPr>
          <a:lstStyle/>
          <a:p>
            <a:pPr algn="l"/>
            <a:r>
              <a:rPr lang="en-US" sz="3200" dirty="0">
                <a:solidFill>
                  <a:srgbClr val="FFC000"/>
                </a:solidFill>
              </a:rPr>
              <a:t>Case study..</a:t>
            </a:r>
          </a:p>
        </p:txBody>
      </p:sp>
      <p:pic>
        <p:nvPicPr>
          <p:cNvPr id="6" name="Picture 5">
            <a:extLst>
              <a:ext uri="{FF2B5EF4-FFF2-40B4-BE49-F238E27FC236}">
                <a16:creationId xmlns:a16="http://schemas.microsoft.com/office/drawing/2014/main" id="{6E6F51EC-B7AA-28FF-AAF7-A8FAF8741ACB}"/>
              </a:ext>
            </a:extLst>
          </p:cNvPr>
          <p:cNvPicPr>
            <a:picLocks noChangeAspect="1"/>
          </p:cNvPicPr>
          <p:nvPr/>
        </p:nvPicPr>
        <p:blipFill>
          <a:blip r:embed="rId2"/>
          <a:stretch>
            <a:fillRect/>
          </a:stretch>
        </p:blipFill>
        <p:spPr>
          <a:xfrm>
            <a:off x="2061633" y="2254249"/>
            <a:ext cx="8620404" cy="2817283"/>
          </a:xfrm>
          <a:prstGeom prst="rect">
            <a:avLst/>
          </a:prstGeom>
        </p:spPr>
      </p:pic>
      <p:pic>
        <p:nvPicPr>
          <p:cNvPr id="7" name="Picture 6">
            <a:extLst>
              <a:ext uri="{FF2B5EF4-FFF2-40B4-BE49-F238E27FC236}">
                <a16:creationId xmlns:a16="http://schemas.microsoft.com/office/drawing/2014/main" id="{11AD793D-1EBE-C5E6-9630-792BB72F3FAA}"/>
              </a:ext>
            </a:extLst>
          </p:cNvPr>
          <p:cNvPicPr>
            <a:picLocks noChangeAspect="1"/>
          </p:cNvPicPr>
          <p:nvPr/>
        </p:nvPicPr>
        <p:blipFill>
          <a:blip r:embed="rId3"/>
          <a:stretch>
            <a:fillRect/>
          </a:stretch>
        </p:blipFill>
        <p:spPr>
          <a:xfrm>
            <a:off x="6201833" y="4673130"/>
            <a:ext cx="5473700" cy="796804"/>
          </a:xfrm>
          <a:prstGeom prst="rect">
            <a:avLst/>
          </a:prstGeom>
          <a:ln>
            <a:solidFill>
              <a:schemeClr val="accent3">
                <a:lumMod val="60000"/>
                <a:lumOff val="40000"/>
              </a:schemeClr>
            </a:solidFill>
          </a:ln>
        </p:spPr>
      </p:pic>
      <p:sp>
        <p:nvSpPr>
          <p:cNvPr id="10" name="TextBox 9">
            <a:extLst>
              <a:ext uri="{FF2B5EF4-FFF2-40B4-BE49-F238E27FC236}">
                <a16:creationId xmlns:a16="http://schemas.microsoft.com/office/drawing/2014/main" id="{4CC7EAE5-A29E-B044-57F9-26B1843F2950}"/>
              </a:ext>
            </a:extLst>
          </p:cNvPr>
          <p:cNvSpPr txBox="1"/>
          <p:nvPr/>
        </p:nvSpPr>
        <p:spPr>
          <a:xfrm>
            <a:off x="1966217" y="5738167"/>
            <a:ext cx="8845217" cy="1169551"/>
          </a:xfrm>
          <a:prstGeom prst="rect">
            <a:avLst/>
          </a:prstGeom>
          <a:noFill/>
        </p:spPr>
        <p:txBody>
          <a:bodyPr wrap="square">
            <a:spAutoFit/>
          </a:bodyPr>
          <a:lstStyle/>
          <a:p>
            <a:r>
              <a:rPr lang="en-US" sz="1400" dirty="0">
                <a:solidFill>
                  <a:srgbClr val="FFC000"/>
                </a:solidFill>
              </a:rPr>
              <a:t>If you were thinking this would print an entire array, it’s time to review some basics….</a:t>
            </a:r>
          </a:p>
          <a:p>
            <a:endParaRPr lang="en-US" sz="1400" dirty="0">
              <a:solidFill>
                <a:srgbClr val="FFC000"/>
              </a:solidFill>
            </a:endParaRPr>
          </a:p>
          <a:p>
            <a:r>
              <a:rPr lang="en-US" sz="1400" dirty="0">
                <a:solidFill>
                  <a:srgbClr val="FFC000"/>
                </a:solidFill>
              </a:rPr>
              <a:t>Here, ‘</a:t>
            </a:r>
            <a:r>
              <a:rPr lang="en-US" sz="1400" dirty="0" err="1">
                <a:solidFill>
                  <a:srgbClr val="FFC000"/>
                </a:solidFill>
              </a:rPr>
              <a:t>arr</a:t>
            </a:r>
            <a:r>
              <a:rPr lang="en-US" sz="1400" dirty="0">
                <a:solidFill>
                  <a:srgbClr val="FFC000"/>
                </a:solidFill>
              </a:rPr>
              <a:t>’ seems some kind of address. Well if you are guessing if this is the address of the beginning of the array, </a:t>
            </a:r>
          </a:p>
          <a:p>
            <a:r>
              <a:rPr lang="en-US" sz="1400" dirty="0">
                <a:solidFill>
                  <a:srgbClr val="FFC000"/>
                </a:solidFill>
              </a:rPr>
              <a:t>then you are right.</a:t>
            </a:r>
          </a:p>
          <a:p>
            <a:endParaRPr lang="en-US" sz="1400" dirty="0"/>
          </a:p>
        </p:txBody>
      </p:sp>
    </p:spTree>
    <p:extLst>
      <p:ext uri="{BB962C8B-B14F-4D97-AF65-F5344CB8AC3E}">
        <p14:creationId xmlns:p14="http://schemas.microsoft.com/office/powerpoint/2010/main" val="27003524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C1910F1D-939C-7BE8-83BF-B8E919845A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98F950-5894-F5BC-4132-774CCFA657C5}"/>
              </a:ext>
            </a:extLst>
          </p:cNvPr>
          <p:cNvSpPr>
            <a:spLocks noGrp="1"/>
          </p:cNvSpPr>
          <p:nvPr>
            <p:ph type="ctrTitle"/>
          </p:nvPr>
        </p:nvSpPr>
        <p:spPr>
          <a:xfrm>
            <a:off x="1066800" y="1007533"/>
            <a:ext cx="2607733" cy="521230"/>
          </a:xfrm>
        </p:spPr>
        <p:txBody>
          <a:bodyPr>
            <a:normAutofit fontScale="90000"/>
          </a:bodyPr>
          <a:lstStyle/>
          <a:p>
            <a:pPr algn="l"/>
            <a:r>
              <a:rPr lang="en-US" sz="3200" dirty="0">
                <a:solidFill>
                  <a:srgbClr val="FFC000"/>
                </a:solidFill>
              </a:rPr>
              <a:t>Case study..</a:t>
            </a:r>
          </a:p>
        </p:txBody>
      </p:sp>
      <p:pic>
        <p:nvPicPr>
          <p:cNvPr id="6" name="Picture 5">
            <a:extLst>
              <a:ext uri="{FF2B5EF4-FFF2-40B4-BE49-F238E27FC236}">
                <a16:creationId xmlns:a16="http://schemas.microsoft.com/office/drawing/2014/main" id="{A40A1164-BABD-0225-E1F6-EB4C5065C42F}"/>
              </a:ext>
            </a:extLst>
          </p:cNvPr>
          <p:cNvPicPr>
            <a:picLocks noChangeAspect="1"/>
          </p:cNvPicPr>
          <p:nvPr/>
        </p:nvPicPr>
        <p:blipFill>
          <a:blip r:embed="rId2"/>
          <a:srcRect/>
          <a:stretch/>
        </p:blipFill>
        <p:spPr>
          <a:xfrm>
            <a:off x="2061633" y="2450350"/>
            <a:ext cx="8620404" cy="2425080"/>
          </a:xfrm>
          <a:prstGeom prst="rect">
            <a:avLst/>
          </a:prstGeom>
        </p:spPr>
      </p:pic>
      <p:pic>
        <p:nvPicPr>
          <p:cNvPr id="7" name="Picture 6">
            <a:extLst>
              <a:ext uri="{FF2B5EF4-FFF2-40B4-BE49-F238E27FC236}">
                <a16:creationId xmlns:a16="http://schemas.microsoft.com/office/drawing/2014/main" id="{138F7E6C-AF1E-D9A5-00C8-43BF87353291}"/>
              </a:ext>
            </a:extLst>
          </p:cNvPr>
          <p:cNvPicPr>
            <a:picLocks noChangeAspect="1"/>
          </p:cNvPicPr>
          <p:nvPr/>
        </p:nvPicPr>
        <p:blipFill>
          <a:blip r:embed="rId3"/>
          <a:srcRect/>
          <a:stretch/>
        </p:blipFill>
        <p:spPr>
          <a:xfrm>
            <a:off x="6201833" y="4857425"/>
            <a:ext cx="5473700" cy="428214"/>
          </a:xfrm>
          <a:prstGeom prst="rect">
            <a:avLst/>
          </a:prstGeom>
          <a:ln>
            <a:solidFill>
              <a:schemeClr val="accent3">
                <a:lumMod val="60000"/>
                <a:lumOff val="40000"/>
              </a:schemeClr>
            </a:solidFill>
          </a:ln>
        </p:spPr>
      </p:pic>
      <p:sp>
        <p:nvSpPr>
          <p:cNvPr id="10" name="TextBox 9">
            <a:extLst>
              <a:ext uri="{FF2B5EF4-FFF2-40B4-BE49-F238E27FC236}">
                <a16:creationId xmlns:a16="http://schemas.microsoft.com/office/drawing/2014/main" id="{249AADDD-E323-6CCB-1B30-FF03BD6A087B}"/>
              </a:ext>
            </a:extLst>
          </p:cNvPr>
          <p:cNvSpPr txBox="1"/>
          <p:nvPr/>
        </p:nvSpPr>
        <p:spPr>
          <a:xfrm>
            <a:off x="1966217" y="5738167"/>
            <a:ext cx="8845217" cy="1169551"/>
          </a:xfrm>
          <a:prstGeom prst="rect">
            <a:avLst/>
          </a:prstGeom>
          <a:noFill/>
        </p:spPr>
        <p:txBody>
          <a:bodyPr wrap="square">
            <a:spAutoFit/>
          </a:bodyPr>
          <a:lstStyle/>
          <a:p>
            <a:r>
              <a:rPr lang="en-US" sz="1400" dirty="0">
                <a:solidFill>
                  <a:srgbClr val="FFC000"/>
                </a:solidFill>
              </a:rPr>
              <a:t>If you were thinking this would print an entire array, it’s time to review some basics….</a:t>
            </a:r>
          </a:p>
          <a:p>
            <a:endParaRPr lang="en-US" sz="1400" dirty="0">
              <a:solidFill>
                <a:srgbClr val="FFC000"/>
              </a:solidFill>
            </a:endParaRPr>
          </a:p>
          <a:p>
            <a:r>
              <a:rPr lang="en-US" sz="1400" dirty="0">
                <a:solidFill>
                  <a:srgbClr val="FFC000"/>
                </a:solidFill>
              </a:rPr>
              <a:t>Here, ‘</a:t>
            </a:r>
            <a:r>
              <a:rPr lang="en-US" sz="1400" dirty="0" err="1">
                <a:solidFill>
                  <a:srgbClr val="FFC000"/>
                </a:solidFill>
              </a:rPr>
              <a:t>arr</a:t>
            </a:r>
            <a:r>
              <a:rPr lang="en-US" sz="1400" dirty="0">
                <a:solidFill>
                  <a:srgbClr val="FFC000"/>
                </a:solidFill>
              </a:rPr>
              <a:t>’ seems some kind of address. Well if you are guessing if this is the address of the beginning of the array, </a:t>
            </a:r>
          </a:p>
          <a:p>
            <a:r>
              <a:rPr lang="en-US" sz="1400" dirty="0">
                <a:solidFill>
                  <a:srgbClr val="FFC000"/>
                </a:solidFill>
              </a:rPr>
              <a:t>then you are right.</a:t>
            </a:r>
          </a:p>
          <a:p>
            <a:endParaRPr lang="en-US" sz="1400" dirty="0"/>
          </a:p>
        </p:txBody>
      </p:sp>
    </p:spTree>
    <p:extLst>
      <p:ext uri="{BB962C8B-B14F-4D97-AF65-F5344CB8AC3E}">
        <p14:creationId xmlns:p14="http://schemas.microsoft.com/office/powerpoint/2010/main" val="26101154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05D845BC-0218-B009-73F4-F6DF10F8E6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AD4FA7-5C76-07DE-44DB-7FFEE1637677}"/>
              </a:ext>
            </a:extLst>
          </p:cNvPr>
          <p:cNvSpPr>
            <a:spLocks noGrp="1"/>
          </p:cNvSpPr>
          <p:nvPr>
            <p:ph type="ctrTitle"/>
          </p:nvPr>
        </p:nvSpPr>
        <p:spPr>
          <a:xfrm>
            <a:off x="1066800" y="1007533"/>
            <a:ext cx="2607733" cy="521230"/>
          </a:xfrm>
        </p:spPr>
        <p:txBody>
          <a:bodyPr>
            <a:normAutofit fontScale="90000"/>
          </a:bodyPr>
          <a:lstStyle/>
          <a:p>
            <a:pPr algn="l"/>
            <a:r>
              <a:rPr lang="en-US" sz="3200" dirty="0">
                <a:solidFill>
                  <a:srgbClr val="FFC000"/>
                </a:solidFill>
              </a:rPr>
              <a:t>likewise..</a:t>
            </a:r>
          </a:p>
        </p:txBody>
      </p:sp>
      <p:pic>
        <p:nvPicPr>
          <p:cNvPr id="4" name="Picture 3">
            <a:extLst>
              <a:ext uri="{FF2B5EF4-FFF2-40B4-BE49-F238E27FC236}">
                <a16:creationId xmlns:a16="http://schemas.microsoft.com/office/drawing/2014/main" id="{7740E137-C7F2-5F4C-86C8-34697A666D44}"/>
              </a:ext>
            </a:extLst>
          </p:cNvPr>
          <p:cNvPicPr>
            <a:picLocks noChangeAspect="1"/>
          </p:cNvPicPr>
          <p:nvPr/>
        </p:nvPicPr>
        <p:blipFill>
          <a:blip r:embed="rId2"/>
          <a:stretch>
            <a:fillRect/>
          </a:stretch>
        </p:blipFill>
        <p:spPr>
          <a:xfrm>
            <a:off x="1169233" y="1528763"/>
            <a:ext cx="7764905" cy="4693075"/>
          </a:xfrm>
          <a:prstGeom prst="rect">
            <a:avLst/>
          </a:prstGeom>
        </p:spPr>
      </p:pic>
      <p:pic>
        <p:nvPicPr>
          <p:cNvPr id="5" name="Picture 4">
            <a:extLst>
              <a:ext uri="{FF2B5EF4-FFF2-40B4-BE49-F238E27FC236}">
                <a16:creationId xmlns:a16="http://schemas.microsoft.com/office/drawing/2014/main" id="{E5DF681C-AD68-D935-B51B-F0B2951FA797}"/>
              </a:ext>
            </a:extLst>
          </p:cNvPr>
          <p:cNvPicPr>
            <a:picLocks noChangeAspect="1"/>
          </p:cNvPicPr>
          <p:nvPr/>
        </p:nvPicPr>
        <p:blipFill>
          <a:blip r:embed="rId3"/>
          <a:stretch>
            <a:fillRect/>
          </a:stretch>
        </p:blipFill>
        <p:spPr>
          <a:xfrm>
            <a:off x="7052872" y="5329237"/>
            <a:ext cx="5011711" cy="1305133"/>
          </a:xfrm>
          <a:prstGeom prst="rect">
            <a:avLst/>
          </a:prstGeom>
          <a:ln>
            <a:solidFill>
              <a:schemeClr val="accent3">
                <a:lumMod val="60000"/>
                <a:lumOff val="40000"/>
              </a:schemeClr>
            </a:solidFill>
          </a:ln>
        </p:spPr>
      </p:pic>
    </p:spTree>
    <p:extLst>
      <p:ext uri="{BB962C8B-B14F-4D97-AF65-F5344CB8AC3E}">
        <p14:creationId xmlns:p14="http://schemas.microsoft.com/office/powerpoint/2010/main" val="40182373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54F8AAF8-CD25-F274-C756-227E4B49D7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E84F71-8947-E0FA-D611-22D7D37620B0}"/>
              </a:ext>
            </a:extLst>
          </p:cNvPr>
          <p:cNvSpPr>
            <a:spLocks noGrp="1"/>
          </p:cNvSpPr>
          <p:nvPr>
            <p:ph type="ctrTitle"/>
          </p:nvPr>
        </p:nvSpPr>
        <p:spPr>
          <a:xfrm>
            <a:off x="2683240" y="1821305"/>
            <a:ext cx="7285219" cy="3045038"/>
          </a:xfrm>
        </p:spPr>
        <p:txBody>
          <a:bodyPr>
            <a:noAutofit/>
          </a:bodyPr>
          <a:lstStyle/>
          <a:p>
            <a:pPr algn="l"/>
            <a:r>
              <a:rPr lang="en-US" sz="2400" dirty="0">
                <a:solidFill>
                  <a:srgbClr val="FFC000"/>
                </a:solidFill>
              </a:rPr>
              <a:t>What is the key take away here?</a:t>
            </a:r>
            <a:br>
              <a:rPr lang="en-US" sz="2400" dirty="0">
                <a:solidFill>
                  <a:srgbClr val="FFC000"/>
                </a:solidFill>
              </a:rPr>
            </a:br>
            <a:br>
              <a:rPr lang="en-US" sz="2400" dirty="0">
                <a:solidFill>
                  <a:srgbClr val="FFC000"/>
                </a:solidFill>
              </a:rPr>
            </a:br>
            <a:r>
              <a:rPr lang="en-US" sz="2400" dirty="0">
                <a:solidFill>
                  <a:schemeClr val="accent5">
                    <a:lumMod val="40000"/>
                    <a:lumOff val="60000"/>
                  </a:schemeClr>
                </a:solidFill>
              </a:rPr>
              <a:t>int </a:t>
            </a:r>
            <a:r>
              <a:rPr lang="en-US" sz="2400" dirty="0" err="1">
                <a:solidFill>
                  <a:schemeClr val="accent5">
                    <a:lumMod val="40000"/>
                    <a:lumOff val="60000"/>
                  </a:schemeClr>
                </a:solidFill>
              </a:rPr>
              <a:t>arr</a:t>
            </a:r>
            <a:r>
              <a:rPr lang="en-US" sz="2400" dirty="0">
                <a:solidFill>
                  <a:schemeClr val="accent5">
                    <a:lumMod val="40000"/>
                    <a:lumOff val="60000"/>
                  </a:schemeClr>
                </a:solidFill>
              </a:rPr>
              <a:t>[]; </a:t>
            </a:r>
            <a:r>
              <a:rPr lang="en-US" sz="2400" dirty="0">
                <a:solidFill>
                  <a:schemeClr val="bg1"/>
                </a:solidFill>
              </a:rPr>
              <a:t>// here </a:t>
            </a:r>
            <a:r>
              <a:rPr lang="en-US" sz="2400" dirty="0" err="1">
                <a:solidFill>
                  <a:schemeClr val="bg1"/>
                </a:solidFill>
              </a:rPr>
              <a:t>arr</a:t>
            </a:r>
            <a:r>
              <a:rPr lang="en-US" sz="2400" dirty="0">
                <a:solidFill>
                  <a:schemeClr val="bg1"/>
                </a:solidFill>
              </a:rPr>
              <a:t> holds address of first element of </a:t>
            </a:r>
            <a:r>
              <a:rPr lang="en-US" sz="2400" dirty="0" err="1">
                <a:solidFill>
                  <a:schemeClr val="bg1"/>
                </a:solidFill>
              </a:rPr>
              <a:t>arr</a:t>
            </a:r>
            <a:br>
              <a:rPr lang="en-US" sz="2400" dirty="0">
                <a:solidFill>
                  <a:schemeClr val="bg1"/>
                </a:solidFill>
              </a:rPr>
            </a:br>
            <a:r>
              <a:rPr lang="en-US" sz="2400" dirty="0">
                <a:solidFill>
                  <a:schemeClr val="accent5">
                    <a:lumMod val="40000"/>
                    <a:lumOff val="60000"/>
                  </a:schemeClr>
                </a:solidFill>
              </a:rPr>
              <a:t>int* k; </a:t>
            </a:r>
            <a:r>
              <a:rPr lang="en-US" sz="2400" dirty="0">
                <a:solidFill>
                  <a:schemeClr val="bg1"/>
                </a:solidFill>
              </a:rPr>
              <a:t>// here k holds address of some int</a:t>
            </a:r>
            <a:br>
              <a:rPr lang="en-US" sz="2400" dirty="0">
                <a:solidFill>
                  <a:schemeClr val="bg1"/>
                </a:solidFill>
              </a:rPr>
            </a:br>
            <a:br>
              <a:rPr lang="en-US" sz="2400" dirty="0">
                <a:solidFill>
                  <a:schemeClr val="bg1"/>
                </a:solidFill>
              </a:rPr>
            </a:br>
            <a:r>
              <a:rPr lang="en-US" sz="2400" dirty="0">
                <a:solidFill>
                  <a:schemeClr val="bg1"/>
                </a:solidFill>
              </a:rPr>
              <a:t>So you can treat array as a pointer.</a:t>
            </a:r>
          </a:p>
        </p:txBody>
      </p:sp>
    </p:spTree>
    <p:extLst>
      <p:ext uri="{BB962C8B-B14F-4D97-AF65-F5344CB8AC3E}">
        <p14:creationId xmlns:p14="http://schemas.microsoft.com/office/powerpoint/2010/main" val="11069593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C8B97460-FC1F-FD31-2BED-C112FAB324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FC1E80-8634-849D-BC56-4FB254002EDB}"/>
              </a:ext>
            </a:extLst>
          </p:cNvPr>
          <p:cNvSpPr>
            <a:spLocks noGrp="1"/>
          </p:cNvSpPr>
          <p:nvPr>
            <p:ph type="ctrTitle"/>
          </p:nvPr>
        </p:nvSpPr>
        <p:spPr>
          <a:xfrm>
            <a:off x="1066799" y="1007533"/>
            <a:ext cx="10842885" cy="521230"/>
          </a:xfrm>
        </p:spPr>
        <p:txBody>
          <a:bodyPr>
            <a:normAutofit fontScale="90000"/>
          </a:bodyPr>
          <a:lstStyle/>
          <a:p>
            <a:pPr algn="l"/>
            <a:r>
              <a:rPr lang="en-US" sz="3200" dirty="0">
                <a:solidFill>
                  <a:srgbClr val="FFC000"/>
                </a:solidFill>
              </a:rPr>
              <a:t>so, this is possible. (traversing array using while loop instead of for loop)</a:t>
            </a:r>
          </a:p>
        </p:txBody>
      </p:sp>
      <p:pic>
        <p:nvPicPr>
          <p:cNvPr id="6" name="Picture 5">
            <a:extLst>
              <a:ext uri="{FF2B5EF4-FFF2-40B4-BE49-F238E27FC236}">
                <a16:creationId xmlns:a16="http://schemas.microsoft.com/office/drawing/2014/main" id="{7438671D-9744-18FF-4BB1-C52FCD71129D}"/>
              </a:ext>
            </a:extLst>
          </p:cNvPr>
          <p:cNvPicPr>
            <a:picLocks noChangeAspect="1"/>
          </p:cNvPicPr>
          <p:nvPr/>
        </p:nvPicPr>
        <p:blipFill>
          <a:blip r:embed="rId2"/>
          <a:stretch>
            <a:fillRect/>
          </a:stretch>
        </p:blipFill>
        <p:spPr>
          <a:xfrm>
            <a:off x="2063725" y="2016177"/>
            <a:ext cx="5821519" cy="4130710"/>
          </a:xfrm>
          <a:prstGeom prst="rect">
            <a:avLst/>
          </a:prstGeom>
        </p:spPr>
      </p:pic>
      <p:pic>
        <p:nvPicPr>
          <p:cNvPr id="7" name="Picture 6">
            <a:extLst>
              <a:ext uri="{FF2B5EF4-FFF2-40B4-BE49-F238E27FC236}">
                <a16:creationId xmlns:a16="http://schemas.microsoft.com/office/drawing/2014/main" id="{0FAAAA4C-FBE1-6C91-7269-05FEAA76A0EA}"/>
              </a:ext>
            </a:extLst>
          </p:cNvPr>
          <p:cNvPicPr>
            <a:picLocks noChangeAspect="1"/>
          </p:cNvPicPr>
          <p:nvPr/>
        </p:nvPicPr>
        <p:blipFill>
          <a:blip r:embed="rId3"/>
          <a:stretch>
            <a:fillRect/>
          </a:stretch>
        </p:blipFill>
        <p:spPr>
          <a:xfrm>
            <a:off x="6553616" y="4940647"/>
            <a:ext cx="3804700" cy="1819639"/>
          </a:xfrm>
          <a:prstGeom prst="rect">
            <a:avLst/>
          </a:prstGeom>
          <a:ln>
            <a:solidFill>
              <a:schemeClr val="accent3">
                <a:lumMod val="60000"/>
                <a:lumOff val="40000"/>
              </a:schemeClr>
            </a:solidFill>
          </a:ln>
        </p:spPr>
      </p:pic>
    </p:spTree>
    <p:extLst>
      <p:ext uri="{BB962C8B-B14F-4D97-AF65-F5344CB8AC3E}">
        <p14:creationId xmlns:p14="http://schemas.microsoft.com/office/powerpoint/2010/main" val="1107600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4C2D1A5A-BB66-6B89-BCF7-BD7361E35A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BDA3F3-04A6-AA2A-1FB3-3203C2E58271}"/>
              </a:ext>
            </a:extLst>
          </p:cNvPr>
          <p:cNvSpPr>
            <a:spLocks noGrp="1"/>
          </p:cNvSpPr>
          <p:nvPr>
            <p:ph type="ctrTitle"/>
          </p:nvPr>
        </p:nvSpPr>
        <p:spPr/>
        <p:txBody>
          <a:bodyPr>
            <a:normAutofit/>
          </a:bodyPr>
          <a:lstStyle/>
          <a:p>
            <a:r>
              <a:rPr lang="en-US" sz="4800" dirty="0">
                <a:solidFill>
                  <a:srgbClr val="FFC000"/>
                </a:solidFill>
              </a:rPr>
              <a:t>Dynamic Memory Allocation</a:t>
            </a:r>
            <a:br>
              <a:rPr lang="en-US" sz="4800" dirty="0">
                <a:solidFill>
                  <a:srgbClr val="FFC000"/>
                </a:solidFill>
              </a:rPr>
            </a:br>
            <a:r>
              <a:rPr lang="en-US" sz="2800" dirty="0">
                <a:solidFill>
                  <a:srgbClr val="FFC000"/>
                </a:solidFill>
              </a:rPr>
              <a:t>with examples</a:t>
            </a:r>
            <a:endParaRPr lang="en-US" sz="4800" dirty="0">
              <a:solidFill>
                <a:srgbClr val="FFC000"/>
              </a:solidFill>
            </a:endParaRPr>
          </a:p>
        </p:txBody>
      </p:sp>
      <p:sp>
        <p:nvSpPr>
          <p:cNvPr id="3" name="Subtitle 2">
            <a:extLst>
              <a:ext uri="{FF2B5EF4-FFF2-40B4-BE49-F238E27FC236}">
                <a16:creationId xmlns:a16="http://schemas.microsoft.com/office/drawing/2014/main" id="{663DB521-34AB-445C-97B2-C12DAC6A8ECF}"/>
              </a:ext>
            </a:extLst>
          </p:cNvPr>
          <p:cNvSpPr>
            <a:spLocks noGrp="1"/>
          </p:cNvSpPr>
          <p:nvPr>
            <p:ph type="subTitle" idx="1"/>
          </p:nvPr>
        </p:nvSpPr>
        <p:spPr/>
        <p:txBody>
          <a:bodyPr/>
          <a:lstStyle/>
          <a:p>
            <a:r>
              <a:rPr lang="en-US" dirty="0">
                <a:solidFill>
                  <a:schemeClr val="bg1"/>
                </a:solidFill>
              </a:rPr>
              <a:t>Unit-02.5</a:t>
            </a:r>
          </a:p>
        </p:txBody>
      </p:sp>
    </p:spTree>
    <p:extLst>
      <p:ext uri="{BB962C8B-B14F-4D97-AF65-F5344CB8AC3E}">
        <p14:creationId xmlns:p14="http://schemas.microsoft.com/office/powerpoint/2010/main" val="26043092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4BD52703-41CB-C3C5-D76B-0ABB307850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653E81-0E40-A0BF-2383-58618071859A}"/>
              </a:ext>
            </a:extLst>
          </p:cNvPr>
          <p:cNvSpPr>
            <a:spLocks noGrp="1"/>
          </p:cNvSpPr>
          <p:nvPr>
            <p:ph type="ctrTitle"/>
          </p:nvPr>
        </p:nvSpPr>
        <p:spPr>
          <a:xfrm>
            <a:off x="557134" y="1013319"/>
            <a:ext cx="7620000" cy="586881"/>
          </a:xfrm>
        </p:spPr>
        <p:txBody>
          <a:bodyPr>
            <a:normAutofit fontScale="90000"/>
          </a:bodyPr>
          <a:lstStyle/>
          <a:p>
            <a:pPr algn="l"/>
            <a:r>
              <a:rPr lang="en-US" sz="3600" dirty="0">
                <a:solidFill>
                  <a:srgbClr val="FFC000"/>
                </a:solidFill>
              </a:rPr>
              <a:t>One-D array example </a:t>
            </a:r>
            <a:br>
              <a:rPr lang="en-US" sz="3600" dirty="0">
                <a:solidFill>
                  <a:srgbClr val="FFC000"/>
                </a:solidFill>
              </a:rPr>
            </a:br>
            <a:r>
              <a:rPr lang="en-US" sz="1600" dirty="0">
                <a:solidFill>
                  <a:srgbClr val="FFC000"/>
                </a:solidFill>
              </a:rPr>
              <a:t>Illustrating Dynamic Memory Allocation </a:t>
            </a:r>
          </a:p>
        </p:txBody>
      </p:sp>
      <p:pic>
        <p:nvPicPr>
          <p:cNvPr id="6" name="Picture 5">
            <a:extLst>
              <a:ext uri="{FF2B5EF4-FFF2-40B4-BE49-F238E27FC236}">
                <a16:creationId xmlns:a16="http://schemas.microsoft.com/office/drawing/2014/main" id="{21507301-841A-BEDE-6662-6CD0452B9F0D}"/>
              </a:ext>
            </a:extLst>
          </p:cNvPr>
          <p:cNvPicPr>
            <a:picLocks noChangeAspect="1"/>
          </p:cNvPicPr>
          <p:nvPr/>
        </p:nvPicPr>
        <p:blipFill>
          <a:blip r:embed="rId2"/>
          <a:srcRect/>
          <a:stretch/>
        </p:blipFill>
        <p:spPr>
          <a:xfrm>
            <a:off x="748883" y="1784350"/>
            <a:ext cx="5522625" cy="3289300"/>
          </a:xfrm>
          <a:prstGeom prst="rect">
            <a:avLst/>
          </a:prstGeom>
        </p:spPr>
      </p:pic>
      <p:pic>
        <p:nvPicPr>
          <p:cNvPr id="11" name="Picture 10">
            <a:extLst>
              <a:ext uri="{FF2B5EF4-FFF2-40B4-BE49-F238E27FC236}">
                <a16:creationId xmlns:a16="http://schemas.microsoft.com/office/drawing/2014/main" id="{83DD1695-ACB5-5256-F45E-C18DA189D85F}"/>
              </a:ext>
            </a:extLst>
          </p:cNvPr>
          <p:cNvPicPr>
            <a:picLocks noChangeAspect="1"/>
          </p:cNvPicPr>
          <p:nvPr/>
        </p:nvPicPr>
        <p:blipFill>
          <a:blip r:embed="rId3"/>
          <a:stretch>
            <a:fillRect/>
          </a:stretch>
        </p:blipFill>
        <p:spPr>
          <a:xfrm>
            <a:off x="6975829" y="5169421"/>
            <a:ext cx="4224217" cy="406920"/>
          </a:xfrm>
          <a:prstGeom prst="rect">
            <a:avLst/>
          </a:prstGeom>
          <a:ln>
            <a:solidFill>
              <a:schemeClr val="accent3">
                <a:lumMod val="60000"/>
                <a:lumOff val="40000"/>
              </a:schemeClr>
            </a:solidFill>
          </a:ln>
        </p:spPr>
      </p:pic>
      <p:sp>
        <p:nvSpPr>
          <p:cNvPr id="12" name="Rounded Rectangle 11">
            <a:extLst>
              <a:ext uri="{FF2B5EF4-FFF2-40B4-BE49-F238E27FC236}">
                <a16:creationId xmlns:a16="http://schemas.microsoft.com/office/drawing/2014/main" id="{DF238C86-53B3-05B7-BFB3-58BAA8FD7949}"/>
              </a:ext>
            </a:extLst>
          </p:cNvPr>
          <p:cNvSpPr/>
          <p:nvPr/>
        </p:nvSpPr>
        <p:spPr>
          <a:xfrm>
            <a:off x="1234814" y="3795634"/>
            <a:ext cx="5036694" cy="389745"/>
          </a:xfrm>
          <a:prstGeom prst="roundRect">
            <a:avLst/>
          </a:prstGeom>
          <a:solidFill>
            <a:schemeClr val="accent2">
              <a:alpha val="17772"/>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FBE3CE94-FE7B-4B06-A943-D33DB75C35B3}"/>
              </a:ext>
            </a:extLst>
          </p:cNvPr>
          <p:cNvSpPr txBox="1"/>
          <p:nvPr/>
        </p:nvSpPr>
        <p:spPr>
          <a:xfrm>
            <a:off x="3287934" y="3795634"/>
            <a:ext cx="2983574" cy="369332"/>
          </a:xfrm>
          <a:prstGeom prst="rect">
            <a:avLst/>
          </a:prstGeom>
          <a:noFill/>
        </p:spPr>
        <p:txBody>
          <a:bodyPr wrap="none" rtlCol="0">
            <a:spAutoFit/>
          </a:bodyPr>
          <a:lstStyle/>
          <a:p>
            <a:r>
              <a:rPr lang="en-US" dirty="0">
                <a:solidFill>
                  <a:schemeClr val="accent5">
                    <a:lumMod val="40000"/>
                    <a:lumOff val="60000"/>
                  </a:schemeClr>
                </a:solidFill>
              </a:rPr>
              <a:t>Dynamic Memory Allocation</a:t>
            </a:r>
          </a:p>
        </p:txBody>
      </p:sp>
      <p:sp>
        <p:nvSpPr>
          <p:cNvPr id="15" name="TextBox 14">
            <a:extLst>
              <a:ext uri="{FF2B5EF4-FFF2-40B4-BE49-F238E27FC236}">
                <a16:creationId xmlns:a16="http://schemas.microsoft.com/office/drawing/2014/main" id="{569103D5-B037-4D42-306E-501B82E77E52}"/>
              </a:ext>
            </a:extLst>
          </p:cNvPr>
          <p:cNvSpPr txBox="1"/>
          <p:nvPr/>
        </p:nvSpPr>
        <p:spPr>
          <a:xfrm>
            <a:off x="6504008" y="517758"/>
            <a:ext cx="5167857" cy="1815882"/>
          </a:xfrm>
          <a:prstGeom prst="rect">
            <a:avLst/>
          </a:prstGeom>
          <a:noFill/>
        </p:spPr>
        <p:txBody>
          <a:bodyPr wrap="square">
            <a:spAutoFit/>
          </a:bodyPr>
          <a:lstStyle/>
          <a:p>
            <a:pPr algn="ctr"/>
            <a:r>
              <a:rPr lang="en-US" sz="1400" b="0" i="0" dirty="0">
                <a:solidFill>
                  <a:srgbClr val="F9F9F9"/>
                </a:solidFill>
                <a:effectLst/>
                <a:latin typeface="Söhne"/>
              </a:rPr>
              <a:t>Dynamic memory allocation in C++ refers to the process of allocating memory at runtime from the heap (rather than the stack) for storing data. It allows for the creation and manipulation of data structures whose size is not known at compile time. This is typically achieved using the </a:t>
            </a:r>
            <a:r>
              <a:rPr lang="en-US" sz="1400" dirty="0">
                <a:solidFill>
                  <a:schemeClr val="accent5">
                    <a:lumMod val="40000"/>
                    <a:lumOff val="60000"/>
                  </a:schemeClr>
                </a:solidFill>
              </a:rPr>
              <a:t>new</a:t>
            </a:r>
            <a:r>
              <a:rPr lang="en-US" sz="1400" b="0" i="0" dirty="0">
                <a:solidFill>
                  <a:srgbClr val="F9F9F9"/>
                </a:solidFill>
                <a:effectLst/>
                <a:latin typeface="Söhne"/>
              </a:rPr>
              <a:t> keyword to allocate memory and the </a:t>
            </a:r>
            <a:r>
              <a:rPr lang="en-US" sz="1400" dirty="0">
                <a:solidFill>
                  <a:schemeClr val="accent5">
                    <a:lumMod val="40000"/>
                    <a:lumOff val="60000"/>
                  </a:schemeClr>
                </a:solidFill>
              </a:rPr>
              <a:t>delete</a:t>
            </a:r>
            <a:r>
              <a:rPr lang="en-US" sz="1400" b="0" i="0" dirty="0">
                <a:solidFill>
                  <a:srgbClr val="F9F9F9"/>
                </a:solidFill>
                <a:effectLst/>
                <a:latin typeface="Söhne"/>
              </a:rPr>
              <a:t> keyword to deallocate it when it's no longer needed. Dynamic memory allocation provides flexibility but also requires careful management to avoid memory leaks or undefined behavior.</a:t>
            </a:r>
            <a:endParaRPr lang="en-US" sz="1400" dirty="0"/>
          </a:p>
        </p:txBody>
      </p:sp>
      <p:pic>
        <p:nvPicPr>
          <p:cNvPr id="16" name="Picture 15">
            <a:extLst>
              <a:ext uri="{FF2B5EF4-FFF2-40B4-BE49-F238E27FC236}">
                <a16:creationId xmlns:a16="http://schemas.microsoft.com/office/drawing/2014/main" id="{EAA69269-FDE0-4F00-8F2B-40C28968900C}"/>
              </a:ext>
            </a:extLst>
          </p:cNvPr>
          <p:cNvPicPr>
            <a:picLocks noChangeAspect="1"/>
          </p:cNvPicPr>
          <p:nvPr/>
        </p:nvPicPr>
        <p:blipFill>
          <a:blip r:embed="rId4"/>
          <a:stretch>
            <a:fillRect/>
          </a:stretch>
        </p:blipFill>
        <p:spPr>
          <a:xfrm>
            <a:off x="6293993" y="3105150"/>
            <a:ext cx="5778500" cy="1968500"/>
          </a:xfrm>
          <a:prstGeom prst="rect">
            <a:avLst/>
          </a:prstGeom>
        </p:spPr>
      </p:pic>
    </p:spTree>
    <p:extLst>
      <p:ext uri="{BB962C8B-B14F-4D97-AF65-F5344CB8AC3E}">
        <p14:creationId xmlns:p14="http://schemas.microsoft.com/office/powerpoint/2010/main" val="90903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D8A53437-B842-14CB-AA48-B05D5BEBCF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45C944-ACAA-1C82-F05F-0F9774A48868}"/>
              </a:ext>
            </a:extLst>
          </p:cNvPr>
          <p:cNvSpPr>
            <a:spLocks noGrp="1"/>
          </p:cNvSpPr>
          <p:nvPr>
            <p:ph type="ctrTitle"/>
          </p:nvPr>
        </p:nvSpPr>
        <p:spPr>
          <a:xfrm>
            <a:off x="557134" y="1013319"/>
            <a:ext cx="7620000" cy="586881"/>
          </a:xfrm>
        </p:spPr>
        <p:txBody>
          <a:bodyPr>
            <a:normAutofit fontScale="90000"/>
          </a:bodyPr>
          <a:lstStyle/>
          <a:p>
            <a:pPr algn="l"/>
            <a:r>
              <a:rPr lang="en-US" sz="3600" dirty="0">
                <a:solidFill>
                  <a:srgbClr val="FFC000"/>
                </a:solidFill>
              </a:rPr>
              <a:t>Two-D array example</a:t>
            </a:r>
            <a:br>
              <a:rPr lang="en-US" sz="3600" dirty="0">
                <a:solidFill>
                  <a:srgbClr val="FFC000"/>
                </a:solidFill>
              </a:rPr>
            </a:br>
            <a:r>
              <a:rPr lang="en-US" sz="1600" dirty="0">
                <a:solidFill>
                  <a:srgbClr val="FFC000"/>
                </a:solidFill>
              </a:rPr>
              <a:t>Illustrating Dynamic Memory Allocation | Generate 2x3 random array with low, high</a:t>
            </a:r>
          </a:p>
        </p:txBody>
      </p:sp>
      <p:pic>
        <p:nvPicPr>
          <p:cNvPr id="4" name="Picture 3">
            <a:extLst>
              <a:ext uri="{FF2B5EF4-FFF2-40B4-BE49-F238E27FC236}">
                <a16:creationId xmlns:a16="http://schemas.microsoft.com/office/drawing/2014/main" id="{59C9C576-EBEE-6E26-79A3-7D22F3B0B25D}"/>
              </a:ext>
            </a:extLst>
          </p:cNvPr>
          <p:cNvPicPr>
            <a:picLocks noChangeAspect="1"/>
          </p:cNvPicPr>
          <p:nvPr/>
        </p:nvPicPr>
        <p:blipFill>
          <a:blip r:embed="rId2"/>
          <a:stretch>
            <a:fillRect/>
          </a:stretch>
        </p:blipFill>
        <p:spPr>
          <a:xfrm>
            <a:off x="642182" y="1661201"/>
            <a:ext cx="6564171" cy="4244924"/>
          </a:xfrm>
          <a:prstGeom prst="rect">
            <a:avLst/>
          </a:prstGeom>
        </p:spPr>
      </p:pic>
      <p:pic>
        <p:nvPicPr>
          <p:cNvPr id="5" name="Picture 4">
            <a:extLst>
              <a:ext uri="{FF2B5EF4-FFF2-40B4-BE49-F238E27FC236}">
                <a16:creationId xmlns:a16="http://schemas.microsoft.com/office/drawing/2014/main" id="{4A11F068-A848-478B-D112-8168E41B36DF}"/>
              </a:ext>
            </a:extLst>
          </p:cNvPr>
          <p:cNvPicPr>
            <a:picLocks noChangeAspect="1"/>
          </p:cNvPicPr>
          <p:nvPr/>
        </p:nvPicPr>
        <p:blipFill>
          <a:blip r:embed="rId3"/>
          <a:stretch>
            <a:fillRect/>
          </a:stretch>
        </p:blipFill>
        <p:spPr>
          <a:xfrm>
            <a:off x="6908800" y="3239125"/>
            <a:ext cx="5283200" cy="2667000"/>
          </a:xfrm>
          <a:prstGeom prst="rect">
            <a:avLst/>
          </a:prstGeom>
        </p:spPr>
      </p:pic>
      <p:sp>
        <p:nvSpPr>
          <p:cNvPr id="7" name="Oval 6">
            <a:extLst>
              <a:ext uri="{FF2B5EF4-FFF2-40B4-BE49-F238E27FC236}">
                <a16:creationId xmlns:a16="http://schemas.microsoft.com/office/drawing/2014/main" id="{751059CC-299F-92F0-F09E-DC9B19CD106A}"/>
              </a:ext>
            </a:extLst>
          </p:cNvPr>
          <p:cNvSpPr/>
          <p:nvPr/>
        </p:nvSpPr>
        <p:spPr>
          <a:xfrm>
            <a:off x="557134" y="2194810"/>
            <a:ext cx="972440" cy="224852"/>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A22485B9-4C19-7AFC-87C7-EEB05778DD6D}"/>
              </a:ext>
            </a:extLst>
          </p:cNvPr>
          <p:cNvSpPr/>
          <p:nvPr/>
        </p:nvSpPr>
        <p:spPr>
          <a:xfrm>
            <a:off x="2013678" y="2322227"/>
            <a:ext cx="504669" cy="351018"/>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B17D44C1-7FAE-795D-3CDD-146EDB12A468}"/>
              </a:ext>
            </a:extLst>
          </p:cNvPr>
          <p:cNvSpPr/>
          <p:nvPr/>
        </p:nvSpPr>
        <p:spPr>
          <a:xfrm>
            <a:off x="549639" y="2750904"/>
            <a:ext cx="972440" cy="224852"/>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9450D1C4-8B42-3FD4-F1D5-2DEE13AAE5FB}"/>
              </a:ext>
            </a:extLst>
          </p:cNvPr>
          <p:cNvSpPr/>
          <p:nvPr/>
        </p:nvSpPr>
        <p:spPr>
          <a:xfrm>
            <a:off x="7120329" y="5032272"/>
            <a:ext cx="4841822" cy="199296"/>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 name="Group 18">
            <a:extLst>
              <a:ext uri="{FF2B5EF4-FFF2-40B4-BE49-F238E27FC236}">
                <a16:creationId xmlns:a16="http://schemas.microsoft.com/office/drawing/2014/main" id="{F39A1A10-9F23-C45E-5CFB-DECCE67B6E27}"/>
              </a:ext>
            </a:extLst>
          </p:cNvPr>
          <p:cNvGrpSpPr/>
          <p:nvPr/>
        </p:nvGrpSpPr>
        <p:grpSpPr>
          <a:xfrm>
            <a:off x="1332203" y="4008670"/>
            <a:ext cx="5036694" cy="259519"/>
            <a:chOff x="5574466" y="482494"/>
            <a:chExt cx="5036694" cy="389745"/>
          </a:xfrm>
        </p:grpSpPr>
        <p:sp>
          <p:nvSpPr>
            <p:cNvPr id="20" name="Rounded Rectangle 19">
              <a:extLst>
                <a:ext uri="{FF2B5EF4-FFF2-40B4-BE49-F238E27FC236}">
                  <a16:creationId xmlns:a16="http://schemas.microsoft.com/office/drawing/2014/main" id="{BA83479B-8C42-65AF-ABFF-8CC4A0F62242}"/>
                </a:ext>
              </a:extLst>
            </p:cNvPr>
            <p:cNvSpPr/>
            <p:nvPr/>
          </p:nvSpPr>
          <p:spPr>
            <a:xfrm>
              <a:off x="5574466" y="482494"/>
              <a:ext cx="5036694" cy="389745"/>
            </a:xfrm>
            <a:prstGeom prst="roundRect">
              <a:avLst/>
            </a:prstGeom>
            <a:solidFill>
              <a:schemeClr val="accent2">
                <a:alpha val="17772"/>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21" name="TextBox 20">
              <a:extLst>
                <a:ext uri="{FF2B5EF4-FFF2-40B4-BE49-F238E27FC236}">
                  <a16:creationId xmlns:a16="http://schemas.microsoft.com/office/drawing/2014/main" id="{150A6873-3666-2E2D-CF12-DB629BCCB579}"/>
                </a:ext>
              </a:extLst>
            </p:cNvPr>
            <p:cNvSpPr txBox="1"/>
            <p:nvPr/>
          </p:nvSpPr>
          <p:spPr>
            <a:xfrm>
              <a:off x="7627586" y="482494"/>
              <a:ext cx="1818126" cy="381331"/>
            </a:xfrm>
            <a:prstGeom prst="rect">
              <a:avLst/>
            </a:prstGeom>
            <a:noFill/>
          </p:spPr>
          <p:txBody>
            <a:bodyPr wrap="none" rtlCol="0">
              <a:spAutoFit/>
            </a:bodyPr>
            <a:lstStyle/>
            <a:p>
              <a:r>
                <a:rPr lang="en-US" sz="1050" dirty="0">
                  <a:solidFill>
                    <a:schemeClr val="accent5">
                      <a:lumMod val="40000"/>
                      <a:lumOff val="60000"/>
                    </a:schemeClr>
                  </a:solidFill>
                </a:rPr>
                <a:t>Dynamic Memory Allocation</a:t>
              </a:r>
            </a:p>
          </p:txBody>
        </p:sp>
      </p:grpSp>
      <p:grpSp>
        <p:nvGrpSpPr>
          <p:cNvPr id="22" name="Group 21">
            <a:extLst>
              <a:ext uri="{FF2B5EF4-FFF2-40B4-BE49-F238E27FC236}">
                <a16:creationId xmlns:a16="http://schemas.microsoft.com/office/drawing/2014/main" id="{CB58B134-0D45-6EEB-0A48-EB7C9A914394}"/>
              </a:ext>
            </a:extLst>
          </p:cNvPr>
          <p:cNvGrpSpPr/>
          <p:nvPr/>
        </p:nvGrpSpPr>
        <p:grpSpPr>
          <a:xfrm>
            <a:off x="1542110" y="4927574"/>
            <a:ext cx="5036694" cy="259519"/>
            <a:chOff x="5574466" y="482494"/>
            <a:chExt cx="5036694" cy="389745"/>
          </a:xfrm>
        </p:grpSpPr>
        <p:sp>
          <p:nvSpPr>
            <p:cNvPr id="23" name="Rounded Rectangle 22">
              <a:extLst>
                <a:ext uri="{FF2B5EF4-FFF2-40B4-BE49-F238E27FC236}">
                  <a16:creationId xmlns:a16="http://schemas.microsoft.com/office/drawing/2014/main" id="{55DE061D-61B2-C889-1493-F89E49BF2739}"/>
                </a:ext>
              </a:extLst>
            </p:cNvPr>
            <p:cNvSpPr/>
            <p:nvPr/>
          </p:nvSpPr>
          <p:spPr>
            <a:xfrm>
              <a:off x="5574466" y="482494"/>
              <a:ext cx="5036694" cy="389745"/>
            </a:xfrm>
            <a:prstGeom prst="roundRect">
              <a:avLst/>
            </a:prstGeom>
            <a:solidFill>
              <a:schemeClr val="accent2">
                <a:alpha val="17772"/>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24" name="TextBox 23">
              <a:extLst>
                <a:ext uri="{FF2B5EF4-FFF2-40B4-BE49-F238E27FC236}">
                  <a16:creationId xmlns:a16="http://schemas.microsoft.com/office/drawing/2014/main" id="{2FF4E21A-092F-BA2F-10D5-14D679A17697}"/>
                </a:ext>
              </a:extLst>
            </p:cNvPr>
            <p:cNvSpPr txBox="1"/>
            <p:nvPr/>
          </p:nvSpPr>
          <p:spPr>
            <a:xfrm>
              <a:off x="7627586" y="482494"/>
              <a:ext cx="1818126" cy="381331"/>
            </a:xfrm>
            <a:prstGeom prst="rect">
              <a:avLst/>
            </a:prstGeom>
            <a:noFill/>
          </p:spPr>
          <p:txBody>
            <a:bodyPr wrap="none" rtlCol="0">
              <a:spAutoFit/>
            </a:bodyPr>
            <a:lstStyle/>
            <a:p>
              <a:r>
                <a:rPr lang="en-US" sz="1050" dirty="0">
                  <a:solidFill>
                    <a:schemeClr val="accent5">
                      <a:lumMod val="40000"/>
                      <a:lumOff val="60000"/>
                    </a:schemeClr>
                  </a:solidFill>
                </a:rPr>
                <a:t>Dynamic Memory Allocation</a:t>
              </a:r>
            </a:p>
          </p:txBody>
        </p:sp>
      </p:grpSp>
      <p:sp>
        <p:nvSpPr>
          <p:cNvPr id="25" name="TextBox 24">
            <a:extLst>
              <a:ext uri="{FF2B5EF4-FFF2-40B4-BE49-F238E27FC236}">
                <a16:creationId xmlns:a16="http://schemas.microsoft.com/office/drawing/2014/main" id="{C76B1882-863B-7EAD-4B88-628093218389}"/>
              </a:ext>
            </a:extLst>
          </p:cNvPr>
          <p:cNvSpPr txBox="1"/>
          <p:nvPr/>
        </p:nvSpPr>
        <p:spPr>
          <a:xfrm>
            <a:off x="7206353" y="749748"/>
            <a:ext cx="3907095" cy="2215991"/>
          </a:xfrm>
          <a:prstGeom prst="rect">
            <a:avLst/>
          </a:prstGeom>
          <a:noFill/>
        </p:spPr>
        <p:txBody>
          <a:bodyPr wrap="none" rtlCol="0">
            <a:spAutoFit/>
          </a:bodyPr>
          <a:lstStyle/>
          <a:p>
            <a:r>
              <a:rPr lang="en-US" dirty="0">
                <a:solidFill>
                  <a:schemeClr val="accent5">
                    <a:lumMod val="40000"/>
                    <a:lumOff val="60000"/>
                  </a:schemeClr>
                </a:solidFill>
              </a:rPr>
              <a:t>Two Steps of </a:t>
            </a:r>
            <a:r>
              <a:rPr lang="en-US" dirty="0" err="1">
                <a:solidFill>
                  <a:schemeClr val="accent5">
                    <a:lumMod val="40000"/>
                    <a:lumOff val="60000"/>
                  </a:schemeClr>
                </a:solidFill>
              </a:rPr>
              <a:t>Dyn.Mem.All</a:t>
            </a:r>
            <a:endParaRPr lang="en-US" dirty="0">
              <a:solidFill>
                <a:schemeClr val="accent5">
                  <a:lumMod val="40000"/>
                  <a:lumOff val="60000"/>
                </a:schemeClr>
              </a:solidFill>
            </a:endParaRPr>
          </a:p>
          <a:p>
            <a:r>
              <a:rPr lang="en-US" dirty="0">
                <a:solidFill>
                  <a:schemeClr val="accent5">
                    <a:lumMod val="40000"/>
                    <a:lumOff val="60000"/>
                  </a:schemeClr>
                </a:solidFill>
              </a:rPr>
              <a:t>- First allocate number of rows</a:t>
            </a:r>
          </a:p>
          <a:p>
            <a:r>
              <a:rPr lang="en-US" dirty="0">
                <a:solidFill>
                  <a:schemeClr val="accent5">
                    <a:lumMod val="40000"/>
                    <a:lumOff val="60000"/>
                  </a:schemeClr>
                </a:solidFill>
              </a:rPr>
              <a:t>- Second allocate number of columns</a:t>
            </a:r>
          </a:p>
          <a:p>
            <a:endParaRPr lang="en-US" sz="1200" dirty="0">
              <a:solidFill>
                <a:schemeClr val="accent6"/>
              </a:solidFill>
            </a:endParaRPr>
          </a:p>
          <a:p>
            <a:r>
              <a:rPr lang="en-US" sz="1200" dirty="0">
                <a:solidFill>
                  <a:schemeClr val="accent2">
                    <a:lumMod val="40000"/>
                    <a:lumOff val="60000"/>
                  </a:schemeClr>
                </a:solidFill>
              </a:rPr>
              <a:t>What do you think we should do for 3D array?</a:t>
            </a:r>
          </a:p>
          <a:p>
            <a:r>
              <a:rPr lang="en-US" sz="1200" dirty="0">
                <a:solidFill>
                  <a:schemeClr val="accent2">
                    <a:lumMod val="40000"/>
                    <a:lumOff val="60000"/>
                  </a:schemeClr>
                </a:solidFill>
              </a:rPr>
              <a:t>Example – IMAGE</a:t>
            </a:r>
          </a:p>
          <a:p>
            <a:r>
              <a:rPr lang="en-US" sz="1200" dirty="0">
                <a:solidFill>
                  <a:schemeClr val="accent2">
                    <a:lumMod val="40000"/>
                    <a:lumOff val="60000"/>
                  </a:schemeClr>
                </a:solidFill>
              </a:rPr>
              <a:t>IMAGE in CG is represented as C x H x W, where,</a:t>
            </a:r>
          </a:p>
          <a:p>
            <a:r>
              <a:rPr lang="en-US" sz="1200" dirty="0">
                <a:solidFill>
                  <a:schemeClr val="accent2">
                    <a:lumMod val="40000"/>
                    <a:lumOff val="60000"/>
                  </a:schemeClr>
                </a:solidFill>
              </a:rPr>
              <a:t>C is number of color channels, RGB, which is 3</a:t>
            </a:r>
          </a:p>
          <a:p>
            <a:r>
              <a:rPr lang="en-US" sz="1200" dirty="0">
                <a:solidFill>
                  <a:schemeClr val="accent2">
                    <a:lumMod val="40000"/>
                    <a:lumOff val="60000"/>
                  </a:schemeClr>
                </a:solidFill>
              </a:rPr>
              <a:t>H is number of pixels in rows, or width of image</a:t>
            </a:r>
          </a:p>
          <a:p>
            <a:r>
              <a:rPr lang="en-US" sz="1200" dirty="0">
                <a:solidFill>
                  <a:schemeClr val="accent2">
                    <a:lumMod val="40000"/>
                    <a:lumOff val="60000"/>
                  </a:schemeClr>
                </a:solidFill>
              </a:rPr>
              <a:t>W is number of pixels in cols, or height of image</a:t>
            </a:r>
          </a:p>
        </p:txBody>
      </p:sp>
    </p:spTree>
    <p:extLst>
      <p:ext uri="{BB962C8B-B14F-4D97-AF65-F5344CB8AC3E}">
        <p14:creationId xmlns:p14="http://schemas.microsoft.com/office/powerpoint/2010/main" val="7446211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a:extLst>
            <a:ext uri="{FF2B5EF4-FFF2-40B4-BE49-F238E27FC236}">
              <a16:creationId xmlns:a16="http://schemas.microsoft.com/office/drawing/2014/main" id="{57C2191F-F31C-27AB-E948-B1375ABC9E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6A56CF-1BB9-04E3-8A76-145A4D544FDF}"/>
              </a:ext>
            </a:extLst>
          </p:cNvPr>
          <p:cNvSpPr>
            <a:spLocks noGrp="1"/>
          </p:cNvSpPr>
          <p:nvPr>
            <p:ph type="ctrTitle"/>
          </p:nvPr>
        </p:nvSpPr>
        <p:spPr>
          <a:xfrm>
            <a:off x="557134" y="1013319"/>
            <a:ext cx="7620000" cy="586881"/>
          </a:xfrm>
        </p:spPr>
        <p:txBody>
          <a:bodyPr>
            <a:normAutofit fontScale="90000"/>
          </a:bodyPr>
          <a:lstStyle/>
          <a:p>
            <a:pPr algn="l"/>
            <a:r>
              <a:rPr lang="en-US" sz="3600" dirty="0">
                <a:solidFill>
                  <a:srgbClr val="FFC000"/>
                </a:solidFill>
              </a:rPr>
              <a:t>Test Your knowledge.</a:t>
            </a:r>
            <a:br>
              <a:rPr lang="en-US" sz="3600" dirty="0">
                <a:solidFill>
                  <a:srgbClr val="FFC000"/>
                </a:solidFill>
              </a:rPr>
            </a:br>
            <a:r>
              <a:rPr lang="en-US" sz="1600" dirty="0">
                <a:solidFill>
                  <a:srgbClr val="FFC000"/>
                </a:solidFill>
              </a:rPr>
              <a:t>Find out why following is a stupid idea..</a:t>
            </a:r>
          </a:p>
        </p:txBody>
      </p:sp>
      <p:pic>
        <p:nvPicPr>
          <p:cNvPr id="3" name="Picture 2">
            <a:extLst>
              <a:ext uri="{FF2B5EF4-FFF2-40B4-BE49-F238E27FC236}">
                <a16:creationId xmlns:a16="http://schemas.microsoft.com/office/drawing/2014/main" id="{FB342472-61A6-BC73-4501-93706937DF4B}"/>
              </a:ext>
            </a:extLst>
          </p:cNvPr>
          <p:cNvPicPr>
            <a:picLocks noChangeAspect="1"/>
          </p:cNvPicPr>
          <p:nvPr/>
        </p:nvPicPr>
        <p:blipFill>
          <a:blip r:embed="rId2"/>
          <a:stretch>
            <a:fillRect/>
          </a:stretch>
        </p:blipFill>
        <p:spPr>
          <a:xfrm>
            <a:off x="2150720" y="1698781"/>
            <a:ext cx="7890559" cy="3460438"/>
          </a:xfrm>
          <a:prstGeom prst="rect">
            <a:avLst/>
          </a:prstGeom>
        </p:spPr>
      </p:pic>
    </p:spTree>
    <p:extLst>
      <p:ext uri="{BB962C8B-B14F-4D97-AF65-F5344CB8AC3E}">
        <p14:creationId xmlns:p14="http://schemas.microsoft.com/office/powerpoint/2010/main" val="32227908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5351</TotalTime>
  <Words>712</Words>
  <Application>Microsoft Macintosh PowerPoint</Application>
  <PresentationFormat>Widescreen</PresentationFormat>
  <Paragraphs>80</Paragraphs>
  <Slides>24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Aptos</vt:lpstr>
      <vt:lpstr>Aptos Display</vt:lpstr>
      <vt:lpstr>Arial</vt:lpstr>
      <vt:lpstr>Söhne</vt:lpstr>
      <vt:lpstr>Office Theme</vt:lpstr>
      <vt:lpstr>Pointers &amp; Dynamic Memory Allocation</vt:lpstr>
      <vt:lpstr>Address Operator</vt:lpstr>
      <vt:lpstr>PowerPoint Presentation</vt:lpstr>
      <vt:lpstr>Things you should know…</vt:lpstr>
      <vt:lpstr>Pointer Operator</vt:lpstr>
      <vt:lpstr>PowerPoint Presentation</vt:lpstr>
      <vt:lpstr>PowerPoint Presentation</vt:lpstr>
      <vt:lpstr>PowerPoint Presentation</vt:lpstr>
      <vt:lpstr>* as address resolution Operator</vt:lpstr>
      <vt:lpstr>PowerPoint Presentation</vt:lpstr>
      <vt:lpstr>PowerPoint Presentation</vt:lpstr>
      <vt:lpstr>PowerPoint Presentation</vt:lpstr>
      <vt:lpstr>PowerPoint Presentation</vt:lpstr>
      <vt:lpstr>PowerPoint Presentation</vt:lpstr>
      <vt:lpstr>Thought!!! Pointers as natural choice for array?</vt:lpstr>
      <vt:lpstr>Case study..</vt:lpstr>
      <vt:lpstr>Case study..</vt:lpstr>
      <vt:lpstr>likewise..</vt:lpstr>
      <vt:lpstr>What is the key take away here?  int arr[]; // here arr holds address of first element of arr int* k; // here k holds address of some int  So you can treat array as a pointer.</vt:lpstr>
      <vt:lpstr>so, this is possible. (traversing array using while loop instead of for loop)</vt:lpstr>
      <vt:lpstr>Dynamic Memory Allocation with examples</vt:lpstr>
      <vt:lpstr>One-D array example  Illustrating Dynamic Memory Allocation </vt:lpstr>
      <vt:lpstr>Two-D array example Illustrating Dynamic Memory Allocation | Generate 2x3 random array with low, high</vt:lpstr>
      <vt:lpstr>Test Your knowledge. Find out why following is a stupid idea..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Functions, Arrays, Vectors, Lists and for-loops</dc:title>
  <dc:creator>Bhandari, Keshav</dc:creator>
  <cp:lastModifiedBy>Bhandari, Keshav</cp:lastModifiedBy>
  <cp:revision>25</cp:revision>
  <dcterms:created xsi:type="dcterms:W3CDTF">2024-01-18T13:32:16Z</dcterms:created>
  <dcterms:modified xsi:type="dcterms:W3CDTF">2024-02-14T03:45:11Z</dcterms:modified>
</cp:coreProperties>
</file>
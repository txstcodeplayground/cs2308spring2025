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 id="269" r:id="rId15"/>
    <p:sldId id="270" r:id="rId16"/>
    <p:sldId id="271" r:id="rId17"/>
    <p:sldId id="273" r:id="rId18"/>
    <p:sldId id="275" r:id="rId19"/>
    <p:sldId id="284" r:id="rId20"/>
    <p:sldId id="276" r:id="rId21"/>
    <p:sldId id="278" r:id="rId22"/>
    <p:sldId id="280" r:id="rId23"/>
    <p:sldId id="281" r:id="rId24"/>
    <p:sldId id="282" r:id="rId25"/>
    <p:sldId id="285" r:id="rId26"/>
    <p:sldId id="286" r:id="rId27"/>
    <p:sldId id="287" r:id="rId28"/>
    <p:sldId id="288" r:id="rId29"/>
    <p:sldId id="289" r:id="rId30"/>
    <p:sldId id="292" r:id="rId31"/>
    <p:sldId id="294" r:id="rId32"/>
    <p:sldId id="293" r:id="rId33"/>
    <p:sldId id="29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14"/>
    <p:restoredTop sz="94365"/>
  </p:normalViewPr>
  <p:slideViewPr>
    <p:cSldViewPr snapToGrid="0">
      <p:cViewPr varScale="1">
        <p:scale>
          <a:sx n="137" d="100"/>
          <a:sy n="137" d="100"/>
        </p:scale>
        <p:origin x="35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6/17/24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21</a:t>
            </a:fld>
            <a:endParaRPr lang="en-US"/>
          </a:p>
        </p:txBody>
      </p:sp>
    </p:spTree>
    <p:extLst>
      <p:ext uri="{BB962C8B-B14F-4D97-AF65-F5344CB8AC3E}">
        <p14:creationId xmlns:p14="http://schemas.microsoft.com/office/powerpoint/2010/main" val="4204067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6/17/24</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6/17/24</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hyperlink" Target="https://leetcode.com/problems/last-stone-weight-ii/description/" TargetMode="External"/><Relationship Id="rId2" Type="http://schemas.openxmlformats.org/officeDocument/2006/relationships/hyperlink" Target="https://leetcode.com/problems/last-stone-weight/description/"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Abstract Data Structure</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Unit-06</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a:xfrm>
            <a:off x="1524000" y="2395030"/>
            <a:ext cx="9144000" cy="1655762"/>
          </a:xfrm>
        </p:spPr>
        <p:txBody>
          <a:bodyPr>
            <a:normAutofit fontScale="70000" lnSpcReduction="20000"/>
          </a:bodyPr>
          <a:lstStyle/>
          <a:p>
            <a:r>
              <a:rPr lang="en-US" sz="2800" dirty="0">
                <a:solidFill>
                  <a:schemeClr val="bg1"/>
                </a:solidFill>
              </a:rPr>
              <a:t>An abstract data structure (ADS) is a theoretical concept within computer science that </a:t>
            </a:r>
            <a:r>
              <a:rPr lang="en-US" sz="2800" dirty="0">
                <a:solidFill>
                  <a:srgbClr val="FFC000"/>
                </a:solidFill>
              </a:rPr>
              <a:t>specifies how data is organized</a:t>
            </a:r>
            <a:r>
              <a:rPr lang="en-US" sz="2800" dirty="0">
                <a:solidFill>
                  <a:schemeClr val="bg1"/>
                </a:solidFill>
              </a:rPr>
              <a:t>, </a:t>
            </a:r>
            <a:r>
              <a:rPr lang="en-US" sz="2800" dirty="0">
                <a:solidFill>
                  <a:srgbClr val="FFC000"/>
                </a:solidFill>
              </a:rPr>
              <a:t>stored</a:t>
            </a:r>
            <a:r>
              <a:rPr lang="en-US" sz="2800" dirty="0">
                <a:solidFill>
                  <a:schemeClr val="bg1"/>
                </a:solidFill>
              </a:rPr>
              <a:t>, and </a:t>
            </a:r>
            <a:r>
              <a:rPr lang="en-US" sz="2800" dirty="0">
                <a:solidFill>
                  <a:srgbClr val="FFC000"/>
                </a:solidFill>
              </a:rPr>
              <a:t>manipulated in a computer system</a:t>
            </a:r>
            <a:r>
              <a:rPr lang="en-US" sz="2800" dirty="0">
                <a:solidFill>
                  <a:schemeClr val="bg1"/>
                </a:solidFill>
              </a:rPr>
              <a:t>, without delving into the specifics of its implementation. It provides the necessary operations to access and manipulate the data it contains, focusing on what </a:t>
            </a:r>
            <a:r>
              <a:rPr lang="en-US" sz="2800" dirty="0">
                <a:solidFill>
                  <a:srgbClr val="FFC000"/>
                </a:solidFill>
              </a:rPr>
              <a:t>operations</a:t>
            </a:r>
            <a:r>
              <a:rPr lang="en-US" sz="2800" dirty="0">
                <a:solidFill>
                  <a:schemeClr val="bg1"/>
                </a:solidFill>
              </a:rPr>
              <a:t> are performed rather than how these operations are implemented. </a:t>
            </a:r>
            <a:r>
              <a:rPr lang="en-US" sz="2800" dirty="0">
                <a:solidFill>
                  <a:srgbClr val="FFC000"/>
                </a:solidFill>
              </a:rPr>
              <a:t>Abstract data structures form the foundation for designing and analyzing algorithms and are crucial for efficient data processing and storage.</a:t>
            </a: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2375748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8FEA1FB-11B7-7330-03E5-836508E1B54D}"/>
              </a:ext>
            </a:extLst>
          </p:cNvPr>
          <p:cNvSpPr txBox="1"/>
          <p:nvPr/>
        </p:nvSpPr>
        <p:spPr>
          <a:xfrm>
            <a:off x="110067" y="364067"/>
            <a:ext cx="11565467" cy="5632311"/>
          </a:xfrm>
          <a:prstGeom prst="rect">
            <a:avLst/>
          </a:prstGeom>
          <a:noFill/>
        </p:spPr>
        <p:txBody>
          <a:bodyPr wrap="square">
            <a:spAutoFit/>
          </a:bodyPr>
          <a:lstStyle/>
          <a:p>
            <a:pPr algn="just"/>
            <a:r>
              <a:rPr lang="en-US" b="1" dirty="0">
                <a:solidFill>
                  <a:srgbClr val="FFC000"/>
                </a:solidFill>
              </a:rPr>
              <a:t>Arrays</a:t>
            </a:r>
            <a:r>
              <a:rPr lang="en-US" b="1" dirty="0">
                <a:solidFill>
                  <a:schemeClr val="bg1"/>
                </a:solidFill>
              </a:rPr>
              <a:t>: A collection of elements identified by index or key, storing elements of the same type. Arrays allow fast access to elements but can be inefficient for insertion and deletion operations.</a:t>
            </a:r>
          </a:p>
          <a:p>
            <a:pPr algn="just"/>
            <a:endParaRPr lang="en-US" b="1" dirty="0">
              <a:solidFill>
                <a:schemeClr val="bg1"/>
              </a:solidFill>
            </a:endParaRPr>
          </a:p>
          <a:p>
            <a:pPr algn="just"/>
            <a:r>
              <a:rPr lang="en-US" b="1" dirty="0">
                <a:solidFill>
                  <a:srgbClr val="FFC000"/>
                </a:solidFill>
              </a:rPr>
              <a:t>Linked Lists</a:t>
            </a:r>
            <a:r>
              <a:rPr lang="en-US" b="1" dirty="0">
                <a:solidFill>
                  <a:schemeClr val="bg1"/>
                </a:solidFill>
              </a:rPr>
              <a:t>: Consist of nodes where each node contains data and a reference (or link) to the next node in the sequence. This structure allows for efficient insertion and deletion of elements.</a:t>
            </a:r>
          </a:p>
          <a:p>
            <a:pPr algn="just"/>
            <a:endParaRPr lang="en-US" b="1" dirty="0">
              <a:solidFill>
                <a:schemeClr val="bg1"/>
              </a:solidFill>
            </a:endParaRPr>
          </a:p>
          <a:p>
            <a:pPr algn="just"/>
            <a:r>
              <a:rPr lang="en-US" b="1" dirty="0">
                <a:solidFill>
                  <a:srgbClr val="FFC000"/>
                </a:solidFill>
              </a:rPr>
              <a:t>Stacks</a:t>
            </a:r>
            <a:r>
              <a:rPr lang="en-US" b="1" dirty="0">
                <a:solidFill>
                  <a:schemeClr val="bg1"/>
                </a:solidFill>
              </a:rPr>
              <a:t>: A collection that follows the Last In, First Out (LIFO) principle, where the most recently added element is the first to be removed. Stacks are useful for tasks such as reversing data or parsing expressions.</a:t>
            </a:r>
          </a:p>
          <a:p>
            <a:pPr algn="just"/>
            <a:endParaRPr lang="en-US" b="1" dirty="0">
              <a:solidFill>
                <a:schemeClr val="bg1"/>
              </a:solidFill>
            </a:endParaRPr>
          </a:p>
          <a:p>
            <a:pPr algn="just"/>
            <a:r>
              <a:rPr lang="en-US" b="1" dirty="0">
                <a:solidFill>
                  <a:srgbClr val="FFC000"/>
                </a:solidFill>
              </a:rPr>
              <a:t>Queues</a:t>
            </a:r>
            <a:r>
              <a:rPr lang="en-US" b="1" dirty="0">
                <a:solidFill>
                  <a:schemeClr val="bg1"/>
                </a:solidFill>
              </a:rPr>
              <a:t>: A collection that follows the First In, First Out (FIFO) principle, where the first element added is the first to be removed. Queues are used in scenarios like task scheduling and buffering.</a:t>
            </a:r>
          </a:p>
          <a:p>
            <a:pPr algn="just"/>
            <a:endParaRPr lang="en-US" b="1" dirty="0">
              <a:solidFill>
                <a:schemeClr val="bg1"/>
              </a:solidFill>
            </a:endParaRPr>
          </a:p>
          <a:p>
            <a:pPr algn="just"/>
            <a:r>
              <a:rPr lang="en-US" b="1" dirty="0">
                <a:solidFill>
                  <a:srgbClr val="FFC000"/>
                </a:solidFill>
              </a:rPr>
              <a:t>Trees</a:t>
            </a:r>
            <a:r>
              <a:rPr lang="en-US" b="1" dirty="0">
                <a:solidFill>
                  <a:schemeClr val="bg1"/>
                </a:solidFill>
              </a:rPr>
              <a:t>: A hierarchical data structure with a root value and subtrees of children with a parent node, represented as a set of linked nodes. Trees are used in databases, file systems, and for efficient searching and sorting.</a:t>
            </a:r>
          </a:p>
          <a:p>
            <a:pPr algn="just"/>
            <a:endParaRPr lang="en-US" b="1" dirty="0">
              <a:solidFill>
                <a:schemeClr val="bg1"/>
              </a:solidFill>
            </a:endParaRPr>
          </a:p>
          <a:p>
            <a:pPr algn="just"/>
            <a:r>
              <a:rPr lang="en-US" b="1" dirty="0">
                <a:solidFill>
                  <a:srgbClr val="FFC000"/>
                </a:solidFill>
              </a:rPr>
              <a:t>Graphs</a:t>
            </a:r>
            <a:r>
              <a:rPr lang="en-US" b="1" dirty="0">
                <a:solidFill>
                  <a:schemeClr val="bg1"/>
                </a:solidFill>
              </a:rPr>
              <a:t>: A collection of nodes (or vertices) connected by edges. Graphs can represent networks, such as social networks or transportation grids, and are used in various algorithms, including searching and pathfinding.</a:t>
            </a:r>
          </a:p>
          <a:p>
            <a:pPr algn="just"/>
            <a:endParaRPr lang="en-US" b="1" dirty="0">
              <a:solidFill>
                <a:schemeClr val="bg1"/>
              </a:solidFill>
            </a:endParaRPr>
          </a:p>
          <a:p>
            <a:pPr algn="just"/>
            <a:r>
              <a:rPr lang="en-US" b="1" dirty="0">
                <a:solidFill>
                  <a:srgbClr val="FFC000"/>
                </a:solidFill>
              </a:rPr>
              <a:t>Hash Tables</a:t>
            </a:r>
            <a:r>
              <a:rPr lang="en-US" b="1" dirty="0">
                <a:solidFill>
                  <a:schemeClr val="bg1"/>
                </a:solidFill>
              </a:rPr>
              <a:t>: Implements an associative array, a structure that can map keys to values. Hash tables are highly efficient for lookup and insertion operations and are widely used in database indexing.</a:t>
            </a:r>
          </a:p>
        </p:txBody>
      </p:sp>
    </p:spTree>
    <p:extLst>
      <p:ext uri="{BB962C8B-B14F-4D97-AF65-F5344CB8AC3E}">
        <p14:creationId xmlns:p14="http://schemas.microsoft.com/office/powerpoint/2010/main" val="389941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4FD9-34D0-27D8-728E-BA1CA2C0E95F}"/>
              </a:ext>
            </a:extLst>
          </p:cNvPr>
          <p:cNvSpPr>
            <a:spLocks noGrp="1"/>
          </p:cNvSpPr>
          <p:nvPr>
            <p:ph type="ctrTitle"/>
          </p:nvPr>
        </p:nvSpPr>
        <p:spPr>
          <a:xfrm>
            <a:off x="1524000" y="1122363"/>
            <a:ext cx="9144000" cy="2387600"/>
          </a:xfrm>
        </p:spPr>
        <p:txBody>
          <a:bodyPr>
            <a:normAutofit/>
          </a:bodyPr>
          <a:lstStyle/>
          <a:p>
            <a:r>
              <a:rPr lang="en-US" sz="4800" dirty="0">
                <a:solidFill>
                  <a:srgbClr val="FFC000"/>
                </a:solidFill>
              </a:rPr>
              <a:t>Linked Lists</a:t>
            </a:r>
          </a:p>
        </p:txBody>
      </p:sp>
    </p:spTree>
    <p:extLst>
      <p:ext uri="{BB962C8B-B14F-4D97-AF65-F5344CB8AC3E}">
        <p14:creationId xmlns:p14="http://schemas.microsoft.com/office/powerpoint/2010/main" val="3732797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1524000" y="2395030"/>
            <a:ext cx="9144000" cy="1655762"/>
          </a:xfrm>
        </p:spPr>
        <p:txBody>
          <a:bodyPr>
            <a:normAutofit fontScale="70000" lnSpcReduction="20000"/>
          </a:bodyPr>
          <a:lstStyle/>
          <a:p>
            <a:r>
              <a:rPr lang="en-US" sz="2800" dirty="0">
                <a:solidFill>
                  <a:schemeClr val="bg1"/>
                </a:solidFill>
              </a:rPr>
              <a:t>Linked lists are fundamental data structures that </a:t>
            </a:r>
            <a:r>
              <a:rPr lang="en-US" sz="2800" dirty="0">
                <a:solidFill>
                  <a:srgbClr val="FFC000"/>
                </a:solidFill>
              </a:rPr>
              <a:t>consist of a series of nodes, </a:t>
            </a:r>
            <a:r>
              <a:rPr lang="en-US" sz="2800" dirty="0">
                <a:solidFill>
                  <a:schemeClr val="bg1"/>
                </a:solidFill>
              </a:rPr>
              <a:t>where each node </a:t>
            </a:r>
            <a:r>
              <a:rPr lang="en-US" sz="2800" dirty="0">
                <a:solidFill>
                  <a:srgbClr val="FFC000"/>
                </a:solidFill>
              </a:rPr>
              <a:t>contains data and a reference (or link) to the next node in the list</a:t>
            </a:r>
            <a:r>
              <a:rPr lang="en-US" sz="2800" dirty="0">
                <a:solidFill>
                  <a:schemeClr val="bg1"/>
                </a:solidFill>
              </a:rPr>
              <a:t>. The structure allows for </a:t>
            </a:r>
            <a:r>
              <a:rPr lang="en-US" sz="2800" dirty="0">
                <a:solidFill>
                  <a:srgbClr val="FFC000"/>
                </a:solidFill>
              </a:rPr>
              <a:t>efficient insertion and deletion of elements because these operations do not require the elements to be contiguous in memory</a:t>
            </a:r>
            <a:r>
              <a:rPr lang="en-US" sz="2800" dirty="0">
                <a:solidFill>
                  <a:schemeClr val="bg1"/>
                </a:solidFill>
              </a:rPr>
              <a:t>. Linked lists come in several </a:t>
            </a:r>
            <a:r>
              <a:rPr lang="en-US" sz="2800" dirty="0">
                <a:solidFill>
                  <a:srgbClr val="FFC000"/>
                </a:solidFill>
              </a:rPr>
              <a:t>varieties, including singly linked lists, doubly linked lists, and circular linked lists, each offering different advantages for specific situations.</a:t>
            </a:r>
          </a:p>
          <a:p>
            <a:endParaRPr lang="en-US" sz="2800" dirty="0">
              <a:solidFill>
                <a:srgbClr val="FFC000"/>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3959865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31067" y="338147"/>
            <a:ext cx="6798733" cy="5546186"/>
          </a:xfrm>
        </p:spPr>
        <p:txBody>
          <a:bodyPr>
            <a:normAutofit fontScale="92500" lnSpcReduction="10000"/>
          </a:bodyPr>
          <a:lstStyle/>
          <a:p>
            <a:r>
              <a:rPr lang="en-US" sz="2000" dirty="0">
                <a:solidFill>
                  <a:srgbClr val="FFC000"/>
                </a:solidFill>
              </a:rPr>
              <a:t>Singly Linked Lists</a:t>
            </a:r>
          </a:p>
          <a:p>
            <a:r>
              <a:rPr lang="en-US" sz="2000" dirty="0">
                <a:solidFill>
                  <a:schemeClr val="bg1"/>
                </a:solidFill>
              </a:rPr>
              <a:t>In a singly linked list, each node points to the next node in the sequence, with the last node pointing to null, indicating the end of the list. This structure is simple and uses less memory per node (since there's only one pointer), but it can only be traversed in one direction.</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r>
              <a:rPr lang="en-US" sz="2000" dirty="0">
                <a:solidFill>
                  <a:srgbClr val="FFC000"/>
                </a:solidFill>
              </a:rPr>
              <a:t>Use Cases for Singly Linked Lists:</a:t>
            </a:r>
          </a:p>
          <a:p>
            <a:r>
              <a:rPr lang="en-US" sz="2000" i="1" dirty="0">
                <a:solidFill>
                  <a:srgbClr val="00B0F0"/>
                </a:solidFill>
              </a:rPr>
              <a:t>Implementation of stacks and queues:</a:t>
            </a:r>
            <a:r>
              <a:rPr lang="en-US" sz="2000" dirty="0">
                <a:solidFill>
                  <a:schemeClr val="bg1"/>
                </a:solidFill>
              </a:rPr>
              <a:t> Singly linked lists are well-suited for these data structures since elements are added and removed from the ends.</a:t>
            </a:r>
          </a:p>
          <a:p>
            <a:r>
              <a:rPr lang="en-US" sz="2000" i="1" dirty="0">
                <a:solidFill>
                  <a:srgbClr val="00B0F0"/>
                </a:solidFill>
              </a:rPr>
              <a:t>Lightweight and simple storage needs:</a:t>
            </a:r>
            <a:r>
              <a:rPr lang="en-US" sz="2000" dirty="0">
                <a:solidFill>
                  <a:schemeClr val="bg1"/>
                </a:solidFill>
              </a:rPr>
              <a:t> When the data structure's complexity and memory usage are critical factors, singly linked lists offer a straightforward and efficient solution.</a:t>
            </a:r>
          </a:p>
        </p:txBody>
      </p:sp>
      <p:pic>
        <p:nvPicPr>
          <p:cNvPr id="1026" name="Picture 2" descr="Types of Linked List - GeeksforGeeks">
            <a:extLst>
              <a:ext uri="{FF2B5EF4-FFF2-40B4-BE49-F238E27FC236}">
                <a16:creationId xmlns:a16="http://schemas.microsoft.com/office/drawing/2014/main" id="{10816122-AAF0-AA71-9E7F-628F18017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3846" y="2122811"/>
            <a:ext cx="4953173" cy="1619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789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94214"/>
            <a:ext cx="6798733" cy="601653"/>
          </a:xfrm>
        </p:spPr>
        <p:txBody>
          <a:bodyPr>
            <a:normAutofit/>
          </a:bodyPr>
          <a:lstStyle/>
          <a:p>
            <a:r>
              <a:rPr lang="en-US" sz="2000" dirty="0">
                <a:solidFill>
                  <a:srgbClr val="FFC000"/>
                </a:solidFill>
              </a:rPr>
              <a:t>Singly Linked Lists: Implementation</a:t>
            </a:r>
          </a:p>
        </p:txBody>
      </p:sp>
      <p:pic>
        <p:nvPicPr>
          <p:cNvPr id="2" name="Picture 1">
            <a:extLst>
              <a:ext uri="{FF2B5EF4-FFF2-40B4-BE49-F238E27FC236}">
                <a16:creationId xmlns:a16="http://schemas.microsoft.com/office/drawing/2014/main" id="{DA16A029-4CC4-9033-BF7B-2DCE4532924D}"/>
              </a:ext>
            </a:extLst>
          </p:cNvPr>
          <p:cNvPicPr>
            <a:picLocks noChangeAspect="1"/>
          </p:cNvPicPr>
          <p:nvPr/>
        </p:nvPicPr>
        <p:blipFill>
          <a:blip r:embed="rId2"/>
          <a:stretch>
            <a:fillRect/>
          </a:stretch>
        </p:blipFill>
        <p:spPr>
          <a:xfrm>
            <a:off x="365692" y="1537043"/>
            <a:ext cx="4302257" cy="3783913"/>
          </a:xfrm>
          <a:prstGeom prst="rect">
            <a:avLst/>
          </a:prstGeom>
        </p:spPr>
      </p:pic>
      <p:sp>
        <p:nvSpPr>
          <p:cNvPr id="3" name="Subtitle 2">
            <a:extLst>
              <a:ext uri="{FF2B5EF4-FFF2-40B4-BE49-F238E27FC236}">
                <a16:creationId xmlns:a16="http://schemas.microsoft.com/office/drawing/2014/main" id="{C5FCD22E-89EB-C8D5-F50F-79412EF9FE3C}"/>
              </a:ext>
            </a:extLst>
          </p:cNvPr>
          <p:cNvSpPr txBox="1">
            <a:spLocks/>
          </p:cNvSpPr>
          <p:nvPr/>
        </p:nvSpPr>
        <p:spPr>
          <a:xfrm>
            <a:off x="4667948" y="1128053"/>
            <a:ext cx="6798733" cy="60165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solidFill>
                  <a:srgbClr val="FFC000"/>
                </a:solidFill>
              </a:rPr>
              <a:t>Can you implement </a:t>
            </a:r>
            <a:r>
              <a:rPr lang="en-US" sz="2000" dirty="0">
                <a:solidFill>
                  <a:srgbClr val="00B0F0"/>
                </a:solidFill>
              </a:rPr>
              <a:t>insert</a:t>
            </a:r>
            <a:r>
              <a:rPr lang="en-US" sz="2000" dirty="0">
                <a:solidFill>
                  <a:srgbClr val="FFC000"/>
                </a:solidFill>
              </a:rPr>
              <a:t> and </a:t>
            </a:r>
            <a:r>
              <a:rPr lang="en-US" sz="2000" dirty="0">
                <a:solidFill>
                  <a:srgbClr val="00B0F0"/>
                </a:solidFill>
              </a:rPr>
              <a:t>delete</a:t>
            </a:r>
            <a:r>
              <a:rPr lang="en-US" sz="2000" dirty="0">
                <a:solidFill>
                  <a:srgbClr val="FFC000"/>
                </a:solidFill>
              </a:rPr>
              <a:t>?</a:t>
            </a:r>
          </a:p>
        </p:txBody>
      </p:sp>
      <p:sp>
        <p:nvSpPr>
          <p:cNvPr id="4" name="Subtitle 2">
            <a:extLst>
              <a:ext uri="{FF2B5EF4-FFF2-40B4-BE49-F238E27FC236}">
                <a16:creationId xmlns:a16="http://schemas.microsoft.com/office/drawing/2014/main" id="{D4244DDE-B26F-B831-0286-ED4490CC7B4C}"/>
              </a:ext>
            </a:extLst>
          </p:cNvPr>
          <p:cNvSpPr txBox="1">
            <a:spLocks/>
          </p:cNvSpPr>
          <p:nvPr/>
        </p:nvSpPr>
        <p:spPr>
          <a:xfrm>
            <a:off x="4817532" y="1729706"/>
            <a:ext cx="7008775" cy="22989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a:solidFill>
                  <a:srgbClr val="00B0F0"/>
                </a:solidFill>
              </a:rPr>
              <a:t>insert: </a:t>
            </a:r>
          </a:p>
          <a:p>
            <a:pPr marL="342900" indent="-342900" algn="l">
              <a:buFontTx/>
              <a:buChar char="-"/>
            </a:pPr>
            <a:r>
              <a:rPr lang="en-US" sz="2000" dirty="0">
                <a:solidFill>
                  <a:srgbClr val="FFC000"/>
                </a:solidFill>
              </a:rPr>
              <a:t>If the current node is last node, assign new node to </a:t>
            </a:r>
          </a:p>
          <a:p>
            <a:pPr marL="800100" lvl="1" indent="-342900" algn="l">
              <a:buFontTx/>
              <a:buChar char="-"/>
            </a:pPr>
            <a:r>
              <a:rPr lang="en-US" sz="1600" dirty="0">
                <a:solidFill>
                  <a:srgbClr val="FFC000"/>
                </a:solidFill>
              </a:rPr>
              <a:t>this-&gt;next</a:t>
            </a:r>
          </a:p>
          <a:p>
            <a:pPr marL="342900" indent="-342900" algn="l">
              <a:buFontTx/>
              <a:buChar char="-"/>
            </a:pPr>
            <a:r>
              <a:rPr lang="en-US" sz="2000" dirty="0">
                <a:solidFill>
                  <a:srgbClr val="FFC000"/>
                </a:solidFill>
              </a:rPr>
              <a:t>If the current node is some intermediate nodes, traverse to until you find the last node, and now assign the new node</a:t>
            </a:r>
          </a:p>
          <a:p>
            <a:pPr marL="342900" indent="-342900" algn="l">
              <a:buFontTx/>
              <a:buChar char="-"/>
            </a:pPr>
            <a:endParaRPr lang="en-US" sz="2000" dirty="0">
              <a:solidFill>
                <a:srgbClr val="FFC000"/>
              </a:solidFill>
            </a:endParaRPr>
          </a:p>
        </p:txBody>
      </p:sp>
      <p:sp>
        <p:nvSpPr>
          <p:cNvPr id="7" name="Subtitle 2">
            <a:extLst>
              <a:ext uri="{FF2B5EF4-FFF2-40B4-BE49-F238E27FC236}">
                <a16:creationId xmlns:a16="http://schemas.microsoft.com/office/drawing/2014/main" id="{1BDBBE06-7524-69CF-40A7-ACD6093A8FAB}"/>
              </a:ext>
            </a:extLst>
          </p:cNvPr>
          <p:cNvSpPr txBox="1">
            <a:spLocks/>
          </p:cNvSpPr>
          <p:nvPr/>
        </p:nvSpPr>
        <p:spPr>
          <a:xfrm>
            <a:off x="4817532" y="4028666"/>
            <a:ext cx="7008775" cy="229896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a:solidFill>
                  <a:srgbClr val="00B0F0"/>
                </a:solidFill>
              </a:rPr>
              <a:t>delete: </a:t>
            </a:r>
          </a:p>
          <a:p>
            <a:pPr marL="342900" indent="-342900" algn="l">
              <a:buFontTx/>
              <a:buChar char="-"/>
            </a:pPr>
            <a:r>
              <a:rPr lang="en-US" sz="2000" dirty="0">
                <a:solidFill>
                  <a:srgbClr val="FFC000"/>
                </a:solidFill>
              </a:rPr>
              <a:t>Check if the value matches</a:t>
            </a:r>
          </a:p>
          <a:p>
            <a:pPr marL="342900" indent="-342900" algn="l">
              <a:buFontTx/>
              <a:buChar char="-"/>
            </a:pPr>
            <a:r>
              <a:rPr lang="en-US" sz="2000" dirty="0">
                <a:solidFill>
                  <a:srgbClr val="FFC000"/>
                </a:solidFill>
              </a:rPr>
              <a:t>If matched: delete the node and join two neighboring nodes if the node is intermediate</a:t>
            </a:r>
          </a:p>
          <a:p>
            <a:pPr marL="342900" indent="-342900" algn="l">
              <a:buFontTx/>
              <a:buChar char="-"/>
            </a:pPr>
            <a:r>
              <a:rPr lang="en-US" sz="2000" dirty="0">
                <a:solidFill>
                  <a:srgbClr val="FFC000"/>
                </a:solidFill>
              </a:rPr>
              <a:t>If matched: delete the node and assign this-&gt;next a </a:t>
            </a:r>
            <a:r>
              <a:rPr lang="en-US" sz="2000" dirty="0" err="1">
                <a:solidFill>
                  <a:srgbClr val="FFC000"/>
                </a:solidFill>
              </a:rPr>
              <a:t>nullptr</a:t>
            </a:r>
            <a:r>
              <a:rPr lang="en-US" sz="2000" dirty="0">
                <a:solidFill>
                  <a:srgbClr val="FFC000"/>
                </a:solidFill>
              </a:rPr>
              <a:t> to the previous node if the node to be deleted is the last node</a:t>
            </a:r>
          </a:p>
        </p:txBody>
      </p:sp>
    </p:spTree>
    <p:extLst>
      <p:ext uri="{BB962C8B-B14F-4D97-AF65-F5344CB8AC3E}">
        <p14:creationId xmlns:p14="http://schemas.microsoft.com/office/powerpoint/2010/main" val="1632275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572127" y="-52166"/>
            <a:ext cx="6798733" cy="601653"/>
          </a:xfrm>
        </p:spPr>
        <p:txBody>
          <a:bodyPr>
            <a:normAutofit/>
          </a:bodyPr>
          <a:lstStyle/>
          <a:p>
            <a:r>
              <a:rPr lang="en-US" sz="2000" dirty="0">
                <a:solidFill>
                  <a:srgbClr val="FFC000"/>
                </a:solidFill>
              </a:rPr>
              <a:t>Singly Linked Lists: Implementation</a:t>
            </a:r>
          </a:p>
        </p:txBody>
      </p:sp>
      <p:pic>
        <p:nvPicPr>
          <p:cNvPr id="8" name="Picture 7">
            <a:extLst>
              <a:ext uri="{FF2B5EF4-FFF2-40B4-BE49-F238E27FC236}">
                <a16:creationId xmlns:a16="http://schemas.microsoft.com/office/drawing/2014/main" id="{72627627-0BBA-DF71-8351-D944D8662F3B}"/>
              </a:ext>
            </a:extLst>
          </p:cNvPr>
          <p:cNvPicPr>
            <a:picLocks noChangeAspect="1"/>
          </p:cNvPicPr>
          <p:nvPr/>
        </p:nvPicPr>
        <p:blipFill>
          <a:blip r:embed="rId2"/>
          <a:stretch>
            <a:fillRect/>
          </a:stretch>
        </p:blipFill>
        <p:spPr>
          <a:xfrm>
            <a:off x="88230" y="2549394"/>
            <a:ext cx="5478020" cy="4114392"/>
          </a:xfrm>
          <a:prstGeom prst="rect">
            <a:avLst/>
          </a:prstGeom>
        </p:spPr>
      </p:pic>
      <p:pic>
        <p:nvPicPr>
          <p:cNvPr id="9" name="Picture 8">
            <a:extLst>
              <a:ext uri="{FF2B5EF4-FFF2-40B4-BE49-F238E27FC236}">
                <a16:creationId xmlns:a16="http://schemas.microsoft.com/office/drawing/2014/main" id="{CA1321CF-C13D-2AA6-95C6-9F3A07246338}"/>
              </a:ext>
            </a:extLst>
          </p:cNvPr>
          <p:cNvPicPr>
            <a:picLocks noChangeAspect="1"/>
          </p:cNvPicPr>
          <p:nvPr/>
        </p:nvPicPr>
        <p:blipFill>
          <a:blip r:embed="rId3"/>
          <a:stretch>
            <a:fillRect/>
          </a:stretch>
        </p:blipFill>
        <p:spPr>
          <a:xfrm>
            <a:off x="5874067" y="0"/>
            <a:ext cx="6317933" cy="6858000"/>
          </a:xfrm>
          <a:prstGeom prst="rect">
            <a:avLst/>
          </a:prstGeom>
        </p:spPr>
      </p:pic>
      <p:pic>
        <p:nvPicPr>
          <p:cNvPr id="2" name="Picture 1">
            <a:extLst>
              <a:ext uri="{FF2B5EF4-FFF2-40B4-BE49-F238E27FC236}">
                <a16:creationId xmlns:a16="http://schemas.microsoft.com/office/drawing/2014/main" id="{109E0FE4-ED88-F10D-620F-D3647BB73DFA}"/>
              </a:ext>
            </a:extLst>
          </p:cNvPr>
          <p:cNvPicPr>
            <a:picLocks noChangeAspect="1"/>
          </p:cNvPicPr>
          <p:nvPr/>
        </p:nvPicPr>
        <p:blipFill>
          <a:blip r:embed="rId4"/>
          <a:stretch>
            <a:fillRect/>
          </a:stretch>
        </p:blipFill>
        <p:spPr>
          <a:xfrm>
            <a:off x="2384521" y="305929"/>
            <a:ext cx="3489546" cy="2421707"/>
          </a:xfrm>
          <a:prstGeom prst="rect">
            <a:avLst/>
          </a:prstGeom>
        </p:spPr>
      </p:pic>
    </p:spTree>
    <p:extLst>
      <p:ext uri="{BB962C8B-B14F-4D97-AF65-F5344CB8AC3E}">
        <p14:creationId xmlns:p14="http://schemas.microsoft.com/office/powerpoint/2010/main" val="829385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31067" y="338146"/>
            <a:ext cx="6798733" cy="6179611"/>
          </a:xfrm>
        </p:spPr>
        <p:txBody>
          <a:bodyPr>
            <a:normAutofit fontScale="92500" lnSpcReduction="10000"/>
          </a:bodyPr>
          <a:lstStyle/>
          <a:p>
            <a:r>
              <a:rPr lang="en-US" sz="2000" dirty="0">
                <a:solidFill>
                  <a:srgbClr val="FFC000"/>
                </a:solidFill>
              </a:rPr>
              <a:t>Doubly Linked Lists</a:t>
            </a:r>
          </a:p>
          <a:p>
            <a:r>
              <a:rPr lang="en-US" sz="2000" dirty="0">
                <a:solidFill>
                  <a:schemeClr val="bg1"/>
                </a:solidFill>
              </a:rPr>
              <a:t>Doubly linked lists allow each node to have two links: one pointing to the next node and one to the previous node. This bidirectional traversal capability makes some operations more efficient, such as deletion of a node when only the node to be deleted is given.</a:t>
            </a: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r>
              <a:rPr lang="en-US" sz="2000" dirty="0">
                <a:solidFill>
                  <a:srgbClr val="FFC000"/>
                </a:solidFill>
              </a:rPr>
              <a:t>Use Cases</a:t>
            </a:r>
          </a:p>
          <a:p>
            <a:r>
              <a:rPr lang="en-US" sz="2000" i="1" dirty="0">
                <a:solidFill>
                  <a:srgbClr val="00B0F0"/>
                </a:solidFill>
              </a:rPr>
              <a:t>Navigational systems: </a:t>
            </a:r>
            <a:r>
              <a:rPr lang="en-US" sz="2000" i="1" dirty="0">
                <a:solidFill>
                  <a:schemeClr val="bg1"/>
                </a:solidFill>
              </a:rPr>
              <a:t>The ability to move forward and backward through the list is useful in applications where users need to navigate through a set of items, such as a web browser's history.</a:t>
            </a:r>
          </a:p>
          <a:p>
            <a:r>
              <a:rPr lang="en-US" sz="2000" i="1" dirty="0">
                <a:solidFill>
                  <a:srgbClr val="00B0F0"/>
                </a:solidFill>
              </a:rPr>
              <a:t>Implementing data structures that require both ends access: </a:t>
            </a:r>
            <a:r>
              <a:rPr lang="en-US" sz="2000" i="1" dirty="0">
                <a:solidFill>
                  <a:schemeClr val="bg1"/>
                </a:solidFill>
              </a:rPr>
              <a:t>Doubly linked lists are ideal for implementing data structures like deques (double-ended queues) that require efficient operations on both ends of the sequence.</a:t>
            </a:r>
            <a:endParaRPr lang="en-US" sz="2000" dirty="0">
              <a:solidFill>
                <a:schemeClr val="bg1"/>
              </a:solidFill>
            </a:endParaRPr>
          </a:p>
        </p:txBody>
      </p:sp>
      <p:pic>
        <p:nvPicPr>
          <p:cNvPr id="3074" name="Picture 2" descr="Implementation of Doubly Linked List | Board Infinity">
            <a:extLst>
              <a:ext uri="{FF2B5EF4-FFF2-40B4-BE49-F238E27FC236}">
                <a16:creationId xmlns:a16="http://schemas.microsoft.com/office/drawing/2014/main" id="{9B345338-3E17-AB52-31B3-CF3599500E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892" b="30542"/>
          <a:stretch/>
        </p:blipFill>
        <p:spPr bwMode="auto">
          <a:xfrm>
            <a:off x="3377875" y="2175223"/>
            <a:ext cx="6105115" cy="1496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923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94214"/>
            <a:ext cx="6798733" cy="601653"/>
          </a:xfrm>
        </p:spPr>
        <p:txBody>
          <a:bodyPr>
            <a:normAutofit/>
          </a:bodyPr>
          <a:lstStyle/>
          <a:p>
            <a:r>
              <a:rPr lang="en-US" sz="2000" dirty="0">
                <a:solidFill>
                  <a:srgbClr val="FFC000"/>
                </a:solidFill>
              </a:rPr>
              <a:t>Double Linked Lists: Implementation</a:t>
            </a:r>
          </a:p>
        </p:txBody>
      </p:sp>
      <p:sp>
        <p:nvSpPr>
          <p:cNvPr id="3" name="Subtitle 2">
            <a:extLst>
              <a:ext uri="{FF2B5EF4-FFF2-40B4-BE49-F238E27FC236}">
                <a16:creationId xmlns:a16="http://schemas.microsoft.com/office/drawing/2014/main" id="{C5FCD22E-89EB-C8D5-F50F-79412EF9FE3C}"/>
              </a:ext>
            </a:extLst>
          </p:cNvPr>
          <p:cNvSpPr txBox="1">
            <a:spLocks/>
          </p:cNvSpPr>
          <p:nvPr/>
        </p:nvSpPr>
        <p:spPr>
          <a:xfrm>
            <a:off x="2696632" y="5359810"/>
            <a:ext cx="6798733" cy="9890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C000"/>
              </a:solidFill>
            </a:endParaRPr>
          </a:p>
          <a:p>
            <a:r>
              <a:rPr lang="en-US" sz="2000" dirty="0">
                <a:solidFill>
                  <a:srgbClr val="FFC000"/>
                </a:solidFill>
              </a:rPr>
              <a:t>How do we implement </a:t>
            </a:r>
            <a:r>
              <a:rPr lang="en-US" sz="2000" dirty="0">
                <a:solidFill>
                  <a:srgbClr val="00B0F0"/>
                </a:solidFill>
              </a:rPr>
              <a:t>insert</a:t>
            </a:r>
            <a:r>
              <a:rPr lang="en-US" sz="2000" dirty="0">
                <a:solidFill>
                  <a:srgbClr val="FFC000"/>
                </a:solidFill>
              </a:rPr>
              <a:t>, </a:t>
            </a:r>
            <a:r>
              <a:rPr lang="en-US" sz="2000" dirty="0">
                <a:solidFill>
                  <a:srgbClr val="00B0F0"/>
                </a:solidFill>
              </a:rPr>
              <a:t>delete</a:t>
            </a:r>
            <a:r>
              <a:rPr lang="en-US" sz="2000" dirty="0">
                <a:solidFill>
                  <a:srgbClr val="FFC000"/>
                </a:solidFill>
              </a:rPr>
              <a:t>?</a:t>
            </a:r>
          </a:p>
        </p:txBody>
      </p:sp>
      <p:pic>
        <p:nvPicPr>
          <p:cNvPr id="8" name="Picture 7">
            <a:extLst>
              <a:ext uri="{FF2B5EF4-FFF2-40B4-BE49-F238E27FC236}">
                <a16:creationId xmlns:a16="http://schemas.microsoft.com/office/drawing/2014/main" id="{762B1436-F2A9-9981-20A8-725488439A42}"/>
              </a:ext>
            </a:extLst>
          </p:cNvPr>
          <p:cNvPicPr>
            <a:picLocks noChangeAspect="1"/>
          </p:cNvPicPr>
          <p:nvPr/>
        </p:nvPicPr>
        <p:blipFill>
          <a:blip r:embed="rId2"/>
          <a:stretch>
            <a:fillRect/>
          </a:stretch>
        </p:blipFill>
        <p:spPr>
          <a:xfrm>
            <a:off x="1128064" y="1778590"/>
            <a:ext cx="9935871" cy="3046820"/>
          </a:xfrm>
          <a:prstGeom prst="rect">
            <a:avLst/>
          </a:prstGeom>
        </p:spPr>
      </p:pic>
    </p:spTree>
    <p:extLst>
      <p:ext uri="{BB962C8B-B14F-4D97-AF65-F5344CB8AC3E}">
        <p14:creationId xmlns:p14="http://schemas.microsoft.com/office/powerpoint/2010/main" val="961532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31067" y="338146"/>
            <a:ext cx="6798733" cy="6179611"/>
          </a:xfrm>
        </p:spPr>
        <p:txBody>
          <a:bodyPr>
            <a:normAutofit fontScale="92500" lnSpcReduction="10000"/>
          </a:bodyPr>
          <a:lstStyle/>
          <a:p>
            <a:r>
              <a:rPr lang="en-US" sz="2000" dirty="0">
                <a:solidFill>
                  <a:srgbClr val="FFC000"/>
                </a:solidFill>
              </a:rPr>
              <a:t>Circular Linked Lists</a:t>
            </a:r>
          </a:p>
          <a:p>
            <a:r>
              <a:rPr lang="en-US" sz="2000" dirty="0">
                <a:solidFill>
                  <a:schemeClr val="bg1"/>
                </a:solidFill>
              </a:rPr>
              <a:t>Circular linked lists are a variation of linked lists where the last node points back to the first node, forming a circle. This can be applied to both singly and doubly linked lists. Circular linked lists are useful for cyclically accessed data, where the list needs to be looped through repeatedly without needing to find the end.</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r>
              <a:rPr lang="en-US" sz="2000" dirty="0">
                <a:solidFill>
                  <a:srgbClr val="FFC000"/>
                </a:solidFill>
              </a:rPr>
              <a:t>Use Cases</a:t>
            </a:r>
          </a:p>
          <a:p>
            <a:r>
              <a:rPr lang="en-US" sz="2000" i="1" dirty="0">
                <a:solidFill>
                  <a:srgbClr val="00B0F0"/>
                </a:solidFill>
              </a:rPr>
              <a:t>Implementing round-robin schedulers: </a:t>
            </a:r>
            <a:r>
              <a:rPr lang="en-US" sz="2000" i="1" dirty="0">
                <a:solidFill>
                  <a:schemeClr val="bg1"/>
                </a:solidFill>
              </a:rPr>
              <a:t>In operating systems, circular linked lists can be used to manage processes in a round-robin scheduling algorithm efficiently.</a:t>
            </a:r>
          </a:p>
          <a:p>
            <a:r>
              <a:rPr lang="en-US" sz="2000" i="1" dirty="0">
                <a:solidFill>
                  <a:srgbClr val="00B0F0"/>
                </a:solidFill>
              </a:rPr>
              <a:t>Music playlists or slideshow applications: </a:t>
            </a:r>
            <a:r>
              <a:rPr lang="en-US" sz="2000" i="1" dirty="0">
                <a:solidFill>
                  <a:schemeClr val="bg1"/>
                </a:solidFill>
              </a:rPr>
              <a:t>Where the items (e.g., songs, images) need to be looped through continuously without interruption.</a:t>
            </a:r>
          </a:p>
        </p:txBody>
      </p:sp>
      <p:pic>
        <p:nvPicPr>
          <p:cNvPr id="5124" name="Picture 4" descr="JavaScript. Linked Lists. Circular List. | by Yuriy Berezskyy | Dev Genius">
            <a:extLst>
              <a:ext uri="{FF2B5EF4-FFF2-40B4-BE49-F238E27FC236}">
                <a16:creationId xmlns:a16="http://schemas.microsoft.com/office/drawing/2014/main" id="{52DE0279-225F-22A6-6FD6-EE3D7C4462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8089"/>
          <a:stretch/>
        </p:blipFill>
        <p:spPr bwMode="auto">
          <a:xfrm>
            <a:off x="2362200" y="2163639"/>
            <a:ext cx="8144934" cy="2107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78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2" y="689134"/>
            <a:ext cx="6798733" cy="385494"/>
          </a:xfrm>
        </p:spPr>
        <p:txBody>
          <a:bodyPr>
            <a:noAutofit/>
          </a:bodyPr>
          <a:lstStyle/>
          <a:p>
            <a:r>
              <a:rPr lang="en-US" dirty="0">
                <a:solidFill>
                  <a:srgbClr val="FFC000"/>
                </a:solidFill>
              </a:rPr>
              <a:t>Can you use previous concept and implement following </a:t>
            </a:r>
            <a:r>
              <a:rPr lang="en-US" dirty="0">
                <a:solidFill>
                  <a:srgbClr val="0070C0"/>
                </a:solidFill>
              </a:rPr>
              <a:t>Stack</a:t>
            </a:r>
            <a:r>
              <a:rPr lang="en-US" dirty="0">
                <a:solidFill>
                  <a:srgbClr val="FFC000"/>
                </a:solidFill>
              </a:rPr>
              <a:t>?</a:t>
            </a:r>
          </a:p>
        </p:txBody>
      </p:sp>
      <p:pic>
        <p:nvPicPr>
          <p:cNvPr id="7170" name="Picture 2" descr="Stack Definition &amp; Meaning in DSA - GeeksforGeeks">
            <a:extLst>
              <a:ext uri="{FF2B5EF4-FFF2-40B4-BE49-F238E27FC236}">
                <a16:creationId xmlns:a16="http://schemas.microsoft.com/office/drawing/2014/main" id="{169BECFE-24F3-3551-8F29-1D73DC133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239" y="1559292"/>
            <a:ext cx="7217521" cy="4224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0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2" y="689134"/>
            <a:ext cx="6798733" cy="385494"/>
          </a:xfrm>
        </p:spPr>
        <p:txBody>
          <a:bodyPr>
            <a:noAutofit/>
          </a:bodyPr>
          <a:lstStyle/>
          <a:p>
            <a:r>
              <a:rPr lang="en-US">
                <a:solidFill>
                  <a:srgbClr val="FFC000"/>
                </a:solidFill>
              </a:rPr>
              <a:t>Can you use previous concept and implement following </a:t>
            </a:r>
            <a:r>
              <a:rPr lang="en-US">
                <a:solidFill>
                  <a:srgbClr val="0070C0"/>
                </a:solidFill>
              </a:rPr>
              <a:t>Stack</a:t>
            </a:r>
            <a:r>
              <a:rPr lang="en-US">
                <a:solidFill>
                  <a:srgbClr val="FFC000"/>
                </a:solidFill>
              </a:rPr>
              <a:t>?</a:t>
            </a:r>
            <a:endParaRPr lang="en-US" dirty="0">
              <a:solidFill>
                <a:srgbClr val="FFC000"/>
              </a:solidFill>
            </a:endParaRPr>
          </a:p>
        </p:txBody>
      </p:sp>
      <p:pic>
        <p:nvPicPr>
          <p:cNvPr id="9220" name="Picture 4" descr="Queue Data Structure Tutorial | Talent Battle">
            <a:extLst>
              <a:ext uri="{FF2B5EF4-FFF2-40B4-BE49-F238E27FC236}">
                <a16:creationId xmlns:a16="http://schemas.microsoft.com/office/drawing/2014/main" id="{862C043D-3C05-2D15-FAA4-EFBDBDFCE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6633" y="1594210"/>
            <a:ext cx="6798734" cy="4737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351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sp>
        <p:nvSpPr>
          <p:cNvPr id="3" name="Subtitle 2">
            <a:extLst>
              <a:ext uri="{FF2B5EF4-FFF2-40B4-BE49-F238E27FC236}">
                <a16:creationId xmlns:a16="http://schemas.microsoft.com/office/drawing/2014/main" id="{E85CDF69-C9C8-AF38-137A-80A19B6CA71E}"/>
              </a:ext>
            </a:extLst>
          </p:cNvPr>
          <p:cNvSpPr txBox="1">
            <a:spLocks/>
          </p:cNvSpPr>
          <p:nvPr/>
        </p:nvSpPr>
        <p:spPr>
          <a:xfrm>
            <a:off x="376765" y="581526"/>
            <a:ext cx="11696702" cy="617961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000" i="1" dirty="0">
                <a:solidFill>
                  <a:srgbClr val="FFC000"/>
                </a:solidFill>
              </a:rPr>
              <a:t>Objective:</a:t>
            </a:r>
            <a:r>
              <a:rPr lang="en-US" sz="2000" i="1" dirty="0">
                <a:solidFill>
                  <a:srgbClr val="0070C0"/>
                </a:solidFill>
              </a:rPr>
              <a:t> </a:t>
            </a:r>
            <a:r>
              <a:rPr lang="en-US" sz="2000" i="1" dirty="0">
                <a:solidFill>
                  <a:schemeClr val="bg1"/>
                </a:solidFill>
              </a:rPr>
              <a:t>The main goal of this exercise is to simulate the call stack mechanism that happens in the background when functions call other functions, including recursive function calls. </a:t>
            </a:r>
            <a:r>
              <a:rPr lang="en-US" sz="2000" i="1" dirty="0">
                <a:solidFill>
                  <a:schemeClr val="accent1">
                    <a:lumMod val="40000"/>
                    <a:lumOff val="60000"/>
                  </a:schemeClr>
                </a:solidFill>
              </a:rPr>
              <a:t>Visualize the LIFO (Last In, First Out) nature of the call stack. </a:t>
            </a:r>
          </a:p>
          <a:p>
            <a:pPr algn="just"/>
            <a:endParaRPr lang="en-US" sz="2000" i="1" dirty="0">
              <a:solidFill>
                <a:schemeClr val="accent1">
                  <a:lumMod val="40000"/>
                  <a:lumOff val="60000"/>
                </a:schemeClr>
              </a:solidFill>
            </a:endParaRPr>
          </a:p>
          <a:p>
            <a:pPr algn="just"/>
            <a:r>
              <a:rPr lang="en-US" sz="2000" i="1" dirty="0">
                <a:solidFill>
                  <a:srgbClr val="FFC000"/>
                </a:solidFill>
              </a:rPr>
              <a:t>Step 1: Define the Stack Node</a:t>
            </a:r>
          </a:p>
          <a:p>
            <a:pPr algn="just"/>
            <a:r>
              <a:rPr lang="en-US" sz="2000" i="1" dirty="0">
                <a:solidFill>
                  <a:schemeClr val="accent1">
                    <a:lumMod val="40000"/>
                    <a:lumOff val="60000"/>
                  </a:schemeClr>
                </a:solidFill>
              </a:rPr>
              <a:t>Each node in the stack will represent a function call, containing the function's name and any relevant parameters or local variables.</a:t>
            </a:r>
          </a:p>
          <a:p>
            <a:pPr algn="just"/>
            <a:r>
              <a:rPr lang="en-US" sz="2000" i="1" dirty="0">
                <a:solidFill>
                  <a:srgbClr val="FFC000"/>
                </a:solidFill>
              </a:rPr>
              <a:t>Step 2: Implement the Call Stack</a:t>
            </a:r>
          </a:p>
          <a:p>
            <a:pPr algn="just"/>
            <a:r>
              <a:rPr lang="en-US" sz="2000" i="1" dirty="0">
                <a:solidFill>
                  <a:schemeClr val="accent1">
                    <a:lumMod val="40000"/>
                    <a:lumOff val="60000"/>
                  </a:schemeClr>
                </a:solidFill>
              </a:rPr>
              <a:t>Create a </a:t>
            </a:r>
            <a:r>
              <a:rPr lang="en-US" sz="2000" i="1" dirty="0" err="1">
                <a:solidFill>
                  <a:schemeClr val="accent1">
                    <a:lumMod val="40000"/>
                    <a:lumOff val="60000"/>
                  </a:schemeClr>
                </a:solidFill>
              </a:rPr>
              <a:t>CallStack</a:t>
            </a:r>
            <a:r>
              <a:rPr lang="en-US" sz="2000" i="1" dirty="0">
                <a:solidFill>
                  <a:schemeClr val="accent1">
                    <a:lumMod val="40000"/>
                    <a:lumOff val="60000"/>
                  </a:schemeClr>
                </a:solidFill>
              </a:rPr>
              <a:t> class to manage the function calls. Include methods to push a function onto the stack (simulating a function call) and pop a function from the stack (simulating returning from a function).</a:t>
            </a:r>
          </a:p>
          <a:p>
            <a:pPr algn="just"/>
            <a:endParaRPr lang="en-US" sz="2000" i="1" dirty="0">
              <a:solidFill>
                <a:schemeClr val="accent1">
                  <a:lumMod val="40000"/>
                  <a:lumOff val="60000"/>
                </a:schemeClr>
              </a:solidFill>
            </a:endParaRPr>
          </a:p>
          <a:p>
            <a:pPr algn="just"/>
            <a:r>
              <a:rPr lang="en-US" sz="2000" i="1" dirty="0">
                <a:solidFill>
                  <a:srgbClr val="FFC000"/>
                </a:solidFill>
              </a:rPr>
              <a:t>Step 3: Demonstrate with a Recursive Function</a:t>
            </a:r>
          </a:p>
          <a:p>
            <a:pPr algn="just"/>
            <a:r>
              <a:rPr lang="en-US" sz="2000" i="1" dirty="0">
                <a:solidFill>
                  <a:schemeClr val="accent1">
                    <a:lumMod val="40000"/>
                    <a:lumOff val="60000"/>
                  </a:schemeClr>
                </a:solidFill>
              </a:rPr>
              <a:t>Use the </a:t>
            </a:r>
            <a:r>
              <a:rPr lang="en-US" sz="2000" i="1" dirty="0" err="1">
                <a:solidFill>
                  <a:schemeClr val="accent1">
                    <a:lumMod val="40000"/>
                    <a:lumOff val="60000"/>
                  </a:schemeClr>
                </a:solidFill>
              </a:rPr>
              <a:t>CallStack</a:t>
            </a:r>
            <a:r>
              <a:rPr lang="en-US" sz="2000" i="1" dirty="0">
                <a:solidFill>
                  <a:schemeClr val="accent1">
                    <a:lumMod val="40000"/>
                    <a:lumOff val="60000"/>
                  </a:schemeClr>
                </a:solidFill>
              </a:rPr>
              <a:t> to simulate a simple recursive function, such as calculating factorial, to visualize how the call stack changes with each function call.</a:t>
            </a:r>
          </a:p>
          <a:p>
            <a:pPr algn="just"/>
            <a:endParaRPr lang="en-US" sz="2000" i="1" dirty="0">
              <a:solidFill>
                <a:schemeClr val="accent1">
                  <a:lumMod val="40000"/>
                  <a:lumOff val="60000"/>
                </a:schemeClr>
              </a:solidFill>
            </a:endParaRPr>
          </a:p>
          <a:p>
            <a:pPr algn="just"/>
            <a:endParaRPr lang="en-US" sz="2000" i="1" dirty="0">
              <a:solidFill>
                <a:schemeClr val="accent1">
                  <a:lumMod val="40000"/>
                  <a:lumOff val="60000"/>
                </a:schemeClr>
              </a:solidFill>
            </a:endParaRPr>
          </a:p>
          <a:p>
            <a:pPr algn="just"/>
            <a:endParaRPr lang="en-US" sz="2000" i="1" dirty="0">
              <a:solidFill>
                <a:schemeClr val="bg1"/>
              </a:solidFill>
            </a:endParaRPr>
          </a:p>
        </p:txBody>
      </p:sp>
    </p:spTree>
    <p:extLst>
      <p:ext uri="{BB962C8B-B14F-4D97-AF65-F5344CB8AC3E}">
        <p14:creationId xmlns:p14="http://schemas.microsoft.com/office/powerpoint/2010/main" val="3524593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pic>
        <p:nvPicPr>
          <p:cNvPr id="2" name="Picture 1">
            <a:extLst>
              <a:ext uri="{FF2B5EF4-FFF2-40B4-BE49-F238E27FC236}">
                <a16:creationId xmlns:a16="http://schemas.microsoft.com/office/drawing/2014/main" id="{2C0E54D9-5722-583C-88FD-4709BAAE9B78}"/>
              </a:ext>
            </a:extLst>
          </p:cNvPr>
          <p:cNvPicPr>
            <a:picLocks noChangeAspect="1"/>
          </p:cNvPicPr>
          <p:nvPr/>
        </p:nvPicPr>
        <p:blipFill>
          <a:blip r:embed="rId2"/>
          <a:stretch>
            <a:fillRect/>
          </a:stretch>
        </p:blipFill>
        <p:spPr>
          <a:xfrm>
            <a:off x="1087106" y="1749028"/>
            <a:ext cx="10017788" cy="3610371"/>
          </a:xfrm>
          <a:prstGeom prst="rect">
            <a:avLst/>
          </a:prstGeom>
        </p:spPr>
      </p:pic>
    </p:spTree>
    <p:extLst>
      <p:ext uri="{BB962C8B-B14F-4D97-AF65-F5344CB8AC3E}">
        <p14:creationId xmlns:p14="http://schemas.microsoft.com/office/powerpoint/2010/main" val="1549814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pic>
        <p:nvPicPr>
          <p:cNvPr id="3" name="Picture 2">
            <a:extLst>
              <a:ext uri="{FF2B5EF4-FFF2-40B4-BE49-F238E27FC236}">
                <a16:creationId xmlns:a16="http://schemas.microsoft.com/office/drawing/2014/main" id="{D416DA71-BDE2-6E21-CB82-F1A36CD0AA2B}"/>
              </a:ext>
            </a:extLst>
          </p:cNvPr>
          <p:cNvPicPr>
            <a:picLocks noChangeAspect="1"/>
          </p:cNvPicPr>
          <p:nvPr/>
        </p:nvPicPr>
        <p:blipFill>
          <a:blip r:embed="rId2"/>
          <a:stretch>
            <a:fillRect/>
          </a:stretch>
        </p:blipFill>
        <p:spPr>
          <a:xfrm>
            <a:off x="2696633" y="770110"/>
            <a:ext cx="6951921" cy="5802444"/>
          </a:xfrm>
          <a:prstGeom prst="rect">
            <a:avLst/>
          </a:prstGeom>
        </p:spPr>
      </p:pic>
    </p:spTree>
    <p:extLst>
      <p:ext uri="{BB962C8B-B14F-4D97-AF65-F5344CB8AC3E}">
        <p14:creationId xmlns:p14="http://schemas.microsoft.com/office/powerpoint/2010/main" val="2695007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pic>
        <p:nvPicPr>
          <p:cNvPr id="2" name="Picture 1">
            <a:extLst>
              <a:ext uri="{FF2B5EF4-FFF2-40B4-BE49-F238E27FC236}">
                <a16:creationId xmlns:a16="http://schemas.microsoft.com/office/drawing/2014/main" id="{1EBBC813-938E-CD04-3B87-28B984016483}"/>
              </a:ext>
            </a:extLst>
          </p:cNvPr>
          <p:cNvPicPr>
            <a:picLocks noChangeAspect="1"/>
          </p:cNvPicPr>
          <p:nvPr/>
        </p:nvPicPr>
        <p:blipFill>
          <a:blip r:embed="rId2"/>
          <a:stretch>
            <a:fillRect/>
          </a:stretch>
        </p:blipFill>
        <p:spPr>
          <a:xfrm>
            <a:off x="2209799" y="866477"/>
            <a:ext cx="7772400" cy="5609709"/>
          </a:xfrm>
          <a:prstGeom prst="rect">
            <a:avLst/>
          </a:prstGeom>
        </p:spPr>
      </p:pic>
    </p:spTree>
    <p:extLst>
      <p:ext uri="{BB962C8B-B14F-4D97-AF65-F5344CB8AC3E}">
        <p14:creationId xmlns:p14="http://schemas.microsoft.com/office/powerpoint/2010/main" val="1491483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22600" y="660139"/>
            <a:ext cx="6798733" cy="5283721"/>
          </a:xfrm>
        </p:spPr>
        <p:txBody>
          <a:bodyPr>
            <a:normAutofit/>
          </a:bodyPr>
          <a:lstStyle/>
          <a:p>
            <a:r>
              <a:rPr lang="en-US" sz="5200" dirty="0">
                <a:solidFill>
                  <a:srgbClr val="FFC000"/>
                </a:solidFill>
              </a:rPr>
              <a:t>Heap</a:t>
            </a:r>
          </a:p>
          <a:p>
            <a:pPr>
              <a:lnSpc>
                <a:spcPct val="120000"/>
              </a:lnSpc>
            </a:pPr>
            <a:r>
              <a:rPr lang="en-US" sz="2000" dirty="0">
                <a:solidFill>
                  <a:schemeClr val="bg1"/>
                </a:solidFill>
                <a:latin typeface="Tahoma" panose="020B0604030504040204" pitchFamily="34" charset="0"/>
                <a:ea typeface="Tahoma" panose="020B0604030504040204" pitchFamily="34" charset="0"/>
                <a:cs typeface="Tahoma" panose="020B0604030504040204" pitchFamily="34" charset="0"/>
              </a:rPr>
              <a:t>The heap is a specialized tree-based data structure that satisfies the heap property. </a:t>
            </a:r>
            <a:r>
              <a:rPr lang="en-US" sz="2000" i="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In a heap, for any given node C, if P is a parent node of C, then the key (the value) of P is either greater than or equal to (in a max heap) or less than or equal to (in a min heap) the key of C. </a:t>
            </a:r>
            <a:r>
              <a:rPr lang="en-US" sz="2000" dirty="0">
                <a:solidFill>
                  <a:schemeClr val="bg1"/>
                </a:solidFill>
                <a:latin typeface="Tahoma" panose="020B0604030504040204" pitchFamily="34" charset="0"/>
                <a:ea typeface="Tahoma" panose="020B0604030504040204" pitchFamily="34" charset="0"/>
                <a:cs typeface="Tahoma" panose="020B0604030504040204" pitchFamily="34" charset="0"/>
              </a:rPr>
              <a:t>The node at the "top" of the heap (the root node) contains the largest key (in a max heap) or the smallest key (in a min heap). Heaps are crucial in implementing priority queues, where the queue's element with the highest priority is always at the front.</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spTree>
    <p:extLst>
      <p:ext uri="{BB962C8B-B14F-4D97-AF65-F5344CB8AC3E}">
        <p14:creationId xmlns:p14="http://schemas.microsoft.com/office/powerpoint/2010/main" val="1882813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graphicFrame>
        <p:nvGraphicFramePr>
          <p:cNvPr id="4" name="Table 3">
            <a:extLst>
              <a:ext uri="{FF2B5EF4-FFF2-40B4-BE49-F238E27FC236}">
                <a16:creationId xmlns:a16="http://schemas.microsoft.com/office/drawing/2014/main" id="{6B70D52C-7D1D-07E2-535E-266C58DBCAB2}"/>
              </a:ext>
            </a:extLst>
          </p:cNvPr>
          <p:cNvGraphicFramePr>
            <a:graphicFrameLocks noGrp="1"/>
          </p:cNvGraphicFramePr>
          <p:nvPr>
            <p:extLst>
              <p:ext uri="{D42A27DB-BD31-4B8C-83A1-F6EECF244321}">
                <p14:modId xmlns:p14="http://schemas.microsoft.com/office/powerpoint/2010/main" val="1325721014"/>
              </p:ext>
            </p:extLst>
          </p:nvPr>
        </p:nvGraphicFramePr>
        <p:xfrm>
          <a:off x="0" y="-121920"/>
          <a:ext cx="12192000" cy="6888480"/>
        </p:xfrm>
        <a:graphic>
          <a:graphicData uri="http://schemas.openxmlformats.org/drawingml/2006/table">
            <a:tbl>
              <a:tblPr firstRow="1" bandRow="1">
                <a:tableStyleId>{5C22544A-7EE6-4342-B048-85BDC9FD1C3A}</a:tableStyleId>
              </a:tblPr>
              <a:tblGrid>
                <a:gridCol w="3299791">
                  <a:extLst>
                    <a:ext uri="{9D8B030D-6E8A-4147-A177-3AD203B41FA5}">
                      <a16:colId xmlns:a16="http://schemas.microsoft.com/office/drawing/2014/main" val="958782365"/>
                    </a:ext>
                  </a:extLst>
                </a:gridCol>
                <a:gridCol w="8892209">
                  <a:extLst>
                    <a:ext uri="{9D8B030D-6E8A-4147-A177-3AD203B41FA5}">
                      <a16:colId xmlns:a16="http://schemas.microsoft.com/office/drawing/2014/main" val="1156395318"/>
                    </a:ext>
                  </a:extLst>
                </a:gridCol>
              </a:tblGrid>
              <a:tr h="260405">
                <a:tc gridSpan="2">
                  <a:txBody>
                    <a:bodyPr/>
                    <a:lstStyle/>
                    <a:p>
                      <a:pPr algn="ctr"/>
                      <a:endParaRPr lang="en-US" sz="1400" b="1" dirty="0"/>
                    </a:p>
                  </a:txBody>
                  <a:tcPr anchor="ctr">
                    <a:lnL w="12700" cmpd="sng">
                      <a:noFill/>
                    </a:lnL>
                    <a:lnR w="19050" cap="flat" cmpd="sng" algn="ctr">
                      <a:noFill/>
                      <a:prstDash val="sysDot"/>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en-US" dirty="0"/>
                    </a:p>
                  </a:txBody>
                  <a:tcPr>
                    <a:lnL w="19050" cap="flat" cmpd="sng" algn="ctr">
                      <a:solidFill>
                        <a:schemeClr val="bg1"/>
                      </a:solidFill>
                      <a:prstDash val="sysDot"/>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8500100"/>
                  </a:ext>
                </a:extLst>
              </a:tr>
              <a:tr h="765951">
                <a:tc>
                  <a:txBody>
                    <a:bodyPr/>
                    <a:lstStyle/>
                    <a:p>
                      <a:pPr algn="r"/>
                      <a:r>
                        <a:rPr lang="en-US" sz="2400" b="1" i="1" dirty="0">
                          <a:solidFill>
                            <a:srgbClr val="FFC000"/>
                          </a:solidFill>
                        </a:rPr>
                        <a:t>Priority Queues</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For processing tasks based on priority, not order, crucial in operating systems, network routers, and simulations.</a:t>
                      </a:r>
                    </a:p>
                  </a:txBody>
                  <a:tcPr>
                    <a:lnL w="19050" cap="flat" cmpd="sng" algn="ctr">
                      <a:solidFill>
                        <a:schemeClr val="bg1"/>
                      </a:solidFill>
                      <a:prstDash val="sysDot"/>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87612558"/>
                  </a:ext>
                </a:extLst>
              </a:tr>
              <a:tr h="765951">
                <a:tc>
                  <a:txBody>
                    <a:bodyPr/>
                    <a:lstStyle/>
                    <a:p>
                      <a:pPr algn="r"/>
                      <a:r>
                        <a:rPr lang="en-US" sz="2400" b="1" i="1" dirty="0">
                          <a:solidFill>
                            <a:srgbClr val="FFC000"/>
                          </a:solidFill>
                        </a:rPr>
                        <a:t>Sorting</a:t>
                      </a:r>
                      <a:endParaRPr lang="en-US" sz="2400" dirty="0"/>
                    </a:p>
                  </a:txBody>
                  <a:tcPr>
                    <a:lnL w="12700" cmpd="sng">
                      <a:noFill/>
                    </a:lnL>
                    <a:lnR w="19050" cap="flat" cmpd="sng" algn="ctr">
                      <a:solidFill>
                        <a:schemeClr val="bg1"/>
                      </a:solidFill>
                      <a:prstDash val="sysDot"/>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Heapsort utilizes heaps for efficient, in-place sorting, beneficial for large datasets.</a:t>
                      </a:r>
                    </a:p>
                  </a:txBody>
                  <a:tcPr>
                    <a:lnL w="19050" cap="flat" cmpd="sng" algn="ctr">
                      <a:solidFill>
                        <a:schemeClr val="bg1"/>
                      </a:solidFill>
                      <a:prstDash val="sysDot"/>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58569305"/>
                  </a:ext>
                </a:extLst>
              </a:tr>
              <a:tr h="765951">
                <a:tc>
                  <a:txBody>
                    <a:bodyPr/>
                    <a:lstStyle/>
                    <a:p>
                      <a:pPr algn="r"/>
                      <a:r>
                        <a:rPr lang="en-US" sz="2400" b="1" i="1" dirty="0">
                          <a:solidFill>
                            <a:srgbClr val="FFC000"/>
                          </a:solidFill>
                        </a:rPr>
                        <a:t>Graph Algorithms</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Improves computational efficiency in algorithms like Dijkstra's and Prim's by selecting the next node to process.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8970466"/>
                  </a:ext>
                </a:extLst>
              </a:tr>
              <a:tr h="765951">
                <a:tc>
                  <a:txBody>
                    <a:bodyPr/>
                    <a:lstStyle/>
                    <a:p>
                      <a:pPr algn="r"/>
                      <a:r>
                        <a:rPr lang="en-US" sz="2400" b="1" i="1" dirty="0">
                          <a:solidFill>
                            <a:srgbClr val="FFC000"/>
                          </a:solidFill>
                        </a:rPr>
                        <a:t>Stream Processing</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Maintains top elements in data streams, useful in real-time analytics and monitoring systems.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6164388"/>
                  </a:ext>
                </a:extLst>
              </a:tr>
              <a:tr h="765951">
                <a:tc>
                  <a:txBody>
                    <a:bodyPr/>
                    <a:lstStyle/>
                    <a:p>
                      <a:pPr algn="r"/>
                      <a:r>
                        <a:rPr lang="en-US" sz="2400" b="1" i="1" dirty="0">
                          <a:solidFill>
                            <a:srgbClr val="FFC000"/>
                          </a:solidFill>
                        </a:rPr>
                        <a:t>Memory Management</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Used in memory allocation and garbage collection in operating systems to prevent fragmentation.</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5588018"/>
                  </a:ext>
                </a:extLst>
              </a:tr>
              <a:tr h="765951">
                <a:tc>
                  <a:txBody>
                    <a:bodyPr/>
                    <a:lstStyle/>
                    <a:p>
                      <a:pPr algn="r"/>
                      <a:r>
                        <a:rPr lang="en-US" sz="2400" b="1" i="1" dirty="0">
                          <a:solidFill>
                            <a:srgbClr val="FFC000"/>
                          </a:solidFill>
                        </a:rPr>
                        <a:t>Data Compression</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Builds Huffman trees for efficient encoding and decoding in compression algorithms.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6623786"/>
                  </a:ext>
                </a:extLst>
              </a:tr>
              <a:tr h="765951">
                <a:tc>
                  <a:txBody>
                    <a:bodyPr/>
                    <a:lstStyle/>
                    <a:p>
                      <a:pPr algn="r"/>
                      <a:r>
                        <a:rPr lang="en-US" sz="2400" b="1" i="1" dirty="0">
                          <a:solidFill>
                            <a:srgbClr val="FFC000"/>
                          </a:solidFill>
                        </a:rPr>
                        <a:t>Load Balancing</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Distributes computing and network loads to optimize resource use and minimize response times.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41636539"/>
                  </a:ext>
                </a:extLst>
              </a:tr>
              <a:tr h="765951">
                <a:tc>
                  <a:txBody>
                    <a:bodyPr/>
                    <a:lstStyle/>
                    <a:p>
                      <a:pPr algn="r"/>
                      <a:r>
                        <a:rPr lang="en-US" sz="2400" b="1" i="1" dirty="0">
                          <a:solidFill>
                            <a:srgbClr val="FFC000"/>
                          </a:solidFill>
                        </a:rPr>
                        <a:t>Event Simulation</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Manages event schedules in simulations, ensuring efficient processing of upcoming events.</a:t>
                      </a:r>
                    </a:p>
                  </a:txBody>
                  <a:tcPr>
                    <a:lnL w="19050" cap="flat" cmpd="sng" algn="ctr">
                      <a:solidFill>
                        <a:schemeClr val="bg1"/>
                      </a:solidFill>
                      <a:prstDash val="sysDot"/>
                      <a:round/>
                      <a:headEnd type="none" w="med" len="med"/>
                      <a:tailEnd type="none" w="med" len="med"/>
                    </a:lnL>
                    <a:lnR w="12700" cmpd="sng">
                      <a:noFill/>
                    </a:lnR>
                    <a:lnT w="12700" cmpd="sng">
                      <a:noFill/>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304467"/>
                  </a:ext>
                </a:extLst>
              </a:tr>
            </a:tbl>
          </a:graphicData>
        </a:graphic>
      </p:graphicFrame>
    </p:spTree>
    <p:extLst>
      <p:ext uri="{BB962C8B-B14F-4D97-AF65-F5344CB8AC3E}">
        <p14:creationId xmlns:p14="http://schemas.microsoft.com/office/powerpoint/2010/main" val="290426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96613"/>
            <a:ext cx="6798733" cy="860317"/>
          </a:xfrm>
        </p:spPr>
        <p:txBody>
          <a:bodyPr>
            <a:normAutofit/>
          </a:bodyPr>
          <a:lstStyle/>
          <a:p>
            <a:r>
              <a:rPr lang="en-US" sz="5200" dirty="0">
                <a:solidFill>
                  <a:srgbClr val="FFC000"/>
                </a:solidFill>
              </a:rPr>
              <a:t>Heap</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pic>
        <p:nvPicPr>
          <p:cNvPr id="15362" name="Picture 2" descr="Visualizing, Designing, and Analyzing the Heap Sort Algorithm. | by Vikram  Gupta | Level Up Coding">
            <a:extLst>
              <a:ext uri="{FF2B5EF4-FFF2-40B4-BE49-F238E27FC236}">
                <a16:creationId xmlns:a16="http://schemas.microsoft.com/office/drawing/2014/main" id="{B239F4F2-5004-26BE-7FA1-00A8E81C5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32" y="758602"/>
            <a:ext cx="7258889" cy="58254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BBB0070-0C14-ED3C-D69F-B81CE1529260}"/>
              </a:ext>
            </a:extLst>
          </p:cNvPr>
          <p:cNvSpPr txBox="1"/>
          <p:nvPr/>
        </p:nvSpPr>
        <p:spPr>
          <a:xfrm>
            <a:off x="7871517" y="1255285"/>
            <a:ext cx="3247697" cy="4832092"/>
          </a:xfrm>
          <a:prstGeom prst="rect">
            <a:avLst/>
          </a:prstGeom>
          <a:noFill/>
        </p:spPr>
        <p:txBody>
          <a:bodyPr wrap="square">
            <a:spAutoFit/>
          </a:bodyPr>
          <a:lstStyle/>
          <a:p>
            <a:pPr algn="ctr"/>
            <a:r>
              <a:rPr lang="en-US" sz="2800" i="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In a heap, for any given node C, if P is a parent node of C, then the key (the value) of P is either greater than or equal to (in a max heap) or less than or equal to (in a min heap) the key of C. </a:t>
            </a:r>
            <a:endParaRPr lang="en-US" sz="2800" dirty="0"/>
          </a:p>
        </p:txBody>
      </p:sp>
    </p:spTree>
    <p:extLst>
      <p:ext uri="{BB962C8B-B14F-4D97-AF65-F5344CB8AC3E}">
        <p14:creationId xmlns:p14="http://schemas.microsoft.com/office/powerpoint/2010/main" val="1448809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588827" y="107246"/>
            <a:ext cx="6798733" cy="860317"/>
          </a:xfrm>
        </p:spPr>
        <p:txBody>
          <a:bodyPr>
            <a:normAutofit/>
          </a:bodyPr>
          <a:lstStyle/>
          <a:p>
            <a:r>
              <a:rPr lang="en-US" sz="5200" dirty="0">
                <a:solidFill>
                  <a:srgbClr val="FFC000"/>
                </a:solidFill>
              </a:rPr>
              <a:t>Max-</a:t>
            </a:r>
            <a:r>
              <a:rPr lang="en-US" sz="5200" dirty="0" err="1">
                <a:solidFill>
                  <a:srgbClr val="FFC000"/>
                </a:solidFill>
              </a:rPr>
              <a:t>Heapify</a:t>
            </a:r>
            <a:endParaRPr lang="en-US" sz="5200" dirty="0">
              <a:solidFill>
                <a:srgbClr val="FFC000"/>
              </a:solidFill>
            </a:endParaRP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pic>
        <p:nvPicPr>
          <p:cNvPr id="2" name="Picture 1">
            <a:extLst>
              <a:ext uri="{FF2B5EF4-FFF2-40B4-BE49-F238E27FC236}">
                <a16:creationId xmlns:a16="http://schemas.microsoft.com/office/drawing/2014/main" id="{D200BB7E-9C16-45F4-6DC0-825DE60DE11E}"/>
              </a:ext>
            </a:extLst>
          </p:cNvPr>
          <p:cNvPicPr>
            <a:picLocks noChangeAspect="1"/>
          </p:cNvPicPr>
          <p:nvPr/>
        </p:nvPicPr>
        <p:blipFill>
          <a:blip r:embed="rId3"/>
          <a:stretch>
            <a:fillRect/>
          </a:stretch>
        </p:blipFill>
        <p:spPr>
          <a:xfrm>
            <a:off x="6488097" y="0"/>
            <a:ext cx="5703903" cy="6858000"/>
          </a:xfrm>
          <a:prstGeom prst="rect">
            <a:avLst/>
          </a:prstGeom>
        </p:spPr>
      </p:pic>
      <p:sp>
        <p:nvSpPr>
          <p:cNvPr id="4" name="TextBox 3">
            <a:extLst>
              <a:ext uri="{FF2B5EF4-FFF2-40B4-BE49-F238E27FC236}">
                <a16:creationId xmlns:a16="http://schemas.microsoft.com/office/drawing/2014/main" id="{7356E0C8-A1A6-C6DA-D54B-D3169670132C}"/>
              </a:ext>
            </a:extLst>
          </p:cNvPr>
          <p:cNvSpPr txBox="1"/>
          <p:nvPr/>
        </p:nvSpPr>
        <p:spPr>
          <a:xfrm>
            <a:off x="926332" y="5306186"/>
            <a:ext cx="4398433" cy="1399166"/>
          </a:xfrm>
          <a:prstGeom prst="rect">
            <a:avLst/>
          </a:prstGeom>
          <a:noFill/>
        </p:spPr>
        <p:txBody>
          <a:bodyPr wrap="square">
            <a:spAutoFit/>
          </a:bodyPr>
          <a:lstStyle/>
          <a:p>
            <a:pPr>
              <a:lnSpc>
                <a:spcPct val="120000"/>
              </a:lnSpc>
            </a:pP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Questions…</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nSpc>
                <a:spcPct val="120000"/>
              </a:lnSpc>
            </a:pP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What is the complexity of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maxHeapify</a:t>
            </a: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 delete, and insertion?</a:t>
            </a:r>
            <a:endParaRPr lang="en-US" sz="1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nSpc>
                <a:spcPct val="120000"/>
              </a:lnSpc>
            </a:pPr>
            <a:r>
              <a:rPr lang="en-US" i="1" dirty="0">
                <a:solidFill>
                  <a:srgbClr val="FF0000"/>
                </a:solidFill>
                <a:latin typeface="Tahoma" panose="020B0604030504040204" pitchFamily="34" charset="0"/>
                <a:ea typeface="Tahoma" panose="020B0604030504040204" pitchFamily="34" charset="0"/>
                <a:cs typeface="Tahoma" panose="020B0604030504040204" pitchFamily="34" charset="0"/>
              </a:rPr>
              <a:t>(YOU HAVE TO FIND THESE ANSWERS)</a:t>
            </a:r>
            <a:endParaRPr lang="en-US" sz="1800" i="1" dirty="0">
              <a:solidFill>
                <a:srgbClr val="FF0000"/>
              </a:solidFill>
            </a:endParaRPr>
          </a:p>
        </p:txBody>
      </p:sp>
      <p:pic>
        <p:nvPicPr>
          <p:cNvPr id="3" name="Picture 2">
            <a:extLst>
              <a:ext uri="{FF2B5EF4-FFF2-40B4-BE49-F238E27FC236}">
                <a16:creationId xmlns:a16="http://schemas.microsoft.com/office/drawing/2014/main" id="{4306C8A0-7EFF-D098-6A19-8032F9A450EE}"/>
              </a:ext>
            </a:extLst>
          </p:cNvPr>
          <p:cNvPicPr>
            <a:picLocks noChangeAspect="1"/>
          </p:cNvPicPr>
          <p:nvPr/>
        </p:nvPicPr>
        <p:blipFill>
          <a:blip r:embed="rId4"/>
          <a:stretch>
            <a:fillRect/>
          </a:stretch>
        </p:blipFill>
        <p:spPr>
          <a:xfrm>
            <a:off x="898304" y="967563"/>
            <a:ext cx="4703709" cy="4229450"/>
          </a:xfrm>
          <a:prstGeom prst="rect">
            <a:avLst/>
          </a:prstGeom>
        </p:spPr>
      </p:pic>
    </p:spTree>
    <p:extLst>
      <p:ext uri="{BB962C8B-B14F-4D97-AF65-F5344CB8AC3E}">
        <p14:creationId xmlns:p14="http://schemas.microsoft.com/office/powerpoint/2010/main" val="779880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980266" y="2260469"/>
            <a:ext cx="6798733" cy="3412198"/>
          </a:xfrm>
        </p:spPr>
        <p:txBody>
          <a:bodyPr>
            <a:normAutofit/>
          </a:bodyPr>
          <a:lstStyle/>
          <a:p>
            <a:r>
              <a:rPr lang="en-US" sz="5200" dirty="0">
                <a:solidFill>
                  <a:srgbClr val="FFC000"/>
                </a:solidFill>
              </a:rPr>
              <a:t>The Last Stone Weight</a:t>
            </a:r>
          </a:p>
          <a:p>
            <a:r>
              <a:rPr lang="en-US" sz="2000"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https://leetcode.com/problems/last-stone-weight/description/</a:t>
            </a:r>
            <a:endParaRPr lang="en-US" sz="2000" dirty="0">
              <a:solidFill>
                <a:schemeClr val="accent1">
                  <a:lumMod val="40000"/>
                  <a:lumOff val="60000"/>
                </a:schemeClr>
              </a:solidFill>
            </a:endParaRPr>
          </a:p>
          <a:p>
            <a:endParaRPr lang="en-US" sz="2000" dirty="0">
              <a:solidFill>
                <a:schemeClr val="accent1">
                  <a:lumMod val="40000"/>
                  <a:lumOff val="60000"/>
                </a:schemeClr>
              </a:solidFill>
            </a:endParaRPr>
          </a:p>
          <a:p>
            <a:r>
              <a:rPr lang="en-US" sz="2000" dirty="0">
                <a:solidFill>
                  <a:schemeClr val="accent1">
                    <a:lumMod val="40000"/>
                    <a:lumOff val="60000"/>
                  </a:schemeClr>
                </a:solidFill>
                <a:hlinkClick r:id="rId3">
                  <a:extLst>
                    <a:ext uri="{A12FA001-AC4F-418D-AE19-62706E023703}">
                      <ahyp:hlinkClr xmlns:ahyp="http://schemas.microsoft.com/office/drawing/2018/hyperlinkcolor" val="tx"/>
                    </a:ext>
                  </a:extLst>
                </a:hlinkClick>
              </a:rPr>
              <a:t>https://leetcode.com/problems/last-stone-weight-ii/description/</a:t>
            </a:r>
            <a:endParaRPr lang="en-US" sz="2000" dirty="0">
              <a:solidFill>
                <a:schemeClr val="accent1">
                  <a:lumMod val="40000"/>
                  <a:lumOff val="60000"/>
                </a:schemeClr>
              </a:solidFill>
            </a:endParaRPr>
          </a:p>
          <a:p>
            <a:endParaRPr lang="en-US" sz="2000" dirty="0">
              <a:solidFill>
                <a:schemeClr val="bg1"/>
              </a:solidFill>
            </a:endParaRP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spTree>
    <p:extLst>
      <p:ext uri="{BB962C8B-B14F-4D97-AF65-F5344CB8AC3E}">
        <p14:creationId xmlns:p14="http://schemas.microsoft.com/office/powerpoint/2010/main" val="1922729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1A51A544-B234-B979-E28F-D7554105E134}"/>
              </a:ext>
            </a:extLst>
          </p:cNvPr>
          <p:cNvPicPr>
            <a:picLocks noChangeAspect="1"/>
          </p:cNvPicPr>
          <p:nvPr/>
        </p:nvPicPr>
        <p:blipFill>
          <a:blip r:embed="rId2"/>
          <a:stretch>
            <a:fillRect/>
          </a:stretch>
        </p:blipFill>
        <p:spPr>
          <a:xfrm>
            <a:off x="210013" y="578071"/>
            <a:ext cx="7819646" cy="4932116"/>
          </a:xfrm>
          <a:prstGeom prst="rect">
            <a:avLst/>
          </a:prstGeom>
        </p:spPr>
      </p:pic>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10" name="Picture 9">
            <a:extLst>
              <a:ext uri="{FF2B5EF4-FFF2-40B4-BE49-F238E27FC236}">
                <a16:creationId xmlns:a16="http://schemas.microsoft.com/office/drawing/2014/main" id="{E8CD76A2-8C4F-4851-22BA-6CB909E65B3A}"/>
              </a:ext>
            </a:extLst>
          </p:cNvPr>
          <p:cNvPicPr>
            <a:picLocks noChangeAspect="1"/>
          </p:cNvPicPr>
          <p:nvPr/>
        </p:nvPicPr>
        <p:blipFill>
          <a:blip r:embed="rId3"/>
          <a:stretch>
            <a:fillRect/>
          </a:stretch>
        </p:blipFill>
        <p:spPr>
          <a:xfrm>
            <a:off x="3570875" y="3486666"/>
            <a:ext cx="8621125" cy="3371334"/>
          </a:xfrm>
          <a:prstGeom prst="rect">
            <a:avLst/>
          </a:prstGeom>
          <a:ln>
            <a:solidFill>
              <a:schemeClr val="tx1"/>
            </a:solidFill>
          </a:ln>
        </p:spPr>
      </p:pic>
    </p:spTree>
    <p:extLst>
      <p:ext uri="{BB962C8B-B14F-4D97-AF65-F5344CB8AC3E}">
        <p14:creationId xmlns:p14="http://schemas.microsoft.com/office/powerpoint/2010/main" val="3950411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1A51A544-B234-B979-E28F-D7554105E134}"/>
              </a:ext>
            </a:extLst>
          </p:cNvPr>
          <p:cNvPicPr>
            <a:picLocks noChangeAspect="1"/>
          </p:cNvPicPr>
          <p:nvPr/>
        </p:nvPicPr>
        <p:blipFill>
          <a:blip r:embed="rId2"/>
          <a:stretch>
            <a:fillRect/>
          </a:stretch>
        </p:blipFill>
        <p:spPr>
          <a:xfrm>
            <a:off x="210013" y="578071"/>
            <a:ext cx="7819646" cy="4932116"/>
          </a:xfrm>
          <a:prstGeom prst="rect">
            <a:avLst/>
          </a:prstGeom>
        </p:spPr>
      </p:pic>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90F61755-CB32-6097-2BBA-CCF40B534B67}"/>
              </a:ext>
            </a:extLst>
          </p:cNvPr>
          <p:cNvPicPr>
            <a:picLocks noChangeAspect="1"/>
          </p:cNvPicPr>
          <p:nvPr/>
        </p:nvPicPr>
        <p:blipFill>
          <a:blip r:embed="rId3"/>
          <a:stretch>
            <a:fillRect/>
          </a:stretch>
        </p:blipFill>
        <p:spPr>
          <a:xfrm>
            <a:off x="3621750" y="3496733"/>
            <a:ext cx="8570250" cy="3361267"/>
          </a:xfrm>
          <a:prstGeom prst="rect">
            <a:avLst/>
          </a:prstGeom>
          <a:ln>
            <a:solidFill>
              <a:schemeClr val="tx1"/>
            </a:solidFill>
          </a:ln>
        </p:spPr>
      </p:pic>
    </p:spTree>
    <p:extLst>
      <p:ext uri="{BB962C8B-B14F-4D97-AF65-F5344CB8AC3E}">
        <p14:creationId xmlns:p14="http://schemas.microsoft.com/office/powerpoint/2010/main" val="2943321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3" name="Picture 2">
            <a:extLst>
              <a:ext uri="{FF2B5EF4-FFF2-40B4-BE49-F238E27FC236}">
                <a16:creationId xmlns:a16="http://schemas.microsoft.com/office/drawing/2014/main" id="{33321FC8-352F-7B31-6FEF-C835285F426F}"/>
              </a:ext>
            </a:extLst>
          </p:cNvPr>
          <p:cNvPicPr>
            <a:picLocks noChangeAspect="1"/>
          </p:cNvPicPr>
          <p:nvPr/>
        </p:nvPicPr>
        <p:blipFill>
          <a:blip r:embed="rId2"/>
          <a:stretch>
            <a:fillRect/>
          </a:stretch>
        </p:blipFill>
        <p:spPr>
          <a:xfrm>
            <a:off x="1153251" y="1035054"/>
            <a:ext cx="9885497" cy="3877604"/>
          </a:xfrm>
          <a:prstGeom prst="rect">
            <a:avLst/>
          </a:prstGeom>
        </p:spPr>
      </p:pic>
      <p:pic>
        <p:nvPicPr>
          <p:cNvPr id="6" name="Picture 5">
            <a:extLst>
              <a:ext uri="{FF2B5EF4-FFF2-40B4-BE49-F238E27FC236}">
                <a16:creationId xmlns:a16="http://schemas.microsoft.com/office/drawing/2014/main" id="{A40350AB-0FA7-D9F6-3085-060A39B855BE}"/>
              </a:ext>
            </a:extLst>
          </p:cNvPr>
          <p:cNvPicPr>
            <a:picLocks noChangeAspect="1"/>
          </p:cNvPicPr>
          <p:nvPr/>
        </p:nvPicPr>
        <p:blipFill>
          <a:blip r:embed="rId3"/>
          <a:stretch>
            <a:fillRect/>
          </a:stretch>
        </p:blipFill>
        <p:spPr>
          <a:xfrm>
            <a:off x="4419600" y="4479812"/>
            <a:ext cx="7772400" cy="865691"/>
          </a:xfrm>
          <a:prstGeom prst="rect">
            <a:avLst/>
          </a:prstGeom>
        </p:spPr>
      </p:pic>
    </p:spTree>
    <p:extLst>
      <p:ext uri="{BB962C8B-B14F-4D97-AF65-F5344CB8AC3E}">
        <p14:creationId xmlns:p14="http://schemas.microsoft.com/office/powerpoint/2010/main" val="2563612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8C80666C-5C6B-4003-44ED-8AB42BD9CD0E}"/>
              </a:ext>
            </a:extLst>
          </p:cNvPr>
          <p:cNvPicPr>
            <a:picLocks noChangeAspect="1"/>
          </p:cNvPicPr>
          <p:nvPr/>
        </p:nvPicPr>
        <p:blipFill>
          <a:blip r:embed="rId2"/>
          <a:stretch>
            <a:fillRect/>
          </a:stretch>
        </p:blipFill>
        <p:spPr>
          <a:xfrm>
            <a:off x="1745876" y="659212"/>
            <a:ext cx="8700247" cy="6198788"/>
          </a:xfrm>
          <a:prstGeom prst="rect">
            <a:avLst/>
          </a:prstGeom>
        </p:spPr>
      </p:pic>
    </p:spTree>
    <p:extLst>
      <p:ext uri="{BB962C8B-B14F-4D97-AF65-F5344CB8AC3E}">
        <p14:creationId xmlns:p14="http://schemas.microsoft.com/office/powerpoint/2010/main" val="1730078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AEA14011-07F4-CA0A-3FD1-80D505BACFE0}"/>
              </a:ext>
            </a:extLst>
          </p:cNvPr>
          <p:cNvPicPr>
            <a:picLocks noChangeAspect="1"/>
          </p:cNvPicPr>
          <p:nvPr/>
        </p:nvPicPr>
        <p:blipFill>
          <a:blip r:embed="rId2"/>
          <a:stretch>
            <a:fillRect/>
          </a:stretch>
        </p:blipFill>
        <p:spPr>
          <a:xfrm>
            <a:off x="816118" y="1547514"/>
            <a:ext cx="10559762" cy="4673992"/>
          </a:xfrm>
          <a:prstGeom prst="rect">
            <a:avLst/>
          </a:prstGeom>
        </p:spPr>
      </p:pic>
    </p:spTree>
    <p:extLst>
      <p:ext uri="{BB962C8B-B14F-4D97-AF65-F5344CB8AC3E}">
        <p14:creationId xmlns:p14="http://schemas.microsoft.com/office/powerpoint/2010/main" val="2594928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3" name="Picture 2">
            <a:extLst>
              <a:ext uri="{FF2B5EF4-FFF2-40B4-BE49-F238E27FC236}">
                <a16:creationId xmlns:a16="http://schemas.microsoft.com/office/drawing/2014/main" id="{2A6322E9-6481-6AED-4F6D-EBBDF40A5A4C}"/>
              </a:ext>
            </a:extLst>
          </p:cNvPr>
          <p:cNvPicPr>
            <a:picLocks noChangeAspect="1"/>
          </p:cNvPicPr>
          <p:nvPr/>
        </p:nvPicPr>
        <p:blipFill>
          <a:blip r:embed="rId2"/>
          <a:stretch>
            <a:fillRect/>
          </a:stretch>
        </p:blipFill>
        <p:spPr>
          <a:xfrm>
            <a:off x="1707578" y="704249"/>
            <a:ext cx="8776843" cy="6153751"/>
          </a:xfrm>
          <a:prstGeom prst="rect">
            <a:avLst/>
          </a:prstGeom>
        </p:spPr>
      </p:pic>
    </p:spTree>
    <p:extLst>
      <p:ext uri="{BB962C8B-B14F-4D97-AF65-F5344CB8AC3E}">
        <p14:creationId xmlns:p14="http://schemas.microsoft.com/office/powerpoint/2010/main" val="1153814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C0B05602-929C-4B13-EE41-F1371F7D1BCF}"/>
              </a:ext>
            </a:extLst>
          </p:cNvPr>
          <p:cNvPicPr>
            <a:picLocks noChangeAspect="1"/>
          </p:cNvPicPr>
          <p:nvPr/>
        </p:nvPicPr>
        <p:blipFill>
          <a:blip r:embed="rId2"/>
          <a:stretch>
            <a:fillRect/>
          </a:stretch>
        </p:blipFill>
        <p:spPr>
          <a:xfrm>
            <a:off x="0" y="627662"/>
            <a:ext cx="6413139" cy="3938460"/>
          </a:xfrm>
          <a:prstGeom prst="rect">
            <a:avLst/>
          </a:prstGeom>
        </p:spPr>
      </p:pic>
      <p:pic>
        <p:nvPicPr>
          <p:cNvPr id="4" name="Picture 3">
            <a:extLst>
              <a:ext uri="{FF2B5EF4-FFF2-40B4-BE49-F238E27FC236}">
                <a16:creationId xmlns:a16="http://schemas.microsoft.com/office/drawing/2014/main" id="{4BE6B010-844E-7195-5D76-71FED6E8B994}"/>
              </a:ext>
            </a:extLst>
          </p:cNvPr>
          <p:cNvPicPr>
            <a:picLocks noChangeAspect="1"/>
          </p:cNvPicPr>
          <p:nvPr/>
        </p:nvPicPr>
        <p:blipFill>
          <a:blip r:embed="rId3"/>
          <a:stretch>
            <a:fillRect/>
          </a:stretch>
        </p:blipFill>
        <p:spPr>
          <a:xfrm>
            <a:off x="5778863" y="3340075"/>
            <a:ext cx="6413138" cy="35179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93538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7" name="Group 6">
            <a:extLst>
              <a:ext uri="{FF2B5EF4-FFF2-40B4-BE49-F238E27FC236}">
                <a16:creationId xmlns:a16="http://schemas.microsoft.com/office/drawing/2014/main" id="{61451075-3527-C544-59F2-5024813FFC33}"/>
              </a:ext>
            </a:extLst>
          </p:cNvPr>
          <p:cNvGrpSpPr/>
          <p:nvPr/>
        </p:nvGrpSpPr>
        <p:grpSpPr>
          <a:xfrm>
            <a:off x="2209800" y="1498152"/>
            <a:ext cx="7772400" cy="3861696"/>
            <a:chOff x="2209800" y="1498152"/>
            <a:chExt cx="7772400"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tretch>
              <a:fillRect/>
            </a:stretch>
          </p:blipFill>
          <p:spPr>
            <a:xfrm>
              <a:off x="2209800" y="1498152"/>
              <a:ext cx="7772400" cy="3861696"/>
            </a:xfrm>
            <a:prstGeom prst="rect">
              <a:avLst/>
            </a:prstGeom>
          </p:spPr>
        </p:pic>
        <p:pic>
          <p:nvPicPr>
            <p:cNvPr id="6" name="Picture 5">
              <a:extLst>
                <a:ext uri="{FF2B5EF4-FFF2-40B4-BE49-F238E27FC236}">
                  <a16:creationId xmlns:a16="http://schemas.microsoft.com/office/drawing/2014/main" id="{525285F6-DE6B-5F79-F8C9-C4B70CACC29D}"/>
                </a:ext>
              </a:extLst>
            </p:cNvPr>
            <p:cNvPicPr>
              <a:picLocks noChangeAspect="1"/>
            </p:cNvPicPr>
            <p:nvPr/>
          </p:nvPicPr>
          <p:blipFill>
            <a:blip r:embed="rId3"/>
            <a:stretch>
              <a:fillRect/>
            </a:stretch>
          </p:blipFill>
          <p:spPr>
            <a:xfrm>
              <a:off x="2277965" y="1564620"/>
              <a:ext cx="348693" cy="335535"/>
            </a:xfrm>
            <a:prstGeom prst="rect">
              <a:avLst/>
            </a:prstGeom>
          </p:spPr>
        </p:pic>
      </p:grpSp>
    </p:spTree>
    <p:extLst>
      <p:ext uri="{BB962C8B-B14F-4D97-AF65-F5344CB8AC3E}">
        <p14:creationId xmlns:p14="http://schemas.microsoft.com/office/powerpoint/2010/main" val="1934874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185729" y="88675"/>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7" name="Group 6">
            <a:extLst>
              <a:ext uri="{FF2B5EF4-FFF2-40B4-BE49-F238E27FC236}">
                <a16:creationId xmlns:a16="http://schemas.microsoft.com/office/drawing/2014/main" id="{61451075-3527-C544-59F2-5024813FFC33}"/>
              </a:ext>
            </a:extLst>
          </p:cNvPr>
          <p:cNvGrpSpPr/>
          <p:nvPr/>
        </p:nvGrpSpPr>
        <p:grpSpPr>
          <a:xfrm>
            <a:off x="-1" y="2179231"/>
            <a:ext cx="5952565" cy="2957545"/>
            <a:chOff x="2209800" y="1498152"/>
            <a:chExt cx="7772400"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tretch>
              <a:fillRect/>
            </a:stretch>
          </p:blipFill>
          <p:spPr>
            <a:xfrm>
              <a:off x="2209800" y="1498152"/>
              <a:ext cx="7772400" cy="3861696"/>
            </a:xfrm>
            <a:prstGeom prst="rect">
              <a:avLst/>
            </a:prstGeom>
          </p:spPr>
        </p:pic>
        <p:pic>
          <p:nvPicPr>
            <p:cNvPr id="6" name="Picture 5">
              <a:extLst>
                <a:ext uri="{FF2B5EF4-FFF2-40B4-BE49-F238E27FC236}">
                  <a16:creationId xmlns:a16="http://schemas.microsoft.com/office/drawing/2014/main" id="{525285F6-DE6B-5F79-F8C9-C4B70CACC29D}"/>
                </a:ext>
              </a:extLst>
            </p:cNvPr>
            <p:cNvPicPr>
              <a:picLocks noChangeAspect="1"/>
            </p:cNvPicPr>
            <p:nvPr/>
          </p:nvPicPr>
          <p:blipFill>
            <a:blip r:embed="rId3"/>
            <a:stretch>
              <a:fillRect/>
            </a:stretch>
          </p:blipFill>
          <p:spPr>
            <a:xfrm>
              <a:off x="2277965" y="1564620"/>
              <a:ext cx="348693" cy="335535"/>
            </a:xfrm>
            <a:prstGeom prst="rect">
              <a:avLst/>
            </a:prstGeom>
          </p:spPr>
        </p:pic>
      </p:grpSp>
      <p:pic>
        <p:nvPicPr>
          <p:cNvPr id="2" name="Picture 1">
            <a:extLst>
              <a:ext uri="{FF2B5EF4-FFF2-40B4-BE49-F238E27FC236}">
                <a16:creationId xmlns:a16="http://schemas.microsoft.com/office/drawing/2014/main" id="{CF5C97A9-C081-BDE4-EBC7-CA22146A871C}"/>
              </a:ext>
            </a:extLst>
          </p:cNvPr>
          <p:cNvPicPr>
            <a:picLocks noChangeAspect="1"/>
          </p:cNvPicPr>
          <p:nvPr/>
        </p:nvPicPr>
        <p:blipFill>
          <a:blip r:embed="rId4"/>
          <a:stretch>
            <a:fillRect/>
          </a:stretch>
        </p:blipFill>
        <p:spPr>
          <a:xfrm>
            <a:off x="5813084" y="0"/>
            <a:ext cx="6378916" cy="6858000"/>
          </a:xfrm>
          <a:prstGeom prst="rect">
            <a:avLst/>
          </a:prstGeom>
        </p:spPr>
      </p:pic>
    </p:spTree>
    <p:extLst>
      <p:ext uri="{BB962C8B-B14F-4D97-AF65-F5344CB8AC3E}">
        <p14:creationId xmlns:p14="http://schemas.microsoft.com/office/powerpoint/2010/main" val="197012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4" name="Group 3">
            <a:extLst>
              <a:ext uri="{FF2B5EF4-FFF2-40B4-BE49-F238E27FC236}">
                <a16:creationId xmlns:a16="http://schemas.microsoft.com/office/drawing/2014/main" id="{B1568E29-2422-7F2F-A19F-D2C50DEB1746}"/>
              </a:ext>
            </a:extLst>
          </p:cNvPr>
          <p:cNvGrpSpPr/>
          <p:nvPr/>
        </p:nvGrpSpPr>
        <p:grpSpPr>
          <a:xfrm>
            <a:off x="2788954" y="1498152"/>
            <a:ext cx="6614092" cy="3861696"/>
            <a:chOff x="2788954" y="1498152"/>
            <a:chExt cx="6614092"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rcRect/>
            <a:stretch/>
          </p:blipFill>
          <p:spPr>
            <a:xfrm>
              <a:off x="2788954" y="1498152"/>
              <a:ext cx="6614092" cy="3861696"/>
            </a:xfrm>
            <a:prstGeom prst="rect">
              <a:avLst/>
            </a:prstGeom>
          </p:spPr>
        </p:pic>
        <p:pic>
          <p:nvPicPr>
            <p:cNvPr id="2" name="Picture 1">
              <a:extLst>
                <a:ext uri="{FF2B5EF4-FFF2-40B4-BE49-F238E27FC236}">
                  <a16:creationId xmlns:a16="http://schemas.microsoft.com/office/drawing/2014/main" id="{0B1027EF-8E33-C571-3A0A-0A7572B98898}"/>
                </a:ext>
              </a:extLst>
            </p:cNvPr>
            <p:cNvPicPr>
              <a:picLocks noChangeAspect="1"/>
            </p:cNvPicPr>
            <p:nvPr/>
          </p:nvPicPr>
          <p:blipFill>
            <a:blip r:embed="rId3"/>
            <a:stretch>
              <a:fillRect/>
            </a:stretch>
          </p:blipFill>
          <p:spPr>
            <a:xfrm>
              <a:off x="2806883" y="1573584"/>
              <a:ext cx="348693" cy="335535"/>
            </a:xfrm>
            <a:prstGeom prst="rect">
              <a:avLst/>
            </a:prstGeom>
          </p:spPr>
        </p:pic>
      </p:grpSp>
      <p:sp>
        <p:nvSpPr>
          <p:cNvPr id="6" name="TextBox 5">
            <a:extLst>
              <a:ext uri="{FF2B5EF4-FFF2-40B4-BE49-F238E27FC236}">
                <a16:creationId xmlns:a16="http://schemas.microsoft.com/office/drawing/2014/main" id="{8E219454-8ED9-6C08-7330-47DCBED5ED48}"/>
              </a:ext>
            </a:extLst>
          </p:cNvPr>
          <p:cNvSpPr txBox="1"/>
          <p:nvPr/>
        </p:nvSpPr>
        <p:spPr>
          <a:xfrm>
            <a:off x="2891289" y="1573584"/>
            <a:ext cx="907556" cy="369332"/>
          </a:xfrm>
          <a:prstGeom prst="rect">
            <a:avLst/>
          </a:prstGeom>
          <a:solidFill>
            <a:schemeClr val="accent2"/>
          </a:solidFill>
        </p:spPr>
        <p:txBody>
          <a:bodyPr wrap="none" rtlCol="0">
            <a:spAutoFit/>
          </a:bodyPr>
          <a:lstStyle/>
          <a:p>
            <a:r>
              <a:rPr lang="en-US" dirty="0">
                <a:solidFill>
                  <a:schemeClr val="bg1"/>
                </a:solidFill>
              </a:rPr>
              <a:t>REVIVE</a:t>
            </a:r>
          </a:p>
        </p:txBody>
      </p:sp>
    </p:spTree>
    <p:extLst>
      <p:ext uri="{BB962C8B-B14F-4D97-AF65-F5344CB8AC3E}">
        <p14:creationId xmlns:p14="http://schemas.microsoft.com/office/powerpoint/2010/main" val="2284317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15520" y="338150"/>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4" name="Group 3">
            <a:extLst>
              <a:ext uri="{FF2B5EF4-FFF2-40B4-BE49-F238E27FC236}">
                <a16:creationId xmlns:a16="http://schemas.microsoft.com/office/drawing/2014/main" id="{B1568E29-2422-7F2F-A19F-D2C50DEB1746}"/>
              </a:ext>
            </a:extLst>
          </p:cNvPr>
          <p:cNvGrpSpPr/>
          <p:nvPr/>
        </p:nvGrpSpPr>
        <p:grpSpPr>
          <a:xfrm>
            <a:off x="0" y="1630605"/>
            <a:ext cx="5725338" cy="3342789"/>
            <a:chOff x="2788954" y="1498152"/>
            <a:chExt cx="6614092"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rcRect/>
            <a:stretch/>
          </p:blipFill>
          <p:spPr>
            <a:xfrm>
              <a:off x="2788954" y="1498152"/>
              <a:ext cx="6614092" cy="3861696"/>
            </a:xfrm>
            <a:prstGeom prst="rect">
              <a:avLst/>
            </a:prstGeom>
          </p:spPr>
        </p:pic>
        <p:pic>
          <p:nvPicPr>
            <p:cNvPr id="2" name="Picture 1">
              <a:extLst>
                <a:ext uri="{FF2B5EF4-FFF2-40B4-BE49-F238E27FC236}">
                  <a16:creationId xmlns:a16="http://schemas.microsoft.com/office/drawing/2014/main" id="{0B1027EF-8E33-C571-3A0A-0A7572B98898}"/>
                </a:ext>
              </a:extLst>
            </p:cNvPr>
            <p:cNvPicPr>
              <a:picLocks noChangeAspect="1"/>
            </p:cNvPicPr>
            <p:nvPr/>
          </p:nvPicPr>
          <p:blipFill>
            <a:blip r:embed="rId3"/>
            <a:stretch>
              <a:fillRect/>
            </a:stretch>
          </p:blipFill>
          <p:spPr>
            <a:xfrm>
              <a:off x="2806883" y="1573584"/>
              <a:ext cx="348693" cy="335535"/>
            </a:xfrm>
            <a:prstGeom prst="rect">
              <a:avLst/>
            </a:prstGeom>
          </p:spPr>
        </p:pic>
      </p:grpSp>
      <p:pic>
        <p:nvPicPr>
          <p:cNvPr id="6" name="Picture 5">
            <a:extLst>
              <a:ext uri="{FF2B5EF4-FFF2-40B4-BE49-F238E27FC236}">
                <a16:creationId xmlns:a16="http://schemas.microsoft.com/office/drawing/2014/main" id="{F463BB6D-3634-FA25-4B7D-8A1E83A72EB3}"/>
              </a:ext>
            </a:extLst>
          </p:cNvPr>
          <p:cNvPicPr>
            <a:picLocks noChangeAspect="1"/>
          </p:cNvPicPr>
          <p:nvPr/>
        </p:nvPicPr>
        <p:blipFill>
          <a:blip r:embed="rId4"/>
          <a:stretch>
            <a:fillRect/>
          </a:stretch>
        </p:blipFill>
        <p:spPr>
          <a:xfrm>
            <a:off x="5712497" y="0"/>
            <a:ext cx="6479503" cy="6858000"/>
          </a:xfrm>
          <a:prstGeom prst="rect">
            <a:avLst/>
          </a:prstGeom>
        </p:spPr>
      </p:pic>
    </p:spTree>
    <p:extLst>
      <p:ext uri="{BB962C8B-B14F-4D97-AF65-F5344CB8AC3E}">
        <p14:creationId xmlns:p14="http://schemas.microsoft.com/office/powerpoint/2010/main" val="2406872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25387</TotalTime>
  <Words>1599</Words>
  <Application>Microsoft Macintosh PowerPoint</Application>
  <PresentationFormat>Widescreen</PresentationFormat>
  <Paragraphs>140</Paragraphs>
  <Slides>33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Tahoma</vt:lpstr>
      <vt:lpstr>Office Theme</vt:lpstr>
      <vt:lpstr>Abstract Data Structure</vt:lpstr>
      <vt:lpstr>PowerPoint Presentation</vt:lpstr>
      <vt:lpstr>PowerPoint Presentation</vt:lpstr>
      <vt:lpstr>Linked Lists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Bhandari, Keshav</cp:lastModifiedBy>
  <cp:revision>76</cp:revision>
  <dcterms:created xsi:type="dcterms:W3CDTF">2024-01-18T13:32:16Z</dcterms:created>
  <dcterms:modified xsi:type="dcterms:W3CDTF">2024-06-17T16:51:50Z</dcterms:modified>
</cp:coreProperties>
</file>